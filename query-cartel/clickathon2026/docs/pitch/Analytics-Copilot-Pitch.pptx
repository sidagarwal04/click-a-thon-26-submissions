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0A6B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9488"/>
                </a:solidFill>
                <a:latin typeface="Calibri"/>
              </a:rPr>
              <a:t>QUERY CARTEL  ·  CLICK-A-THON 2026  ·  ATLYS TRACK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Calibri"/>
              </a:rPr>
              <a:t>Analytics Copilot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74320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A8E6DF"/>
                </a:solidFill>
                <a:latin typeface="Calibri"/>
              </a:rPr>
              <a:t>Feature spec in. Production schema + PM-ready insights out.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29184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B8C9D0"/>
                </a:solidFill>
                <a:latin typeface="Calibri"/>
              </a:rPr>
              <a:t>Agents instrument, analyze, and explain — fully traced.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0233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B7C8A"/>
                </a:solidFill>
                <a:latin typeface="Calibri"/>
              </a:rPr>
              <a:t>Collapse weeks of instrumentation handoffs into one chat:
schema designed, context kept fresh, insights with charts &amp; tables — every step traced.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44652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ClickHouse  ·  Deterministic agents  ·  LLM as the brain  ·  Langfuse proof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537960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C8A"/>
                </a:solidFill>
                <a:latin typeface="Calibri"/>
              </a:rPr>
              <a:t>Query Cartel  ·  Analytics Copilot  ·  Click-a-thon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537960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C8A"/>
                </a:solidFill>
                <a:latin typeface="Calibri"/>
              </a:rPr>
              <a:t>2 /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56032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D9488"/>
                </a:solidFill>
                <a:latin typeface="Calibri"/>
              </a:rPr>
              <a:t>THE CHALLENGE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3891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B1F2A"/>
                </a:solidFill>
                <a:latin typeface="Calibri"/>
              </a:rPr>
              <a:t>Feature shipping outpaces analytics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280160"/>
            <a:ext cx="3566160" cy="2286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C5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280160"/>
            <a:ext cx="3566160" cy="914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5544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B1F2A"/>
                </a:solidFill>
                <a:latin typeface="Calibri"/>
              </a:rPr>
              <a:t>Manual loop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057400"/>
            <a:ext cx="3017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D4F5C"/>
                </a:solidFill>
                <a:latin typeface="Calibri"/>
              </a:rPr>
              <a:t>Tracking PRD → schema →
analysis takes weeks.
Context dies in handoffs.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280160"/>
            <a:ext cx="3566160" cy="2286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C5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1280160"/>
            <a:ext cx="3566160" cy="914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17720" y="15544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B1F2A"/>
                </a:solidFill>
                <a:latin typeface="Calibri"/>
              </a:rPr>
              <a:t>Stale insight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2057400"/>
            <a:ext cx="3017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D4F5C"/>
                </a:solidFill>
                <a:latin typeface="Calibri"/>
              </a:rPr>
              <a:t>By the time numbers land,
the team has moved on.
No why, only what.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1280160"/>
            <a:ext cx="3566160" cy="2286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C5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38160" y="1280160"/>
            <a:ext cx="3566160" cy="91440"/>
          </a:xfrm>
          <a:prstGeom prst="rect">
            <a:avLst/>
          </a:prstGeom>
          <a:solidFill>
            <a:srgbClr val="E85D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0" y="15544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B1F2A"/>
                </a:solidFill>
                <a:latin typeface="Calibri"/>
              </a:rPr>
              <a:t>Unseen-spec day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2057400"/>
            <a:ext cx="3017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D4F5C"/>
                </a:solidFill>
                <a:latin typeface="Calibri"/>
              </a:rPr>
              <a:t>Day-2 sealed feature must
run through the same
pipeline — no hardcoding.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3840480"/>
            <a:ext cx="11064240" cy="2286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C5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40233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B1F2A"/>
                </a:solidFill>
                <a:latin typeface="Calibri"/>
              </a:rPr>
              <a:t>Goal: collapse the loop — instrument, analyze, explain — on ClickHouse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46177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D9488"/>
                </a:solidFill>
                <a:latin typeface="Calibri"/>
              </a:rPr>
              <a:t>1  Instrumentation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498348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D4F5C"/>
                </a:solidFill>
                <a:latin typeface="Calibri"/>
              </a:rPr>
              <a:t>Spec → production DDL
(ORDER BY, partition, TTL, MVs)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0" y="46177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D9488"/>
                </a:solidFill>
                <a:latin typeface="Calibri"/>
              </a:rPr>
              <a:t>2  Analytics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66160" y="498348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D4F5C"/>
                </a:solidFill>
                <a:latin typeface="Calibri"/>
              </a:rPr>
              <a:t>SQL-backed insights a
PM would act 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60" y="46177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D9488"/>
                </a:solidFill>
                <a:latin typeface="Calibri"/>
              </a:rPr>
              <a:t>3  Context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60" y="498348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D4F5C"/>
                </a:solidFill>
                <a:latin typeface="Calibri"/>
              </a:rPr>
              <a:t>Living business layer;
fresh after every table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0" y="46177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D9488"/>
                </a:solidFill>
                <a:latin typeface="Calibri"/>
              </a:rPr>
              <a:t>4  Trace + UI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52560" y="498348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D4F5C"/>
                </a:solidFill>
                <a:latin typeface="Calibri"/>
              </a:rPr>
              <a:t>Langfuse proof +
charts, tables, diffs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537960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C8A"/>
                </a:solidFill>
                <a:latin typeface="Calibri"/>
              </a:rPr>
              <a:t>Query Cartel  ·  Analytics Copilot  ·  Click-a-thon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537960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C8A"/>
                </a:solidFill>
                <a:latin typeface="Calibri"/>
              </a:rPr>
              <a:t>3 /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56032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D9488"/>
                </a:solidFill>
                <a:latin typeface="Calibri"/>
              </a:rPr>
              <a:t>OUR SOLUTION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3891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B1F2A"/>
                </a:solidFill>
                <a:latin typeface="Calibri"/>
              </a:rPr>
              <a:t>Feature spec in. Schema + insight out.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9601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D4F5C"/>
                </a:solidFill>
                <a:latin typeface="Calibri"/>
              </a:rPr>
              <a:t>Agents instrument, analyze, and explain — fully traced.  Charts &amp; tables included.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1463040"/>
            <a:ext cx="1828800" cy="1554480"/>
          </a:xfrm>
          <a:prstGeom prst="roundRect">
            <a:avLst>
              <a:gd name="adj" fmla="val 10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6002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Interrogate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011680"/>
            <a:ext cx="1645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Gaps before
any DDL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2167128" y="2075688"/>
            <a:ext cx="256032" cy="146304"/>
          </a:xfrm>
          <a:prstGeom prst="rightArrow">
            <a:avLst/>
          </a:prstGeom>
          <a:solidFill>
            <a:srgbClr val="6B7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377440" y="1463040"/>
            <a:ext cx="1828800" cy="15544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C5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468880" y="16002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B1F2A"/>
                </a:solidFill>
                <a:latin typeface="Calibri"/>
              </a:rPr>
              <a:t>Propose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68880" y="2011680"/>
            <a:ext cx="1645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D4F5C"/>
                </a:solidFill>
                <a:latin typeface="Calibri"/>
              </a:rPr>
              <a:t>Schema +
rationale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4133088" y="2075688"/>
            <a:ext cx="256032" cy="146304"/>
          </a:xfrm>
          <a:prstGeom prst="rightArrow">
            <a:avLst/>
          </a:prstGeom>
          <a:solidFill>
            <a:srgbClr val="6B7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343400" y="1463040"/>
            <a:ext cx="1828800" cy="1554480"/>
          </a:xfrm>
          <a:prstGeom prst="roundRect">
            <a:avLst>
              <a:gd name="adj" fmla="val 10000"/>
            </a:avLst>
          </a:prstGeom>
          <a:solidFill>
            <a:srgbClr val="E85D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34840" y="16002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Approve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34840" y="2011680"/>
            <a:ext cx="1645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Human gate
⏸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6099048" y="2075688"/>
            <a:ext cx="256032" cy="146304"/>
          </a:xfrm>
          <a:prstGeom prst="rightArrow">
            <a:avLst/>
          </a:prstGeom>
          <a:solidFill>
            <a:srgbClr val="6B7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309359" y="1463040"/>
            <a:ext cx="1828800" cy="15544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C5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799" y="16002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B1F2A"/>
                </a:solidFill>
                <a:latin typeface="Calibri"/>
              </a:rPr>
              <a:t>Instrument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799" y="2011680"/>
            <a:ext cx="1645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D4F5C"/>
                </a:solidFill>
                <a:latin typeface="Calibri"/>
              </a:rPr>
              <a:t>CREATE +
load events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8065007" y="2075688"/>
            <a:ext cx="256032" cy="146304"/>
          </a:xfrm>
          <a:prstGeom prst="rightArrow">
            <a:avLst/>
          </a:prstGeom>
          <a:solidFill>
            <a:srgbClr val="6B7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275319" y="1463040"/>
            <a:ext cx="1828800" cy="15544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C5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66759" y="16002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B1F2A"/>
                </a:solidFill>
                <a:latin typeface="Calibri"/>
              </a:rPr>
              <a:t>Reconcile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66759" y="2011680"/>
            <a:ext cx="1645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D4F5C"/>
                </a:solidFill>
                <a:latin typeface="Calibri"/>
              </a:rPr>
              <a:t>Context
versioned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10030967" y="2075688"/>
            <a:ext cx="256032" cy="146304"/>
          </a:xfrm>
          <a:prstGeom prst="rightArrow">
            <a:avLst/>
          </a:prstGeom>
          <a:solidFill>
            <a:srgbClr val="6B7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10241280" y="1463040"/>
            <a:ext cx="1828800" cy="1554480"/>
          </a:xfrm>
          <a:prstGeom prst="roundRect">
            <a:avLst>
              <a:gd name="adj" fmla="val 10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0" y="16002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Insight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332720" y="2011680"/>
            <a:ext cx="1645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Charts &amp;
tables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8640" y="3383280"/>
            <a:ext cx="11064240" cy="80467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C5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48640" y="3383280"/>
            <a:ext cx="109728" cy="80467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4400" y="36118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B1F2A"/>
                </a:solidFill>
                <a:latin typeface="Calibri"/>
              </a:rPr>
              <a:t>Deterministic-first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931920" y="3547872"/>
            <a:ext cx="7406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D4F5C"/>
                </a:solidFill>
                <a:latin typeface="Calibri"/>
              </a:rPr>
              <a:t>Pipeline owns schema &amp; numbers with zero LLM calls. The LLM is the brain for chat &amp; narration — ClickHouse owns the math.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48640" y="4297680"/>
            <a:ext cx="11064240" cy="80467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C5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48640" y="4297680"/>
            <a:ext cx="109728" cy="80467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" y="45262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B1F2A"/>
                </a:solidFill>
                <a:latin typeface="Calibri"/>
              </a:rPr>
              <a:t>Compute in ClickHouse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931920" y="4462272"/>
            <a:ext cx="7406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D4F5C"/>
                </a:solidFill>
                <a:latin typeface="Calibri"/>
              </a:rPr>
              <a:t>Playbook SQL pushes aggregates into CH. The brain never sees raw rows — protects token budget &amp; accuracy.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48640" y="5212080"/>
            <a:ext cx="11064240" cy="80467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C5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48640" y="5212080"/>
            <a:ext cx="109728" cy="80467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4400" y="54406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B1F2A"/>
                </a:solidFill>
                <a:latin typeface="Calibri"/>
              </a:rPr>
              <a:t>Generic for Day 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931920" y="5376672"/>
            <a:ext cx="7406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D4F5C"/>
                </a:solidFill>
                <a:latin typeface="Calibri"/>
              </a:rPr>
              <a:t>Content-driven pipeline. No feature names hardcoded. Same chat flow for the sealed sixth spec.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537960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C8A"/>
                </a:solidFill>
                <a:latin typeface="Calibri"/>
              </a:rPr>
              <a:t>Query Cartel  ·  Analytics Copilot  ·  Click-a-thon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537960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C8A"/>
                </a:solidFill>
                <a:latin typeface="Calibri"/>
              </a:rPr>
              <a:t>4 /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56032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D9488"/>
                </a:solidFill>
                <a:latin typeface="Calibri"/>
              </a:rPr>
              <a:t>SYSTEM DESIGN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3891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B1F2A"/>
                </a:solidFill>
                <a:latin typeface="Calibri"/>
              </a:rPr>
              <a:t>Architecture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09160" y="960120"/>
            <a:ext cx="2743200" cy="502920"/>
          </a:xfrm>
          <a:prstGeom prst="roundRect">
            <a:avLst>
              <a:gd name="adj" fmla="val 10000"/>
            </a:avLst>
          </a:prstGeom>
          <a:solidFill>
            <a:srgbClr val="0B1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PM  ·  Chat</a:t>
            </a:r>
          </a:p>
        </p:txBody>
      </p:sp>
      <p:sp>
        <p:nvSpPr>
          <p:cNvPr id="9" name="Down Arrow 8"/>
          <p:cNvSpPr/>
          <p:nvPr/>
        </p:nvSpPr>
        <p:spPr>
          <a:xfrm>
            <a:off x="5980176" y="1481328"/>
            <a:ext cx="201168" cy="201168"/>
          </a:xfrm>
          <a:prstGeom prst="downArrow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63640" y="1463040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0D9488"/>
                </a:solidFill>
                <a:latin typeface="Calibri"/>
              </a:rPr>
              <a:t>① message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828800" y="1737360"/>
            <a:ext cx="4937760" cy="960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C5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B1F2A"/>
                </a:solidFill>
                <a:latin typeface="Calibri"/>
              </a:rPr>
              <a:t>LibreChat  —  front door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3D4F5C"/>
                </a:solidFill>
                <a:latin typeface="Calibri"/>
              </a:rPr>
              <a:t>Atlys PM agent  ·  tool calling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6858000" y="2121408"/>
            <a:ext cx="365760" cy="182880"/>
          </a:xfrm>
          <a:prstGeom prst="rightArrow">
            <a:avLst/>
          </a:prstGeom>
          <a:solidFill>
            <a:srgbClr val="E85D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20840" y="1965960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E85D4C"/>
                </a:solidFill>
                <a:latin typeface="Calibri"/>
              </a:rPr>
              <a:t>②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0" y="1737360"/>
            <a:ext cx="4114800" cy="960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C5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B1F2A"/>
                </a:solidFill>
                <a:latin typeface="Calibri"/>
              </a:rPr>
              <a:t>LLM  —  the brain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3D4F5C"/>
                </a:solidFill>
                <a:latin typeface="Calibri"/>
              </a:rPr>
              <a:t>Decide next tool  ·  narrate insights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0" y="1737360"/>
            <a:ext cx="109728" cy="960120"/>
          </a:xfrm>
          <a:prstGeom prst="rect">
            <a:avLst/>
          </a:prstGeom>
          <a:solidFill>
            <a:srgbClr val="E85D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own Arrow 15"/>
          <p:cNvSpPr/>
          <p:nvPr/>
        </p:nvSpPr>
        <p:spPr>
          <a:xfrm>
            <a:off x="4197096" y="2743200"/>
            <a:ext cx="201168" cy="201168"/>
          </a:xfrm>
          <a:prstGeom prst="downArrow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26280" y="2724912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0D9488"/>
                </a:solidFill>
                <a:latin typeface="Calibri"/>
              </a:rPr>
              <a:t>③ MCP / SSE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97280" y="2999232"/>
            <a:ext cx="9966960" cy="13258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C5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80160" y="3090672"/>
            <a:ext cx="9601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D9488"/>
                </a:solidFill>
                <a:latin typeface="Calibri"/>
              </a:rPr>
              <a:t>FastAPI orchestration  ·  deterministic  ·  zero LLM calls in pipeline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417320" y="3429000"/>
            <a:ext cx="2011680" cy="731520"/>
          </a:xfrm>
          <a:prstGeom prst="roundRect">
            <a:avLst>
              <a:gd name="adj" fmla="val 10000"/>
            </a:avLst>
          </a:prstGeom>
          <a:solidFill>
            <a:srgbClr val="E8F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B1F2A"/>
                </a:solidFill>
                <a:latin typeface="Calibri"/>
              </a:rPr>
              <a:t>Instrumentation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3D4F5C"/>
                </a:solidFill>
                <a:latin typeface="Calibri"/>
              </a:rPr>
              <a:t>schema from events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3447288" y="3730752"/>
            <a:ext cx="256032" cy="128016"/>
          </a:xfrm>
          <a:prstGeom prst="rightArrow">
            <a:avLst/>
          </a:prstGeom>
          <a:solidFill>
            <a:srgbClr val="6B7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886200" y="3429000"/>
            <a:ext cx="2011680" cy="731520"/>
          </a:xfrm>
          <a:prstGeom prst="roundRect">
            <a:avLst>
              <a:gd name="adj" fmla="val 10000"/>
            </a:avLst>
          </a:prstGeom>
          <a:solidFill>
            <a:srgbClr val="E8F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B1F2A"/>
                </a:solidFill>
                <a:latin typeface="Calibri"/>
              </a:rPr>
              <a:t>Context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3D4F5C"/>
                </a:solidFill>
                <a:latin typeface="Calibri"/>
              </a:rPr>
              <a:t>version + reconcile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5916168" y="3730752"/>
            <a:ext cx="256032" cy="128016"/>
          </a:xfrm>
          <a:prstGeom prst="rightArrow">
            <a:avLst/>
          </a:prstGeom>
          <a:solidFill>
            <a:srgbClr val="6B7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355080" y="3429000"/>
            <a:ext cx="2011680" cy="731520"/>
          </a:xfrm>
          <a:prstGeom prst="roundRect">
            <a:avLst>
              <a:gd name="adj" fmla="val 10000"/>
            </a:avLst>
          </a:prstGeom>
          <a:solidFill>
            <a:srgbClr val="E8F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B1F2A"/>
                </a:solidFill>
                <a:latin typeface="Calibri"/>
              </a:rPr>
              <a:t>Analytics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3D4F5C"/>
                </a:solidFill>
                <a:latin typeface="Calibri"/>
              </a:rPr>
              <a:t>playbook SQL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8385048" y="3730752"/>
            <a:ext cx="256032" cy="128016"/>
          </a:xfrm>
          <a:prstGeom prst="rightArrow">
            <a:avLst/>
          </a:prstGeom>
          <a:solidFill>
            <a:srgbClr val="6B7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823960" y="3429000"/>
            <a:ext cx="2011680" cy="731520"/>
          </a:xfrm>
          <a:prstGeom prst="roundRect">
            <a:avLst>
              <a:gd name="adj" fmla="val 10000"/>
            </a:avLst>
          </a:prstGeom>
          <a:solidFill>
            <a:srgbClr val="E8F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B1F2A"/>
                </a:solidFill>
                <a:latin typeface="Calibri"/>
              </a:rPr>
              <a:t>Correlation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3D4F5C"/>
                </a:solidFill>
                <a:latin typeface="Calibri"/>
              </a:rPr>
              <a:t>known issues</a:t>
            </a:r>
          </a:p>
        </p:txBody>
      </p:sp>
      <p:sp>
        <p:nvSpPr>
          <p:cNvPr id="27" name="Down Arrow 26"/>
          <p:cNvSpPr/>
          <p:nvPr/>
        </p:nvSpPr>
        <p:spPr>
          <a:xfrm>
            <a:off x="3557016" y="4389120"/>
            <a:ext cx="201168" cy="228600"/>
          </a:xfrm>
          <a:prstGeom prst="downArrow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840480" y="4370832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0D9488"/>
                </a:solidFill>
                <a:latin typeface="Calibri"/>
              </a:rPr>
              <a:t>④ SQL / DDL</a:t>
            </a:r>
          </a:p>
        </p:txBody>
      </p:sp>
      <p:sp>
        <p:nvSpPr>
          <p:cNvPr id="29" name="Down Arrow 28"/>
          <p:cNvSpPr/>
          <p:nvPr/>
        </p:nvSpPr>
        <p:spPr>
          <a:xfrm>
            <a:off x="8586216" y="4389120"/>
            <a:ext cx="201168" cy="228600"/>
          </a:xfrm>
          <a:prstGeom prst="downArrow">
            <a:avLst/>
          </a:prstGeom>
          <a:solidFill>
            <a:srgbClr val="0A6B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869680" y="4370832"/>
            <a:ext cx="1463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0A6B62"/>
                </a:solidFill>
                <a:latin typeface="Calibri"/>
              </a:rPr>
              <a:t>⑤ traces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97280" y="4709160"/>
            <a:ext cx="5760720" cy="1051560"/>
          </a:xfrm>
          <a:prstGeom prst="roundRect">
            <a:avLst>
              <a:gd name="adj" fmla="val 10000"/>
            </a:avLst>
          </a:prstGeom>
          <a:solidFill>
            <a:srgbClr val="0B1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ClickHouse Cloud  —  only datastore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B8C9D0"/>
                </a:solidFill>
                <a:latin typeface="Calibri"/>
              </a:rPr>
              <a:t>funnel tables  ·  feature_events  ·  meta.*  ·  event_log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315200" y="4709160"/>
            <a:ext cx="3749039" cy="1051560"/>
          </a:xfrm>
          <a:prstGeom prst="roundRect">
            <a:avLst>
              <a:gd name="adj" fmla="val 10000"/>
            </a:avLst>
          </a:prstGeom>
          <a:solidFill>
            <a:srgbClr val="0A6B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Langfuse  —  proof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D0F0EC"/>
                </a:solidFill>
                <a:latin typeface="Calibri"/>
              </a:rPr>
              <a:t>chat + pipeline  ·  run_id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" y="5852160"/>
            <a:ext cx="9966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B7C8A"/>
                </a:solidFill>
                <a:latin typeface="Calibri"/>
              </a:rPr>
              <a:t>⑧ Dashboard REST ← FastAPI   ·   React shell shows insights, charts &amp; tables, schema timeline, context diffs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537960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C8A"/>
                </a:solidFill>
                <a:latin typeface="Calibri"/>
              </a:rPr>
              <a:t>Query Cartel  ·  Analytics Copilot  ·  Click-a-thon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537960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C8A"/>
                </a:solidFill>
                <a:latin typeface="Calibri"/>
              </a:rPr>
              <a:t>5 /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56032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D9488"/>
                </a:solidFill>
                <a:latin typeface="Calibri"/>
              </a:rPr>
              <a:t>ORCHESTRATION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3891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B1F2A"/>
                </a:solidFill>
                <a:latin typeface="Calibri"/>
              </a:rPr>
              <a:t>Event-driven pipeline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515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D4F5C"/>
                </a:solidFill>
                <a:latin typeface="Calibri"/>
              </a:rPr>
              <a:t>Agents are event handlers.  atlys.event_log is the durable backbone.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463040"/>
            <a:ext cx="3291840" cy="457200"/>
          </a:xfrm>
          <a:prstGeom prst="roundRect">
            <a:avLst>
              <a:gd name="adj" fmla="val 10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536192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spec.run.requested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2130552" y="1901952"/>
            <a:ext cx="128016" cy="164592"/>
          </a:xfrm>
          <a:prstGeom prst="downArrow">
            <a:avLst/>
          </a:prstGeom>
          <a:solidFill>
            <a:srgbClr val="6B7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48640" y="2084832"/>
            <a:ext cx="329184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C5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157984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B1F2A"/>
                </a:solidFill>
                <a:latin typeface="Calibri"/>
              </a:rPr>
              <a:t>spec.ingested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2130552" y="2523744"/>
            <a:ext cx="128016" cy="164592"/>
          </a:xfrm>
          <a:prstGeom prst="downArrow">
            <a:avLst/>
          </a:prstGeom>
          <a:solidFill>
            <a:srgbClr val="6B7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48640" y="2706624"/>
            <a:ext cx="3291840" cy="457200"/>
          </a:xfrm>
          <a:prstGeom prst="roundRect">
            <a:avLst>
              <a:gd name="adj" fmla="val 10000"/>
            </a:avLst>
          </a:prstGeom>
          <a:solidFill>
            <a:srgbClr val="E85D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2779776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schema.proposed  ⏸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2130552" y="3145536"/>
            <a:ext cx="128016" cy="164592"/>
          </a:xfrm>
          <a:prstGeom prst="downArrow">
            <a:avLst/>
          </a:prstGeom>
          <a:solidFill>
            <a:srgbClr val="6B7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48640" y="3328416"/>
            <a:ext cx="329184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C5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401568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B1F2A"/>
                </a:solidFill>
                <a:latin typeface="Calibri"/>
              </a:rPr>
              <a:t>schema.approved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2130552" y="3767328"/>
            <a:ext cx="128016" cy="164592"/>
          </a:xfrm>
          <a:prstGeom prst="downArrow">
            <a:avLst/>
          </a:prstGeom>
          <a:solidFill>
            <a:srgbClr val="6B7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48640" y="3950208"/>
            <a:ext cx="329184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C5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402336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B1F2A"/>
                </a:solidFill>
                <a:latin typeface="Calibri"/>
              </a:rPr>
              <a:t>schema.created</a:t>
            </a:r>
          </a:p>
        </p:txBody>
      </p:sp>
      <p:sp>
        <p:nvSpPr>
          <p:cNvPr id="23" name="Down Arrow 22"/>
          <p:cNvSpPr/>
          <p:nvPr/>
        </p:nvSpPr>
        <p:spPr>
          <a:xfrm>
            <a:off x="2130552" y="4389120"/>
            <a:ext cx="128016" cy="164592"/>
          </a:xfrm>
          <a:prstGeom prst="downArrow">
            <a:avLst/>
          </a:prstGeom>
          <a:solidFill>
            <a:srgbClr val="6B7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48640" y="4572000"/>
            <a:ext cx="329184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C5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4645152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B1F2A"/>
                </a:solidFill>
                <a:latin typeface="Calibri"/>
              </a:rPr>
              <a:t>context.updated</a:t>
            </a:r>
          </a:p>
        </p:txBody>
      </p:sp>
      <p:sp>
        <p:nvSpPr>
          <p:cNvPr id="26" name="Down Arrow 25"/>
          <p:cNvSpPr/>
          <p:nvPr/>
        </p:nvSpPr>
        <p:spPr>
          <a:xfrm>
            <a:off x="2130552" y="5010912"/>
            <a:ext cx="128016" cy="164592"/>
          </a:xfrm>
          <a:prstGeom prst="downArrow">
            <a:avLst/>
          </a:prstGeom>
          <a:solidFill>
            <a:srgbClr val="6B7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48640" y="5193792"/>
            <a:ext cx="3291840" cy="457200"/>
          </a:xfrm>
          <a:prstGeom prst="roundRect">
            <a:avLst>
              <a:gd name="adj" fmla="val 10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" y="5266944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insight.created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206240" y="1463040"/>
            <a:ext cx="7406640" cy="4572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C5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480560" y="1645920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B1F2A"/>
                </a:solidFill>
                <a:latin typeface="Calibri"/>
              </a:rPr>
              <a:t>Why this design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80560" y="2148840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D9488"/>
                </a:solidFill>
                <a:latin typeface="Calibri"/>
              </a:rPr>
              <a:t>Approval gate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80560" y="2441448"/>
            <a:ext cx="6858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D4F5C"/>
                </a:solidFill>
                <a:latin typeface="Calibri"/>
              </a:rPr>
              <a:t>Pauses at schema.proposed. Pending run in meta.pending_runs. DDL only after approve_schema.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80560" y="3063240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D9488"/>
                </a:solidFill>
                <a:latin typeface="Calibri"/>
              </a:rPr>
              <a:t>Idempotent &amp; auditable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80560" y="3355848"/>
            <a:ext cx="6858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D4F5C"/>
                </a:solidFill>
                <a:latin typeface="Calibri"/>
              </a:rPr>
              <a:t>Every transition → event_log row + Langfuse span. Replay the full chain from one trace_id.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80560" y="3977639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D9488"/>
                </a:solidFill>
                <a:latin typeface="Calibri"/>
              </a:rPr>
              <a:t>Context before insight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80560" y="4270247"/>
            <a:ext cx="6858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D4F5C"/>
                </a:solidFill>
                <a:latin typeface="Calibri"/>
              </a:rPr>
              <a:t>Analytics never runs on a stale snapshot. context.updated always precedes insight.created.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80560" y="4892040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D9488"/>
                </a:solidFill>
                <a:latin typeface="Calibri"/>
              </a:rPr>
              <a:t>Chat is a thin client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80560" y="5184648"/>
            <a:ext cx="6858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D4F5C"/>
                </a:solidFill>
                <a:latin typeface="Calibri"/>
              </a:rPr>
              <a:t>The LLM brain picks tools; FastAPI owns state. Reloads don't lose a pending run.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537960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C8A"/>
                </a:solidFill>
                <a:latin typeface="Calibri"/>
              </a:rPr>
              <a:t>Query Cartel  ·  Analytics Copilot  ·  Click-a-thon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537960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C8A"/>
                </a:solidFill>
                <a:latin typeface="Calibri"/>
              </a:rPr>
              <a:t>6 /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56032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D9488"/>
                </a:solidFill>
                <a:latin typeface="Calibri"/>
              </a:rPr>
              <a:t>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3891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B1F2A"/>
                </a:solidFill>
                <a:latin typeface="Calibri"/>
              </a:rPr>
              <a:t>ClickHouse data model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143000"/>
            <a:ext cx="5669280" cy="4937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C5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28016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D9488"/>
                </a:solidFill>
                <a:latin typeface="Calibri"/>
              </a:rPr>
              <a:t>EXISTING FUNNEL  (~2.5M rows)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1737360"/>
            <a:ext cx="4114800" cy="438912"/>
          </a:xfrm>
          <a:prstGeom prst="roundRect">
            <a:avLst>
              <a:gd name="adj" fmla="val 10000"/>
            </a:avLst>
          </a:prstGeom>
          <a:solidFill>
            <a:srgbClr val="E8F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1810512"/>
            <a:ext cx="3840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B1F2A"/>
                </a:solidFill>
                <a:latin typeface="Calibri"/>
              </a:rPr>
              <a:t>1.  destination_card_clicked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2898648" y="2176272"/>
            <a:ext cx="146304" cy="182880"/>
          </a:xfrm>
          <a:prstGeom prst="downArrow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14400" y="2377439"/>
            <a:ext cx="4114800" cy="438912"/>
          </a:xfrm>
          <a:prstGeom prst="roundRect">
            <a:avLst>
              <a:gd name="adj" fmla="val 10000"/>
            </a:avLst>
          </a:prstGeom>
          <a:solidFill>
            <a:srgbClr val="E8F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2450591"/>
            <a:ext cx="3840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B1F2A"/>
                </a:solidFill>
                <a:latin typeface="Calibri"/>
              </a:rPr>
              <a:t>2.  application_started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2898648" y="2816351"/>
            <a:ext cx="146304" cy="182880"/>
          </a:xfrm>
          <a:prstGeom prst="downArrow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14400" y="3017520"/>
            <a:ext cx="4114800" cy="438912"/>
          </a:xfrm>
          <a:prstGeom prst="roundRect">
            <a:avLst>
              <a:gd name="adj" fmla="val 10000"/>
            </a:avLst>
          </a:prstGeom>
          <a:solidFill>
            <a:srgbClr val="E8F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3090672"/>
            <a:ext cx="3840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B1F2A"/>
                </a:solidFill>
                <a:latin typeface="Calibri"/>
              </a:rPr>
              <a:t>3.  document_uploaded</a:t>
            </a:r>
          </a:p>
        </p:txBody>
      </p:sp>
      <p:sp>
        <p:nvSpPr>
          <p:cNvPr id="18" name="Down Arrow 17"/>
          <p:cNvSpPr/>
          <p:nvPr/>
        </p:nvSpPr>
        <p:spPr>
          <a:xfrm>
            <a:off x="2898648" y="3456432"/>
            <a:ext cx="146304" cy="182880"/>
          </a:xfrm>
          <a:prstGeom prst="downArrow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14400" y="3657599"/>
            <a:ext cx="4114800" cy="438912"/>
          </a:xfrm>
          <a:prstGeom prst="roundRect">
            <a:avLst>
              <a:gd name="adj" fmla="val 10000"/>
            </a:avLst>
          </a:prstGeom>
          <a:solidFill>
            <a:srgbClr val="E8F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1560" y="3730751"/>
            <a:ext cx="3840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B1F2A"/>
                </a:solidFill>
                <a:latin typeface="Calibri"/>
              </a:rPr>
              <a:t>4.  purchase_completed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43484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7C8A"/>
                </a:solidFill>
                <a:latin typeface="Calibri"/>
              </a:rPr>
              <a:t>+ supporting: search · scroll · auth · pay_now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4846320"/>
            <a:ext cx="5212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D4F5C"/>
                </a:solidFill>
                <a:latin typeface="Calibri"/>
              </a:rPr>
              <a:t>Per feature:  &lt;feature&gt;_events
Designed from the spec's NDJSON — types,
ORDER BY, partition, TTL — after approval.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55080" y="1143000"/>
            <a:ext cx="5349240" cy="4937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C5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37960" y="128016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D9488"/>
                </a:solidFill>
                <a:latin typeface="Calibri"/>
              </a:rPr>
              <a:t>PIPELINE META (auto-created)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37960" y="173736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B1F2A"/>
                </a:solidFill>
                <a:latin typeface="Calibri"/>
              </a:rPr>
              <a:t>schema_catalog / changelog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0" y="173736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D4F5C"/>
                </a:solidFill>
                <a:latin typeface="Calibri"/>
              </a:rPr>
              <a:t>DDL, rationale, versions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37960" y="22402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B1F2A"/>
                </a:solidFill>
                <a:latin typeface="Calibri"/>
              </a:rPr>
              <a:t>context_snapshots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0" y="224028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D4F5C"/>
                </a:solidFill>
                <a:latin typeface="Calibri"/>
              </a:rPr>
              <a:t>versioned business layer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37960" y="27432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B1F2A"/>
                </a:solidFill>
                <a:latin typeface="Calibri"/>
              </a:rPr>
              <a:t>context_changelog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01200" y="274320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D4F5C"/>
                </a:solidFill>
                <a:latin typeface="Calibri"/>
              </a:rPr>
              <a:t>diffs + contradictions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37960" y="32461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B1F2A"/>
                </a:solidFill>
                <a:latin typeface="Calibri"/>
              </a:rPr>
              <a:t>insights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01200" y="324612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D4F5C"/>
                </a:solidFill>
                <a:latin typeface="Calibri"/>
              </a:rPr>
              <a:t>cards + evidence + SQL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37960" y="3749039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B1F2A"/>
                </a:solidFill>
                <a:latin typeface="Calibri"/>
              </a:rPr>
              <a:t>pending_runs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01200" y="3749039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D4F5C"/>
                </a:solidFill>
                <a:latin typeface="Calibri"/>
              </a:rPr>
              <a:t>approval gate state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37960" y="425196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B1F2A"/>
                </a:solidFill>
                <a:latin typeface="Calibri"/>
              </a:rPr>
              <a:t>known_issues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01200" y="425196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D4F5C"/>
                </a:solidFill>
                <a:latin typeface="Calibri"/>
              </a:rPr>
              <a:t>linked from context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37960" y="47548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B1F2A"/>
                </a:solidFill>
                <a:latin typeface="Calibri"/>
              </a:rPr>
              <a:t>migration_journal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01200" y="475488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D4F5C"/>
                </a:solidFill>
                <a:latin typeface="Calibri"/>
              </a:rPr>
              <a:t>safe DDL apply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37960" y="52578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B1F2A"/>
                </a:solidFill>
                <a:latin typeface="Calibri"/>
              </a:rPr>
              <a:t>atlys.event_log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01200" y="525780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D4F5C"/>
                </a:solidFill>
                <a:latin typeface="Calibri"/>
              </a:rPr>
              <a:t>durable event backbone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537960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C8A"/>
                </a:solidFill>
                <a:latin typeface="Calibri"/>
              </a:rPr>
              <a:t>Query Cartel  ·  Analytics Copilot  ·  Click-a-thon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537960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C8A"/>
                </a:solidFill>
                <a:latin typeface="Calibri"/>
              </a:rPr>
              <a:t>7 /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56032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D9488"/>
                </a:solidFill>
                <a:latin typeface="Calibri"/>
              </a:rPr>
              <a:t>WHY WE WIN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3891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B1F2A"/>
                </a:solidFill>
                <a:latin typeface="Calibri"/>
              </a:rPr>
              <a:t>Mapped to judging criteria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097280"/>
            <a:ext cx="11155680" cy="89611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C5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097280"/>
            <a:ext cx="128016" cy="89611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37160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9488"/>
                </a:solidFill>
                <a:latin typeface="Calibr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123444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B1F2A"/>
                </a:solidFill>
                <a:latin typeface="Calibri"/>
              </a:rPr>
              <a:t>Schema quality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1298448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D4F5C"/>
                </a:solidFill>
                <a:latin typeface="Calibri"/>
              </a:rPr>
              <a:t>Event-driven typing from sample NDJSON. Defensible ORDER BY / partition / TTL. MVs that earn their keep. Human approval before execute.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2084832"/>
            <a:ext cx="11155680" cy="89611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C5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2084832"/>
            <a:ext cx="128016" cy="89611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2359152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9488"/>
                </a:solidFill>
                <a:latin typeface="Calibri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2221992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B1F2A"/>
                </a:solidFill>
                <a:latin typeface="Calibri"/>
              </a:rPr>
              <a:t>Insight quality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228600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D4F5C"/>
                </a:solidFill>
                <a:latin typeface="Calibri"/>
              </a:rPr>
              <a:t>Playbook cuts across device, geo, funnel stage. Known-issue correlation. Charts &amp; tables backed by stored SQL — PM prose, not DB dumps.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3072384"/>
            <a:ext cx="11155680" cy="89611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C5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" y="3072384"/>
            <a:ext cx="128016" cy="89611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3346704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9488"/>
                </a:solidFill>
                <a:latin typeface="Calibri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3040" y="3209544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B1F2A"/>
                </a:solidFill>
                <a:latin typeface="Calibri"/>
              </a:rPr>
              <a:t>Context freshness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0560" y="3273552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D4F5C"/>
                </a:solidFill>
                <a:latin typeface="Calibri"/>
              </a:rPr>
              <a:t>Context Agent versions snapshots + diffs on every schema change. Analytics always reads the latest snapshot.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4059936"/>
            <a:ext cx="11155680" cy="89611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C5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02920" y="4059936"/>
            <a:ext cx="128016" cy="89611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4334256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9488"/>
                </a:solidFill>
                <a:latin typeface="Calibri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63040" y="4197096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B1F2A"/>
                </a:solidFill>
                <a:latin typeface="Calibri"/>
              </a:rPr>
              <a:t>Traceability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80560" y="4261104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D4F5C"/>
                </a:solidFill>
                <a:latin typeface="Calibri"/>
              </a:rPr>
              <a:t>Langfuse dual-trace (chat + pipeline), cross-linked by session_id = run_id. meta.* and event_log carry trace_id.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920" y="5047488"/>
            <a:ext cx="11155680" cy="89611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C5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02920" y="5047488"/>
            <a:ext cx="128016" cy="896112"/>
          </a:xfrm>
          <a:prstGeom prst="rect">
            <a:avLst/>
          </a:prstGeom>
          <a:solidFill>
            <a:srgbClr val="E85D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" y="5321808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85D4C"/>
                </a:solidFill>
                <a:latin typeface="Calibri"/>
              </a:rPr>
              <a:t>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63040" y="5184648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B1F2A"/>
                </a:solidFill>
                <a:latin typeface="Calibri"/>
              </a:rPr>
              <a:t>Unseen spec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80560" y="5248656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D4F5C"/>
                </a:solidFill>
                <a:latin typeface="Calibri"/>
              </a:rPr>
              <a:t>Zero per-spec hardcoding. Same interrogate → propose → approve → analyze path. Built for the sealed sixth spec.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9488"/>
                </a:solidFill>
                <a:latin typeface="Calibri"/>
              </a:rPr>
              <a:t>QUERY CARTEL  ·  LIVE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Feature spec in. Production schema + PM-ready insights out.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A8E6DF"/>
                </a:solidFill>
                <a:latin typeface="Calibri"/>
              </a:rPr>
              <a:t>Agents instrument, analyze, and explain — fully traced.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23160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D0DEE4"/>
                </a:solidFill>
                <a:latin typeface="Calibri"/>
              </a:rPr>
              <a:t>1   Upload / pick a feature spec  →  "implement Express Checkout"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862072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D0DEE4"/>
                </a:solidFill>
                <a:latin typeface="Calibri"/>
              </a:rPr>
              <a:t>2   Agent interrogates gaps  →  proposes DDL + rationale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300984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D0DEE4"/>
                </a:solidFill>
                <a:latin typeface="Calibri"/>
              </a:rPr>
              <a:t>3   Approve in chat  →  CREATE TABLE + load + context reconcile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739896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D0DEE4"/>
                </a:solidFill>
                <a:latin typeface="Calibri"/>
              </a:rPr>
              <a:t>4   Insight card + charts &amp; tables + evidence SQL + Langfuse link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178808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D0DEE4"/>
                </a:solidFill>
                <a:latin typeface="Calibri"/>
              </a:rPr>
              <a:t>5   Dashboard: changelog · context diff · event_log replay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5120640"/>
            <a:ext cx="12191695" cy="1737360"/>
          </a:xfrm>
          <a:prstGeom prst="rect">
            <a:avLst/>
          </a:prstGeom>
          <a:solidFill>
            <a:srgbClr val="0A6B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53949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A8E6DF"/>
                </a:solidFill>
                <a:latin typeface="Calibri"/>
              </a:rPr>
              <a:t>Stack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8064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ClickHouse Cloud  ·  FastAPI / MCP  ·  LibreChat  ·  LLM (brain)  ·  Langfuse  ·  React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