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bd75987abc48e7" /><Relationship Type="http://schemas.openxmlformats.org/officeDocument/2006/relationships/extended-properties" Target="/docProps/app.xml" Id="R32a96abce37d4907" /><Relationship Type="http://schemas.openxmlformats.org/officeDocument/2006/relationships/officeDocument" Target="/ppt/presentation.xml" Id="R53dbaae983a44d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505a6beda7494e"/>
  </p:sldMasterIdLst>
  <p:notesMasterIdLst>
    <p:notesMasterId xmlns:r="http://schemas.openxmlformats.org/officeDocument/2006/relationships" r:id="Rbe50a5ca32854a36"/>
  </p:notesMasterIdLst>
  <p:sldIdLst>
    <p:sldId xmlns:r="http://schemas.openxmlformats.org/officeDocument/2006/relationships" id="256" r:id="R48815df1f0e54b60"/>
    <p:sldId xmlns:r="http://schemas.openxmlformats.org/officeDocument/2006/relationships" id="257" r:id="R6dc0354efe4d4ca1"/>
    <p:sldId xmlns:r="http://schemas.openxmlformats.org/officeDocument/2006/relationships" id="258" r:id="R989cbb8d9cea480d"/>
    <p:sldId xmlns:r="http://schemas.openxmlformats.org/officeDocument/2006/relationships" id="259" r:id="R3d4dc75cbd134ba0"/>
    <p:sldId xmlns:r="http://schemas.openxmlformats.org/officeDocument/2006/relationships" id="260" r:id="R257e90d28fb84922"/>
    <p:sldId xmlns:r="http://schemas.openxmlformats.org/officeDocument/2006/relationships" id="261" r:id="R2f5f5f36cab64b56"/>
    <p:sldId xmlns:r="http://schemas.openxmlformats.org/officeDocument/2006/relationships" id="262" r:id="R8bd133d877e1465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05a6beda7494e" /><Relationship Type="http://schemas.openxmlformats.org/officeDocument/2006/relationships/theme" Target="/ppt/theme/theme1.xml" Id="Rbf858647ac2a4a97" /><Relationship Type="http://schemas.openxmlformats.org/officeDocument/2006/relationships/notesMaster" Target="/ppt/notesMasters/notesMaster1.xml" Id="Rbe50a5ca32854a36" /><Relationship Type="http://schemas.openxmlformats.org/officeDocument/2006/relationships/presProps" Target="/ppt/presProps.xml" Id="R5aaf1bb8b78d4dce" /><Relationship Type="http://schemas.openxmlformats.org/officeDocument/2006/relationships/viewProps" Target="/ppt/viewProps.xml" Id="Red4a45f75a8a4e4b" /><Relationship Type="http://schemas.openxmlformats.org/officeDocument/2006/relationships/tableStyles" Target="/ppt/tableStyles.xml" Id="Re4ef415a5f3f405e" /><Relationship Type="http://schemas.openxmlformats.org/officeDocument/2006/relationships/slide" Target="/ppt/slides/slide1.xml" Id="R48815df1f0e54b60" /><Relationship Type="http://schemas.openxmlformats.org/officeDocument/2006/relationships/slide" Target="/ppt/slides/slide2.xml" Id="R6dc0354efe4d4ca1" /><Relationship Type="http://schemas.openxmlformats.org/officeDocument/2006/relationships/slide" Target="/ppt/slides/slide3.xml" Id="R989cbb8d9cea480d" /><Relationship Type="http://schemas.openxmlformats.org/officeDocument/2006/relationships/slide" Target="/ppt/slides/slide4.xml" Id="R3d4dc75cbd134ba0" /><Relationship Type="http://schemas.openxmlformats.org/officeDocument/2006/relationships/slide" Target="/ppt/slides/slide5.xml" Id="R257e90d28fb84922" /><Relationship Type="http://schemas.openxmlformats.org/officeDocument/2006/relationships/slide" Target="/ppt/slides/slide6.xml" Id="R2f5f5f36cab64b56" /><Relationship Type="http://schemas.openxmlformats.org/officeDocument/2006/relationships/slide" Target="/ppt/slides/slide7.xml" Id="R8bd133d877e146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cc01329b57244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84c2e83cf24819" /><Relationship Type="http://schemas.openxmlformats.org/officeDocument/2006/relationships/notesMaster" Target="/ppt/notesMasters/notesMaster1.xml" Id="R8b24bb73360b42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55fbc023234f11" /><Relationship Type="http://schemas.openxmlformats.org/officeDocument/2006/relationships/notesMaster" Target="/ppt/notesMasters/notesMaster1.xml" Id="R7f38c088ffa148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447084ef054c52" /><Relationship Type="http://schemas.openxmlformats.org/officeDocument/2006/relationships/notesMaster" Target="/ppt/notesMasters/notesMaster1.xml" Id="Rda9fb808052345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0b40d22c484473" /><Relationship Type="http://schemas.openxmlformats.org/officeDocument/2006/relationships/notesMaster" Target="/ppt/notesMasters/notesMaster1.xml" Id="R56a62127851c42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da2d235c374cb1" /><Relationship Type="http://schemas.openxmlformats.org/officeDocument/2006/relationships/notesMaster" Target="/ppt/notesMasters/notesMaster1.xml" Id="Re5923e6e0e7a4e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69a41012d24a0d" /><Relationship Type="http://schemas.openxmlformats.org/officeDocument/2006/relationships/notesMaster" Target="/ppt/notesMasters/notesMaster1.xml" Id="R8571cf8e2d314c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7d0c0ad8b848e0" /><Relationship Type="http://schemas.openxmlformats.org/officeDocument/2006/relationships/notesMaster" Target="/ppt/notesMasters/notesMaster1.xml" Id="R9d6f413ac731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6f51512f7456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9ff7267d742409f" /><Relationship Type="http://schemas.openxmlformats.org/officeDocument/2006/relationships/slideLayout" Target="/ppt/slideLayouts/slideLayout2.xml" Id="Re0a5ab97490449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a5ab97490449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5c255816734290" /><Relationship Type="http://schemas.openxmlformats.org/officeDocument/2006/relationships/notesSlide" Target="/ppt/notesSlides/notesSlide1.xml" Id="Rb7d35ce008704a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39962c7dfd4542" /><Relationship Type="http://schemas.openxmlformats.org/officeDocument/2006/relationships/notesSlide" Target="/ppt/notesSlides/notesSlide2.xml" Id="R974177e1a38e48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79a98fedd3424f" /><Relationship Type="http://schemas.openxmlformats.org/officeDocument/2006/relationships/notesSlide" Target="/ppt/notesSlides/notesSlide3.xml" Id="R062dd997536b41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78124c4c5641e6" /><Relationship Type="http://schemas.openxmlformats.org/officeDocument/2006/relationships/notesSlide" Target="/ppt/notesSlides/notesSlide4.xml" Id="R1efa03b395674b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4eeb2f2a0e4625" /><Relationship Type="http://schemas.openxmlformats.org/officeDocument/2006/relationships/notesSlide" Target="/ppt/notesSlides/notesSlide5.xml" Id="R2b02f5079ca742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71bb8013f54ad5" /><Relationship Type="http://schemas.openxmlformats.org/officeDocument/2006/relationships/notesSlide" Target="/ppt/notesSlides/notesSlide6.xml" Id="Rc42bb40dba104e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98134d89b64963" /><Relationship Type="http://schemas.openxmlformats.org/officeDocument/2006/relationships/notesSlide" Target="/ppt/notesSlides/notesSlide7.xml" Id="Raa786798394c40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stage">
            <a:extLst xmlns:a="http://schemas.openxmlformats.org/drawingml/2006/main">
              <a:ext uri="{FF2B5EF4-FFF2-40B4-BE49-F238E27FC236}">
                <a16:creationId xmlns:a16="http://schemas.microsoft.com/office/drawing/2014/main" id="{4550FF12-FFA6-4740-8D6F-EC94BAF3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38EA4AA-E0DF-445D-8925-DEAAE508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12395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650" b="1">
                <a:solidFill>
                  <a:srgbClr val="FFCC01"/>
                </a:solidFill>
              </a:defRPr>
            </a:pPr>
            <a:r>
              <a:rPr sz="10650" b="1">
                <a:solidFill>
                  <a:srgbClr val="FFCC01"/>
                </a:solidFill>
              </a:rPr>
              <a:t>ASKLYS</a:t>
            </a:r>
          </a:p>
        </p:txBody>
      </p:sp>
      <p:sp>
        <p:nvSpPr>
          <p:cNvPr id="3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8B3DDA30-464D-46A6-B03F-3186B8A6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63627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From feature spec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to product decision.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3155FA8-0EE5-4200-867A-DDD80988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29400"/>
            <a:ext cx="6419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D6D4CE"/>
                </a:solidFill>
              </a:defRPr>
            </a:pPr>
            <a:r>
              <a:rPr sz="2025">
                <a:solidFill>
                  <a:srgbClr val="D6D4CE"/>
                </a:solidFill>
              </a:rPr>
              <a:t>Three agents. One ClickHouse-native loop. Fully traced.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6E3FE-FF28-4674-BFE3-E6E5F958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28956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CC01"/>
                </a:solidFill>
              </a:defRPr>
            </a:pPr>
            <a:r>
              <a:rPr sz="1650" b="1">
                <a:solidFill>
                  <a:srgbClr val="FFCC01"/>
                </a:solidFill>
              </a:rPr>
              <a:t>SPEC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A58DA-BB0E-47A0-B1D4-9EF5583A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3333750"/>
            <a:ext cx="304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>
                <a:solidFill>
                  <a:srgbClr val="FFFFFF"/>
                </a:solidFill>
              </a:defRPr>
            </a:pPr>
            <a:r>
              <a:rPr sz="450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8A90D-676E-43EA-A31A-B38B946B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41910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57E2"/>
                </a:solidFill>
              </a:defRPr>
            </a:pPr>
            <a:r>
              <a:rPr sz="1650" b="1">
                <a:solidFill>
                  <a:srgbClr val="3157E2"/>
                </a:solidFill>
              </a:rPr>
              <a:t>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50993-D34A-43DB-83FA-F0ED4385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4610100"/>
            <a:ext cx="304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>
                <a:solidFill>
                  <a:srgbClr val="FFFFFF"/>
                </a:solidFill>
              </a:defRPr>
            </a:pPr>
            <a:r>
              <a:rPr sz="450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93087-51C5-48F5-9DEC-B69E5D2D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54673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6D2B0"/>
                </a:solidFill>
              </a:defRPr>
            </a:pPr>
            <a:r>
              <a:rPr sz="1650" b="1">
                <a:solidFill>
                  <a:srgbClr val="66D2B0"/>
                </a:solidFill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4B98D-495D-4520-98D1-2BD38FF7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5886450"/>
            <a:ext cx="304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>
                <a:solidFill>
                  <a:srgbClr val="FFFFFF"/>
                </a:solidFill>
              </a:defRPr>
            </a:pPr>
            <a:r>
              <a:rPr sz="450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51398-44BF-4763-9883-D467099A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67437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674A"/>
                </a:solidFill>
              </a:defRPr>
            </a:pPr>
            <a:r>
              <a:rPr sz="1650" b="1">
                <a:solidFill>
                  <a:srgbClr val="F2674A"/>
                </a:solidFill>
              </a:rPr>
              <a:t>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1166B-140D-437B-969B-07EAF9C0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82100"/>
            <a:ext cx="222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9A9AA"/>
                </a:solidFill>
              </a:defRPr>
            </a:pPr>
            <a:r>
              <a:rPr sz="1275" b="1">
                <a:solidFill>
                  <a:srgbClr val="A9A9AA"/>
                </a:solidFill>
              </a:rPr>
              <a:t>CLICK-A-THON 2026 · ATLYS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CE713-D939-42ED-9078-CAB37905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9182100"/>
            <a:ext cx="2419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A9AA"/>
                </a:solidFill>
              </a:defRPr>
            </a:pPr>
            <a:r>
              <a:rPr sz="1050">
                <a:solidFill>
                  <a:srgbClr val="A9A9AA"/>
                </a:solidFill>
              </a:rPr>
              <a:t>Agentic product analytics on ClickHouse</a:t>
            </a:r>
          </a:p>
        </p:txBody>
      </p:sp>
    </p:spTree>
    <p:extLst>
      <p:ext uri="{BB962C8B-B14F-4D97-AF65-F5344CB8AC3E}">
        <p14:creationId xmlns:p14="http://schemas.microsoft.com/office/powerpoint/2010/main" val="9734874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3CD28CBC-0712-45E2-9712-FCAF661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6EA7AB-FC60-40A2-BD22-72F2A016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3582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650" b="1">
                <a:solidFill>
                  <a:srgbClr val="101114"/>
                </a:solidFill>
              </a:defRPr>
            </a:pPr>
            <a:r>
              <a:rPr sz="4650" b="1">
                <a:solidFill>
                  <a:srgbClr val="101114"/>
                </a:solidFill>
              </a:rPr>
              <a:t>The insight arrives after the team has moved on.</a:t>
            </a:r>
          </a:p>
        </p:txBody>
      </p:sp>
      <p:sp>
        <p:nvSpPr>
          <p:cNvPr id="3" name="handoff-number">
            <a:extLst xmlns:a="http://schemas.openxmlformats.org/drawingml/2006/main">
              <a:ext uri="{FF2B5EF4-FFF2-40B4-BE49-F238E27FC236}">
                <a16:creationId xmlns:a16="http://schemas.microsoft.com/office/drawing/2014/main" id="{CBE7519A-235A-4EFB-AA42-DCEE6F03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6400800" cy="2343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82000"/>
              </a:lnSpc>
              <a:buNone/>
              <a:defRPr sz="18750" b="1">
                <a:solidFill>
                  <a:srgbClr val="F2674A"/>
                </a:solidFill>
              </a:defRPr>
            </a:pPr>
            <a:r>
              <a:rPr sz="18750" b="1">
                <a:solidFill>
                  <a:srgbClr val="F2674A"/>
                </a:solidFill>
              </a:rPr>
              <a:t>5</a:t>
            </a:r>
          </a:p>
        </p:txBody>
      </p:sp>
      <p:sp>
        <p:nvSpPr>
          <p:cNvPr id="4" name="handoff-label">
            <a:extLst xmlns:a="http://schemas.openxmlformats.org/drawingml/2006/main">
              <a:ext uri="{FF2B5EF4-FFF2-40B4-BE49-F238E27FC236}">
                <a16:creationId xmlns:a16="http://schemas.microsoft.com/office/drawing/2014/main" id="{2DDA3EDD-4FD1-44C1-8514-4F8EC7E1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43650"/>
            <a:ext cx="6400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114"/>
                </a:solidFill>
              </a:defRPr>
            </a:pPr>
            <a:r>
              <a:rPr sz="3150" b="1">
                <a:solidFill>
                  <a:srgbClr val="101114"/>
                </a:solidFill>
              </a:rPr>
              <a:t>manual hand-offs</a:t>
            </a:r>
          </a:p>
        </p:txBody>
      </p:sp>
      <p:sp>
        <p:nvSpPr>
          <p:cNvPr id="5" name="manual-loop">
            <a:extLst xmlns:a="http://schemas.openxmlformats.org/drawingml/2006/main">
              <a:ext uri="{FF2B5EF4-FFF2-40B4-BE49-F238E27FC236}">
                <a16:creationId xmlns:a16="http://schemas.microsoft.com/office/drawing/2014/main" id="{5B267942-F6C9-423C-B23E-60E07F4E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33850"/>
            <a:ext cx="95821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925" b="1">
                <a:solidFill>
                  <a:srgbClr val="101114"/>
                </a:solidFill>
              </a:defRPr>
            </a:pPr>
            <a:r>
              <a:rPr sz="2925" b="1">
                <a:solidFill>
                  <a:srgbClr val="101114"/>
                </a:solidFill>
              </a:rPr>
              <a:t>Feature brief → tracking plan → schema → analysis → explanation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5DDE1-F3E0-4613-B9FB-2854C80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1"/>
          </a:solidFill>
          <a:ln xmlns:a="http://schemas.openxmlformats.org/drawingml/2006/main" w="0">
            <a:solidFill>
              <a:srgbClr val="FFCC01"/>
            </a:solidFill>
            <a:prstDash val="solid"/>
          </a:ln>
        </p:spPr>
      </p:sp>
      <p:sp>
        <p:nvSpPr>
          <p:cNvPr id="7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00B4C821-960B-48CB-945F-B0918E1F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38800"/>
            <a:ext cx="8229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101114"/>
                </a:solidFill>
              </a:defRPr>
            </a:pPr>
            <a:r>
              <a:rPr sz="2025">
                <a:solidFill>
                  <a:srgbClr val="101114"/>
                </a:solidFill>
              </a:rPr>
              <a:t>Context degrades at every boundary. Schema decisions are delayed. Analysts re-learn product meaning. PMs receive charts without the why.</a:t>
            </a:r>
          </a:p>
        </p:txBody>
      </p:sp>
      <p:sp>
        <p:nvSpPr>
          <p:cNvPr id="8" name="source-rail">
            <a:extLst xmlns:a="http://schemas.openxmlformats.org/drawingml/2006/main">
              <a:ext uri="{FF2B5EF4-FFF2-40B4-BE49-F238E27FC236}">
                <a16:creationId xmlns:a16="http://schemas.microsoft.com/office/drawing/2014/main" id="{19DC2A88-556F-4552-B35C-66C18730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D6E73"/>
                </a:solidFill>
              </a:defRPr>
            </a:pPr>
            <a:r>
              <a:rPr sz="900">
                <a:solidFill>
                  <a:srgbClr val="6D6E73"/>
                </a:solidFill>
              </a:rPr>
              <a:t>Source: official Atlys track problem statement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0B79A7-ABB3-4675-A6EB-2DBC7CDE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9467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6E73"/>
                </a:solidFill>
              </a:defRPr>
            </a:pPr>
            <a:r>
              <a:rPr sz="1125" b="1">
                <a:solidFill>
                  <a:srgbClr val="6D6E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784338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08F2E202-0279-41E3-A6CA-67D25AA0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E29018-B2D9-4FBD-9B96-B4F944D9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32588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650" b="1">
                <a:solidFill>
                  <a:srgbClr val="101114"/>
                </a:solidFill>
              </a:defRPr>
            </a:pPr>
            <a:r>
              <a:rPr sz="4650" b="1">
                <a:solidFill>
                  <a:srgbClr val="101114"/>
                </a:solidFill>
              </a:rPr>
              <a:t>One specification enters. Three agents move in sequence.</a:t>
            </a:r>
          </a:p>
        </p:txBody>
      </p:sp>
      <p:sp>
        <p:nvSpPr>
          <p:cNvPr id="3" name="instrumentation-node">
            <a:extLst xmlns:a="http://schemas.openxmlformats.org/drawingml/2006/main">
              <a:ext uri="{FF2B5EF4-FFF2-40B4-BE49-F238E27FC236}">
                <a16:creationId xmlns:a16="http://schemas.microsoft.com/office/drawing/2014/main" id="{5336DC15-356A-4900-A08E-32B6CC9C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8006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1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39098-FC8A-4064-A255-FD490EDD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114"/>
                </a:solidFill>
              </a:defRPr>
            </a:pPr>
            <a:r>
              <a:rPr sz="1275" b="1">
                <a:solidFill>
                  <a:srgbClr val="10111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6CBEE-2A61-42C1-8872-33DD6FC6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4191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1114"/>
                </a:solidFill>
              </a:defRPr>
            </a:pPr>
            <a:r>
              <a:rPr sz="3675" b="1">
                <a:solidFill>
                  <a:srgbClr val="101114"/>
                </a:solidFill>
              </a:rPr>
              <a:t>Instrument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B971B-2BBE-4471-B467-FA86732F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953250"/>
            <a:ext cx="41910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101114"/>
                </a:solidFill>
              </a:defRPr>
            </a:pPr>
            <a:r>
              <a:rPr sz="1800">
                <a:solidFill>
                  <a:srgbClr val="101114"/>
                </a:solidFill>
              </a:rPr>
              <a:t>Profile arbitrary events. Design ClickHouse types, partitioning, order keys and materialized views.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B00CD-7865-43BB-9712-B0D625E5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410200"/>
            <a:ext cx="666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114"/>
                </a:solidFill>
              </a:defRPr>
            </a:pPr>
            <a:r>
              <a:rPr sz="4350" b="1">
                <a:solidFill>
                  <a:srgbClr val="101114"/>
                </a:solidFill>
              </a:rPr>
              <a:t>→</a:t>
            </a:r>
          </a:p>
        </p:txBody>
      </p:sp>
      <p:sp>
        <p:nvSpPr>
          <p:cNvPr id="8" name="context-node">
            <a:extLst xmlns:a="http://schemas.openxmlformats.org/drawingml/2006/main">
              <a:ext uri="{FF2B5EF4-FFF2-40B4-BE49-F238E27FC236}">
                <a16:creationId xmlns:a16="http://schemas.microsoft.com/office/drawing/2014/main" id="{253FEFF5-F2C7-43C2-A35D-AEDCC01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48006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2B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44CDE-845F-40E5-8091-0680ED2A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195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114"/>
                </a:solidFill>
              </a:defRPr>
            </a:pPr>
            <a:r>
              <a:rPr sz="1275" b="1">
                <a:solidFill>
                  <a:srgbClr val="10111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90B0B-E589-4B81-9DC7-73E48CA8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05400"/>
            <a:ext cx="4191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1114"/>
                </a:solidFill>
              </a:defRPr>
            </a:pPr>
            <a:r>
              <a:rPr sz="3675" b="1">
                <a:solidFill>
                  <a:srgbClr val="101114"/>
                </a:solidFill>
              </a:rPr>
              <a:t>Contextualize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DA9A0-F5AE-438D-AC78-7AB3E694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953250"/>
            <a:ext cx="41910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101114"/>
                </a:solidFill>
              </a:defRPr>
            </a:pPr>
            <a:r>
              <a:rPr sz="1800">
                <a:solidFill>
                  <a:srgbClr val="101114"/>
                </a:solidFill>
              </a:rPr>
              <a:t>Add entities, joins and metric definitions. Surface conflicts. Persist a versioned diff.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92B62-70FC-4C26-AB8E-6AD88A0A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410200"/>
            <a:ext cx="666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114"/>
                </a:solidFill>
              </a:defRPr>
            </a:pPr>
            <a:r>
              <a:rPr sz="4350" b="1">
                <a:solidFill>
                  <a:srgbClr val="101114"/>
                </a:solidFill>
              </a:rPr>
              <a:t>→</a:t>
            </a:r>
          </a:p>
        </p:txBody>
      </p:sp>
      <p:sp>
        <p:nvSpPr>
          <p:cNvPr id="13" name="analytics-node">
            <a:extLst xmlns:a="http://schemas.openxmlformats.org/drawingml/2006/main">
              <a:ext uri="{FF2B5EF4-FFF2-40B4-BE49-F238E27FC236}">
                <a16:creationId xmlns:a16="http://schemas.microsoft.com/office/drawing/2014/main" id="{2A407DDD-614A-43AA-86F6-31BC70F3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314700"/>
            <a:ext cx="48006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51472-6585-4484-BD91-346B883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6195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521A2-9CBD-413C-8104-F4EBCC19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953000"/>
            <a:ext cx="4191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29C7A-BC1C-4971-AE8E-0CF0A079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6629400"/>
            <a:ext cx="419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Run validated aggregate SQL. Deliver evidence, interpretation, recommendation, confidence and caveats.</a:t>
            </a:r>
          </a:p>
        </p:txBody>
      </p:sp>
      <p:sp>
        <p:nvSpPr>
          <p:cNvPr id="1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98322F52-4117-4DC4-9B65-EBE942A4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D6E73"/>
                </a:solidFill>
              </a:defRPr>
            </a:pPr>
            <a:r>
              <a:rPr sz="900">
                <a:solidFill>
                  <a:srgbClr val="6D6E73"/>
                </a:solidFill>
              </a:rPr>
              <a:t>Click-a-thon 2026 · Atlys track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1F447A4-2DF1-4368-97A5-0A3C0D6E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9467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6E73"/>
                </a:solidFill>
              </a:defRPr>
            </a:pPr>
            <a:r>
              <a:rPr sz="1125" b="1">
                <a:solidFill>
                  <a:srgbClr val="6D6E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31734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A3C4D57D-F256-412A-B676-5FFAFC4D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60A656-6775-4552-9DB9-5CFFD631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45923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650" b="1">
                <a:solidFill>
                  <a:srgbClr val="101114"/>
                </a:solidFill>
              </a:defRPr>
            </a:pPr>
            <a:r>
              <a:rPr sz="4650" b="1">
                <a:solidFill>
                  <a:srgbClr val="101114"/>
                </a:solidFill>
              </a:rPr>
              <a:t>The LLM reasons. Deterministic code holds the 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551A6-318B-4C57-B428-5B8AC07D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353791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F13B4-3C87-4D70-B9E7-B323C28F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D6E73"/>
                </a:solidFill>
              </a:defRPr>
            </a:pPr>
            <a:r>
              <a:rPr sz="1275" b="1">
                <a:solidFill>
                  <a:srgbClr val="6D6E73"/>
                </a:solidFill>
              </a:rPr>
              <a:t>Feature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10C92-7F7E-4719-B098-9603C055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71900"/>
            <a:ext cx="3829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114"/>
                </a:solidFill>
              </a:defRPr>
            </a:pPr>
            <a:r>
              <a:rPr sz="2100" b="1">
                <a:solidFill>
                  <a:srgbClr val="101114"/>
                </a:solidFill>
              </a:rPr>
              <a:t>spec.md</a:t>
            </a:r>
          </a:p>
          <a:p xmlns:a="http://schemas.openxmlformats.org/drawingml/2006/main">
            <a:pPr>
              <a:defRPr sz="2100" b="1">
                <a:solidFill>
                  <a:srgbClr val="101114"/>
                </a:solidFill>
              </a:defRPr>
            </a:pPr>
            <a:r>
              <a:rPr sz="2100" b="1">
                <a:solidFill>
                  <a:srgbClr val="101114"/>
                </a:solidFill>
              </a:rPr>
              <a:t>events.ndjson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7DF88-0030-46B6-81C9-AE970764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76650"/>
            <a:ext cx="144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>
                <a:solidFill>
                  <a:srgbClr val="101114"/>
                </a:solidFill>
              </a:defRPr>
            </a:pPr>
            <a:r>
              <a:rPr sz="3375">
                <a:solidFill>
                  <a:srgbClr val="101114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B01D4-39B3-4363-B25C-C7D7CF7D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105" y="2266950"/>
            <a:ext cx="4353791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344C3-975B-4AD5-BD11-5EC56EC2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114"/>
                </a:solidFill>
              </a:defRPr>
            </a:pPr>
            <a:r>
              <a:rPr sz="1275" b="1">
                <a:solidFill>
                  <a:srgbClr val="101114"/>
                </a:solidFill>
              </a:rPr>
              <a:t>Bounded profiler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68CA5-E945-407F-B76F-841172E3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3829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114"/>
                </a:solidFill>
              </a:defRPr>
            </a:pPr>
            <a:r>
              <a:rPr sz="2325" b="1">
                <a:solidFill>
                  <a:srgbClr val="101114"/>
                </a:solidFill>
              </a:rPr>
              <a:t>types · presence</a:t>
            </a:r>
          </a:p>
          <a:p xmlns:a="http://schemas.openxmlformats.org/drawingml/2006/main">
            <a:pPr>
              <a:defRPr sz="2325" b="1">
                <a:solidFill>
                  <a:srgbClr val="101114"/>
                </a:solidFill>
              </a:defRPr>
            </a:pPr>
            <a:r>
              <a:rPr sz="2325" b="1">
                <a:solidFill>
                  <a:srgbClr val="101114"/>
                </a:solidFill>
              </a:rPr>
              <a:t>cardinality ·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E4FAC-6553-4F94-872C-73874AC6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676650"/>
            <a:ext cx="144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>
                <a:solidFill>
                  <a:srgbClr val="101114"/>
                </a:solidFill>
              </a:defRPr>
            </a:pPr>
            <a:r>
              <a:rPr sz="3375">
                <a:solidFill>
                  <a:srgbClr val="10111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39BFB-2BB5-4999-B21F-26440FE2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059" y="2266950"/>
            <a:ext cx="4353791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1C095-2149-445C-BA84-FA531696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42900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Typed agent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A707C-1858-43D5-A0C3-B4A8F9CE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752850"/>
            <a:ext cx="3829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Pydantic JSON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validated identifiers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10A32-5046-45D3-9D5D-32291261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4353791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8D00C-2644-488E-B643-C3539C79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2945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C01"/>
                </a:solidFill>
              </a:defRPr>
            </a:pPr>
            <a:r>
              <a:rPr sz="1275" b="1">
                <a:solidFill>
                  <a:srgbClr val="FFCC01"/>
                </a:solidFill>
              </a:rPr>
              <a:t>ClickHouse Cloud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D787A-420C-4FF6-B1BD-E6B00D6E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353300"/>
            <a:ext cx="3829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DDL · ingestion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aggregates · 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EC5C9-B328-4190-A962-3FF3384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277100"/>
            <a:ext cx="144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>
                <a:solidFill>
                  <a:srgbClr val="101114"/>
                </a:solidFill>
              </a:defRPr>
            </a:pPr>
            <a:r>
              <a:rPr sz="3375">
                <a:solidFill>
                  <a:srgbClr val="101114"/>
                </a:solidFill>
              </a:rPr>
              <a:t>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BE313-F5C8-46D0-A83C-FEC93288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105" y="5867400"/>
            <a:ext cx="4353791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2B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5718D-4C38-4380-98B0-FD2CB34E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02945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114"/>
                </a:solidFill>
              </a:defRPr>
            </a:pPr>
            <a:r>
              <a:rPr sz="1275" b="1">
                <a:solidFill>
                  <a:srgbClr val="101114"/>
                </a:solidFill>
              </a:rPr>
              <a:t>Living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A9CBA-E7DE-4304-8036-924CE6EB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353300"/>
            <a:ext cx="3829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114"/>
                </a:solidFill>
              </a:defRPr>
            </a:pPr>
            <a:r>
              <a:rPr sz="2325" b="1">
                <a:solidFill>
                  <a:srgbClr val="101114"/>
                </a:solidFill>
              </a:rPr>
              <a:t>versioned definitions</a:t>
            </a:r>
          </a:p>
          <a:p xmlns:a="http://schemas.openxmlformats.org/drawingml/2006/main">
            <a:pPr>
              <a:defRPr sz="2325" b="1">
                <a:solidFill>
                  <a:srgbClr val="101114"/>
                </a:solidFill>
              </a:defRPr>
            </a:pPr>
            <a:r>
              <a:rPr sz="2325" b="1">
                <a:solidFill>
                  <a:srgbClr val="101114"/>
                </a:solidFill>
              </a:rPr>
              <a:t>relationships · conflicts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BBC3A4-D59A-4A87-AB42-976B6F34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7277100"/>
            <a:ext cx="144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>
                <a:solidFill>
                  <a:srgbClr val="101114"/>
                </a:solidFill>
              </a:defRPr>
            </a:pPr>
            <a:r>
              <a:rPr sz="3375">
                <a:solidFill>
                  <a:srgbClr val="101114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BF7D88-9D5F-4AD1-AFF7-439F785D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059" y="5867400"/>
            <a:ext cx="4353791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F45EA-B513-4FB6-AC56-E3E6DF21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7029450"/>
            <a:ext cx="382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114"/>
                </a:solidFill>
              </a:defRPr>
            </a:pPr>
            <a:r>
              <a:rPr sz="1275" b="1">
                <a:solidFill>
                  <a:srgbClr val="101114"/>
                </a:solidFill>
              </a:rPr>
              <a:t>Product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37E787-D99A-4136-93C4-B4FA3F3B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7353300"/>
            <a:ext cx="3829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114"/>
                </a:solidFill>
              </a:defRPr>
            </a:pPr>
            <a:r>
              <a:rPr sz="2325" b="1">
                <a:solidFill>
                  <a:srgbClr val="101114"/>
                </a:solidFill>
              </a:rPr>
              <a:t>evidence → why</a:t>
            </a:r>
          </a:p>
          <a:p xmlns:a="http://schemas.openxmlformats.org/drawingml/2006/main">
            <a:pPr>
              <a:defRPr sz="2325" b="1">
                <a:solidFill>
                  <a:srgbClr val="101114"/>
                </a:solidFill>
              </a:defRPr>
            </a:pPr>
            <a:r>
              <a:rPr sz="2325" b="1">
                <a:solidFill>
                  <a:srgbClr val="101114"/>
                </a:solidFill>
              </a:rPr>
              <a:t>→ action</a:t>
            </a:r>
          </a:p>
        </p:txBody>
      </p:sp>
      <p:sp>
        <p:nvSpPr>
          <p:cNvPr id="25" name="source-rail">
            <a:extLst xmlns:a="http://schemas.openxmlformats.org/drawingml/2006/main">
              <a:ext uri="{FF2B5EF4-FFF2-40B4-BE49-F238E27FC236}">
                <a16:creationId xmlns:a16="http://schemas.microsoft.com/office/drawing/2014/main" id="{21C2E547-4606-4EBC-AFE9-D6A640CA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D6E73"/>
                </a:solidFill>
              </a:defRPr>
            </a:pPr>
            <a:r>
              <a:rPr sz="900">
                <a:solidFill>
                  <a:srgbClr val="6D6E73"/>
                </a:solidFill>
              </a:rPr>
              <a:t>Architecture: repository implementation and ARCHITECTURE.md</a:t>
            </a:r>
          </a:p>
        </p:txBody>
      </p:sp>
      <p:sp>
        <p:nvSpPr>
          <p:cNvPr id="2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4CDB7A-BA16-4988-86E0-C8875036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9467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6E73"/>
                </a:solidFill>
              </a:defRPr>
            </a:pPr>
            <a:r>
              <a:rPr sz="1125" b="1">
                <a:solidFill>
                  <a:srgbClr val="6D6E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31247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B2EB993E-F411-4832-B82C-BD51D1CB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1068E2-99FC-4BB0-A0FC-F3760F33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26301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650" b="1">
                <a:solidFill>
                  <a:srgbClr val="101114"/>
                </a:solidFill>
              </a:defRPr>
            </a:pPr>
            <a:r>
              <a:rPr sz="4650" b="1">
                <a:solidFill>
                  <a:srgbClr val="101114"/>
                </a:solidFill>
              </a:rPr>
              <a:t>Context is a versioned input—not a forgotten document.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0AFA7-7909-4A6C-9F3F-98A8C111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09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3157E2"/>
                </a:solidFill>
              </a:defRPr>
            </a:pPr>
            <a:r>
              <a:rPr sz="6150" b="1">
                <a:solidFill>
                  <a:srgbClr val="3157E2"/>
                </a:solidFill>
              </a:rPr>
              <a:t>vN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2DAC9-9B2C-439B-AFB6-8D3829A0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386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2A8"/>
          </a:solidFill>
          <a:ln xmlns:a="http://schemas.openxmlformats.org/drawingml/2006/main" w="0">
            <a:solidFill>
              <a:srgbClr val="B7B2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33CB1-011C-4B68-8D13-890B5B37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76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new table lands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197E1-3F5D-430F-8FD3-EEB6C780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067300"/>
            <a:ext cx="386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2A8"/>
          </a:solidFill>
          <a:ln xmlns:a="http://schemas.openxmlformats.org/drawingml/2006/main" w="0">
            <a:solidFill>
              <a:srgbClr val="B7B2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AF750-3C5B-441B-BDBF-E867CE5A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4610100"/>
            <a:ext cx="285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66D2B0"/>
                </a:solidFill>
              </a:defRPr>
            </a:pPr>
            <a:r>
              <a:rPr sz="6150" b="1">
                <a:solidFill>
                  <a:srgbClr val="66D2B0"/>
                </a:solidFill>
              </a:rPr>
              <a:t>vN+1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98B37-9F9A-4F18-A61D-2478D874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520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D6E73"/>
                </a:solidFill>
              </a:defRPr>
            </a:pPr>
            <a:r>
              <a:rPr sz="1275" b="1">
                <a:solidFill>
                  <a:srgbClr val="6D6E73"/>
                </a:solidFill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7CA72-DF5D-417F-947A-145A69FA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72200"/>
            <a:ext cx="5200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101114"/>
                </a:solidFill>
              </a:defRPr>
            </a:pPr>
            <a:r>
              <a:rPr sz="2025">
                <a:solidFill>
                  <a:srgbClr val="101114"/>
                </a:solidFill>
              </a:rPr>
              <a:t>Latest entities, joins, metrics and known issues.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AA1BD-4D1A-4217-8808-3A3D212E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67400"/>
            <a:ext cx="520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D6E73"/>
                </a:solidFill>
              </a:defRPr>
            </a:pPr>
            <a:r>
              <a:rPr sz="1275" b="1">
                <a:solidFill>
                  <a:srgbClr val="6D6E73"/>
                </a:solidFill>
              </a:rPr>
              <a:t>DIFF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FC097-DE8B-42D0-8DA7-5E87CC3C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172200"/>
            <a:ext cx="5200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101114"/>
                </a:solidFill>
              </a:defRPr>
            </a:pPr>
            <a:r>
              <a:rPr sz="2025">
                <a:solidFill>
                  <a:srgbClr val="101114"/>
                </a:solidFill>
              </a:rPr>
              <a:t>What changed, why it changed, and any contradiction found.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9FDE7-85FD-4051-BBEA-4AA718C4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867400"/>
            <a:ext cx="520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D6E73"/>
                </a:solidFill>
              </a:defRPr>
            </a:pPr>
            <a:r>
              <a:rPr sz="1275" b="1">
                <a:solidFill>
                  <a:srgbClr val="6D6E73"/>
                </a:solidFill>
              </a:rPr>
              <a:t>REASON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B1257-55D5-4F86-BF19-7A6944D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172200"/>
            <a:ext cx="5200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101114"/>
                </a:solidFill>
              </a:defRPr>
            </a:pPr>
            <a:r>
              <a:rPr sz="2025">
                <a:solidFill>
                  <a:srgbClr val="101114"/>
                </a:solidFill>
              </a:rPr>
              <a:t>Analytics begins only after the refreshed version is persisted.</a:t>
            </a:r>
          </a:p>
        </p:txBody>
      </p:sp>
      <p:sp>
        <p:nvSpPr>
          <p:cNvPr id="14" name="source-rail">
            <a:extLst xmlns:a="http://schemas.openxmlformats.org/drawingml/2006/main">
              <a:ext uri="{FF2B5EF4-FFF2-40B4-BE49-F238E27FC236}">
                <a16:creationId xmlns:a16="http://schemas.microsoft.com/office/drawing/2014/main" id="{DEF78EF1-4F77-4A58-900E-73BAD59C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D6E73"/>
                </a:solidFill>
              </a:defRPr>
            </a:pPr>
            <a:r>
              <a:rPr sz="900">
                <a:solidFill>
                  <a:srgbClr val="6D6E73"/>
                </a:solidFill>
              </a:rPr>
              <a:t>Click-a-thon 2026 · Atlys track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948503-0317-4F90-8EE3-4439A732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9467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6E73"/>
                </a:solidFill>
              </a:defRPr>
            </a:pPr>
            <a:r>
              <a:rPr sz="1125" b="1">
                <a:solidFill>
                  <a:srgbClr val="6D6E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10977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EA221540-F5F5-40BB-8B87-EFA0E2EF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FCA525-F9F9-4E45-A8DF-D86BD544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4554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650" b="1">
                <a:solidFill>
                  <a:srgbClr val="101114"/>
                </a:solidFill>
              </a:defRPr>
            </a:pPr>
            <a:r>
              <a:rPr sz="4650" b="1">
                <a:solidFill>
                  <a:srgbClr val="101114"/>
                </a:solidFill>
              </a:rPr>
              <a:t>A judge can follow every decision back to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87204-AB83-4895-9385-65E5414D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790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57E2"/>
                </a:solidFill>
              </a:defRPr>
            </a:pPr>
            <a:r>
              <a:rPr sz="1275" b="1">
                <a:solidFill>
                  <a:srgbClr val="3157E2"/>
                </a:solidFill>
              </a:rPr>
              <a:t>LANGFUSE 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FEC54-9E79-4235-8B2C-34245399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E73"/>
                </a:solidFill>
              </a:defRPr>
            </a:pPr>
            <a:r>
              <a:rPr sz="1200">
                <a:solidFill>
                  <a:srgbClr val="6D6E7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6D438-8CE1-4C9E-8B17-66CE5665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19600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1"/>
          </a:solidFill>
          <a:ln xmlns:a="http://schemas.openxmlformats.org/drawingml/2006/main" w="0">
            <a:solidFill>
              <a:srgbClr val="FFCC0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A03E4-5CF6-4526-8D5D-6D30042E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05300"/>
            <a:ext cx="666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profile_events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B4AC4-FA4A-4005-940A-5A285CCC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E73"/>
                </a:solidFill>
              </a:defRPr>
            </a:pPr>
            <a:r>
              <a:rPr sz="1200">
                <a:solidFill>
                  <a:srgbClr val="6D6E73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CC38F-C585-4C74-8DEC-83DA2AA2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1"/>
          </a:solidFill>
          <a:ln xmlns:a="http://schemas.openxmlformats.org/drawingml/2006/main" w="0">
            <a:solidFill>
              <a:srgbClr val="FFCC0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78459-46CF-4472-9BD4-09E76C10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62500"/>
            <a:ext cx="666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instrumentation_agent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1528F-C7D0-420D-BB62-6DB8032A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E73"/>
                </a:solidFill>
              </a:defRPr>
            </a:pPr>
            <a:r>
              <a:rPr sz="1200">
                <a:solidFill>
                  <a:srgbClr val="6D6E73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9B39E-6E9B-4C13-98C4-79B5FA6D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34000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1"/>
          </a:solidFill>
          <a:ln xmlns:a="http://schemas.openxmlformats.org/drawingml/2006/main" w="0">
            <a:solidFill>
              <a:srgbClr val="FFCC0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1AB93-CF0E-4ABE-A125-C69D9BA2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19700"/>
            <a:ext cx="666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validate + execute DDL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45FB3-2CA0-4B52-9084-5D055D28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E73"/>
                </a:solidFill>
              </a:defRPr>
            </a:pPr>
            <a:r>
              <a:rPr sz="1200">
                <a:solidFill>
                  <a:srgbClr val="6D6E73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DCF01-F5B3-46BF-9B44-9D491C85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91200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2B0"/>
          </a:solidFill>
          <a:ln xmlns:a="http://schemas.openxmlformats.org/drawingml/2006/main" w="0">
            <a:solidFill>
              <a:srgbClr val="66D2B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2D8E2-6397-46CC-9880-79EF239E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76900"/>
            <a:ext cx="666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context_agent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BC997-8589-4F3E-AFFD-0A93F8E0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E73"/>
                </a:solidFill>
              </a:defRPr>
            </a:pPr>
            <a:r>
              <a:rPr sz="1200">
                <a:solidFill>
                  <a:srgbClr val="6D6E73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9DF95-5702-4EF2-8235-031A7F0E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48400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2B0"/>
          </a:solidFill>
          <a:ln xmlns:a="http://schemas.openxmlformats.org/drawingml/2006/main" w="0">
            <a:solidFill>
              <a:srgbClr val="66D2B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34067-EBC1-4992-92A4-4C0CE85F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34100"/>
            <a:ext cx="666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execute analytics 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CCB87-CE1D-40E9-B185-3B66413B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484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E73"/>
                </a:solidFill>
              </a:defRPr>
            </a:pPr>
            <a:r>
              <a:rPr sz="1200">
                <a:solidFill>
                  <a:srgbClr val="6D6E73"/>
                </a:solidFill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17B4A-B3E9-4176-B591-DDBFAD66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705600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D2B0"/>
          </a:solidFill>
          <a:ln xmlns:a="http://schemas.openxmlformats.org/drawingml/2006/main" w="0">
            <a:solidFill>
              <a:srgbClr val="66D2B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3AE1B7-80BE-418F-BB20-EB4AB7A9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91300"/>
            <a:ext cx="666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analytics_agent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31F01-E758-4075-8F37-D29B9284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00450"/>
            <a:ext cx="7905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1114"/>
                </a:solidFill>
              </a:defRPr>
            </a:pPr>
            <a:r>
              <a:rPr sz="3375" b="1">
                <a:solidFill>
                  <a:srgbClr val="101114"/>
                </a:solidFill>
              </a:rPr>
              <a:t>What is captured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BBCE8-EB65-4757-935D-F3BF7808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00550"/>
            <a:ext cx="790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101114"/>
                </a:solidFill>
              </a:defRPr>
            </a:pPr>
            <a:r>
              <a:rPr sz="2025">
                <a:solidFill>
                  <a:srgbClr val="101114"/>
                </a:solidFill>
              </a:rPr>
              <a:t>Agent inputs and outputs · validated contracts · aggregate evidence · errors · latency · model usage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BE0AC8-7CBB-46AC-9842-1285EB52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372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F267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AF1E6-B7E7-41C6-85A0-5E59D321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734050"/>
            <a:ext cx="7905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1114"/>
                </a:solidFill>
              </a:defRPr>
            </a:pPr>
            <a:r>
              <a:rPr sz="3375" b="1">
                <a:solidFill>
                  <a:srgbClr val="101114"/>
                </a:solidFill>
              </a:rPr>
              <a:t>What is not captured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2B23D-E6CD-4E38-B934-C392822C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534150"/>
            <a:ext cx="790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101114"/>
                </a:solidFill>
              </a:defRPr>
            </a:pPr>
            <a:r>
              <a:rPr sz="2025">
                <a:solidFill>
                  <a:srgbClr val="101114"/>
                </a:solidFill>
              </a:rPr>
              <a:t>API secrets · raw event rows · unbounded payloads · private credentials in the browser</a:t>
            </a:r>
          </a:p>
        </p:txBody>
      </p:sp>
      <p:sp>
        <p:nvSpPr>
          <p:cNvPr id="2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980932CD-B409-4B20-A6D2-4841AF18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D6E73"/>
                </a:solidFill>
              </a:defRPr>
            </a:pPr>
            <a:r>
              <a:rPr sz="900">
                <a:solidFill>
                  <a:srgbClr val="6D6E73"/>
                </a:solidFill>
              </a:rPr>
              <a:t>Click-a-thon 2026 · Atlys track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157A7C-2CD7-4545-BA20-D9BF4214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9467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6E73"/>
                </a:solidFill>
              </a:defRPr>
            </a:pPr>
            <a:r>
              <a:rPr sz="1125" b="1">
                <a:solidFill>
                  <a:srgbClr val="6D6E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76735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37F6AA81-1D47-4353-8739-AB7DBAC1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4D359A-4D97-4E14-8B89-413222EA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25730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650" b="1">
                <a:solidFill>
                  <a:srgbClr val="101114"/>
                </a:solidFill>
              </a:defRPr>
            </a:pPr>
            <a:r>
              <a:rPr sz="4650" b="1">
                <a:solidFill>
                  <a:srgbClr val="101114"/>
                </a:solidFill>
              </a:rPr>
              <a:t>The demo is one uninterrupted product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A38CB-16E4-40F0-B071-3EC41485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36004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157E2"/>
                </a:solidFill>
              </a:defRPr>
            </a:pPr>
            <a:r>
              <a:rPr sz="5250" b="1">
                <a:solidFill>
                  <a:srgbClr val="3157E2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BFB39-6C96-4463-B880-C06D7E0D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3600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1114"/>
                </a:solidFill>
              </a:defRPr>
            </a:pPr>
            <a:r>
              <a:rPr sz="3375" b="1">
                <a:solidFill>
                  <a:srgbClr val="101114"/>
                </a:solidFill>
              </a:rPr>
              <a:t>Upload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31844-2D31-4F0D-B4C5-A4C73BC6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3600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D6E73"/>
                </a:solidFill>
              </a:defRPr>
            </a:pPr>
            <a:r>
              <a:rPr sz="1650">
                <a:solidFill>
                  <a:srgbClr val="6D6E73"/>
                </a:solidFill>
              </a:rPr>
              <a:t>spec +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31126-5849-406C-8099-81BCE18E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86350"/>
            <a:ext cx="514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101114"/>
                </a:solidFill>
              </a:defRPr>
            </a:pPr>
            <a:r>
              <a:rPr sz="3150">
                <a:solidFill>
                  <a:srgbClr val="101114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F0A64-36A7-44A6-823B-4E3E7D73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57700"/>
            <a:ext cx="36004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157E2"/>
                </a:solidFill>
              </a:defRPr>
            </a:pPr>
            <a:r>
              <a:rPr sz="5250" b="1">
                <a:solidFill>
                  <a:srgbClr val="3157E2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F3DC4-B838-4CC5-9E01-1DBBEA6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353050"/>
            <a:ext cx="3600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1114"/>
                </a:solidFill>
              </a:defRPr>
            </a:pPr>
            <a:r>
              <a:rPr sz="3375" b="1">
                <a:solidFill>
                  <a:srgbClr val="101114"/>
                </a:solidFill>
              </a:rPr>
              <a:t>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2FFF5-C1C4-4FC1-A011-0C43C635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62650"/>
            <a:ext cx="3600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D6E73"/>
                </a:solidFill>
              </a:defRPr>
            </a:pPr>
            <a:r>
              <a:rPr sz="1650">
                <a:solidFill>
                  <a:srgbClr val="6D6E73"/>
                </a:solidFill>
              </a:rPr>
              <a:t>three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F6C94-74C7-4744-B2C8-9A6325DE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86350"/>
            <a:ext cx="514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101114"/>
                </a:solidFill>
              </a:defRPr>
            </a:pPr>
            <a:r>
              <a:rPr sz="3150">
                <a:solidFill>
                  <a:srgbClr val="10111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8E5DC-33D4-4340-9E48-D7336D2A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36004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157E2"/>
                </a:solidFill>
              </a:defRPr>
            </a:pPr>
            <a:r>
              <a:rPr sz="5250" b="1">
                <a:solidFill>
                  <a:srgbClr val="3157E2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7A81A-5E35-4C6C-AF27-3B28074B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53050"/>
            <a:ext cx="3600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1114"/>
                </a:solidFill>
              </a:defRPr>
            </a:pPr>
            <a:r>
              <a:rPr sz="3375" b="1">
                <a:solidFill>
                  <a:srgbClr val="101114"/>
                </a:solidFill>
              </a:rPr>
              <a:t>Inspect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849F3-6D52-4132-A776-BC5EFCB7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62650"/>
            <a:ext cx="3600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D6E73"/>
                </a:solidFill>
              </a:defRPr>
            </a:pPr>
            <a:r>
              <a:rPr sz="1650">
                <a:solidFill>
                  <a:srgbClr val="6D6E73"/>
                </a:solidFill>
              </a:rPr>
              <a:t>schema +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084A6-AFA5-4EB5-8DCF-98455A9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086350"/>
            <a:ext cx="514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101114"/>
                </a:solidFill>
              </a:defRPr>
            </a:pPr>
            <a:r>
              <a:rPr sz="3150">
                <a:solidFill>
                  <a:srgbClr val="10111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7CB4F-D3F7-4EE8-826C-FD980DE8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457700"/>
            <a:ext cx="36004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2674A"/>
                </a:solidFill>
              </a:defRPr>
            </a:pPr>
            <a:r>
              <a:rPr sz="5250" b="1">
                <a:solidFill>
                  <a:srgbClr val="F2674A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2148F-51E1-41B3-89CC-7595FFF3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353050"/>
            <a:ext cx="3600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1114"/>
                </a:solidFill>
              </a:defRPr>
            </a:pPr>
            <a:r>
              <a:rPr sz="3375" b="1">
                <a:solidFill>
                  <a:srgbClr val="101114"/>
                </a:solidFill>
              </a:rPr>
              <a:t>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616AA-8318-425D-8EB3-EB14B4B2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962650"/>
            <a:ext cx="3600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D6E73"/>
                </a:solidFill>
              </a:defRPr>
            </a:pPr>
            <a:r>
              <a:rPr sz="1650">
                <a:solidFill>
                  <a:srgbClr val="6D6E73"/>
                </a:solidFill>
              </a:rPr>
              <a:t>insight + trace</a:t>
            </a:r>
          </a:p>
        </p:txBody>
      </p:sp>
      <p:sp>
        <p:nvSpPr>
          <p:cNvPr id="18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F6A1C789-EEB0-4B75-A125-6D18A050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686800"/>
            <a:ext cx="11620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01114"/>
                </a:solidFill>
              </a:defRPr>
            </a:pPr>
            <a:r>
              <a:rPr sz="3525" b="1">
                <a:solidFill>
                  <a:srgbClr val="101114"/>
                </a:solidFill>
              </a:rPr>
              <a:t>From tracking debt to a repeatable learning system.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A1A36-28CF-43C3-AF8F-9C2A11A1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868680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674A"/>
                </a:solidFill>
              </a:defRPr>
            </a:pPr>
            <a:r>
              <a:rPr sz="3450" b="1">
                <a:solidFill>
                  <a:srgbClr val="F2674A"/>
                </a:solidFill>
              </a:rPr>
              <a:t>ASKLYS</a:t>
            </a:r>
          </a:p>
        </p:txBody>
      </p:sp>
      <p:sp>
        <p:nvSpPr>
          <p:cNvPr id="2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84D9630E-569F-4E3F-8EB8-CEE11D1B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D6E73"/>
                </a:solidFill>
              </a:defRPr>
            </a:pPr>
            <a:r>
              <a:rPr sz="900">
                <a:solidFill>
                  <a:srgbClr val="6D6E73"/>
                </a:solidFill>
              </a:rPr>
              <a:t>Click-a-thon 2026 · Atlys track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4B7A1A-F2EF-4A36-B5BC-28B14C1E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9467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6E73"/>
                </a:solidFill>
              </a:defRPr>
            </a:pPr>
            <a:r>
              <a:rPr sz="1125" b="1">
                <a:solidFill>
                  <a:srgbClr val="6D6E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1263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2026-08-02T02:46:06.8870000Z</dcterms:created>
  <dcterms:modified xsi:type="dcterms:W3CDTF">2026-08-02T02:46:06.8870000Z</dcterms:modified>
</coreProperties>
</file>