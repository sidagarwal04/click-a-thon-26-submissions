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built RevenueWatch for the InMobi root-cause analyst problem. The one-line pitch: when a revenue metric moves, our system detects it, drills down inside ClickHouse to isolate exactly which segment moved it, and hands a judge a plain-language diagnosis in about two and a half seconds — with every number traceable to a real query. Four numbers to keep in mind: nine million events, 2,240 monitored cells per sweep, 7.6 seconds for a full sweep, 2.5 seconds from alert to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is explicit that the hard part isn't storing events — it's the manual investigation loop. Their own definition of 'great' is four words: fast, trustworthy, localized, honest. And one line in the evaluation criteria shaped our whole architecture: a single fabricated figure costs more than a missed anomaly. So we optimized for trust first, speed second — and got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in one sentence: ClickHouse computes, the LLM only narrates. The narrator receives a finished JSON evidence bundle where every number has already been computed and logged. Three guardrails are enforced in code, not in a prompt: no number without a query; every claim names the exact query it came from via a source_step field; and if the LLM is unreachable we return the deterministic evidence with an explicit 'narration unavailable' flag rather than degrading to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nine million raw events land in ClickHouse Cloud, where nineteen rollup tables and 1.17 million pre-built baseline bands do the analytical work. A scanner service ticks every 30 seconds: sweep, cluster, gate, investigate. Investigations run as a LangGraph state graph with a genuine conditional cycle — it keeps drilling down while the deviation keeps localizing, up to depth three. The narrate node is the only place an LLM touches the pipeline, and it runs last. Everything is observed by Langfuse in real time. Four Docker services, one deploy script, and the API is stateless — all state lives in ClickHouse and Langfuse.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look for analytical depth in ClickHouse, so here is where the analysis actually lives: a star schema with skip indexes and projections, nineteen rollup tables including a composite geo-cell rollup, dictionaries instead of joins, and 1.17 million baseline bands built entirely in SQL. Only three of our fourteen time grains are physical tables — the rest are rolling window functions. And one thing we're proud of: we benchmarked our own rollups and the latency win was smaller than we assumed — median 1.5x — so we withdrew that claim. The claim that survives is rows scanned: up to ten-thousand-fold less data touched, which is what makes wide coverage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is where naive systems die. Our first version watched four metrics at one grain, globally — it ran 948 times and flagged nothing, because the planted incidents live inside segments, not in the global average. The redesign monitors ten metrics across sixteen scopes and fourteen time grains: 2,240 cells per sweep, 364 queries, 7.6 seconds. The trick is that cost scales with scopes times grains, not with entities — two queries cover all 2,000 apps at once. And seasonality is handled before flagging: bands are same-weekday, trailing-weeks, so weekends never cry wolf.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most want you to remember. On a single sweep, 4,495 cells breached their bands. Persistence and seasonality checks confirm 1,236 of them. Clustering recognizes that correlated breaches are the same event seen from many angles and collapses them to 289 incidents. The dollar-impact gate leaves seven worth a human's attention — including both planted incidents. That's a 642-fold reduction from raw breach to alert. And the suppression is visible in the UI, never silent — the queue tells you what it filtered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The Android demand-partner outage is detected on June 24 — the first sweep with a complete daily window over the incident — localized to os_family Android on fill rate, priced at 24 dollars a day, 48.84 across its two-day span, and ranked first in the queue. The iPhone-14 demand loss is subtler; it's caught June 29 at a fifteen-hour grain, localized to iOS 18.1, with an evidence score of 84. Note the rule-outs are quantitative: zero of 170 apps breached, so it isn't supply; one of eight OS versions moved, so it isn't seasonality. And these detection dates are replay results across all 35 days — not a lucky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my favorite result. The planted incident is described as APAC iPhone-14 demand loss. One query on our composite geo-cell rollup shows the fingerprint: APAC iPhone 14 down 17 points, iPhone 15 down 7, every other device flat. But drill one level further, splitting by country, and Japan goes from 79 percent fill to 50 — down 28.6 points — while India barely moves. The minus-17 was just the APAC-wide average. The real event is Japan cross iPhone 14. Our localization is sharper than the incident's own description — and every step of that drill-down is a logged, re-runnable ClickHouse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brief's bonus criterion is stating what was ruled out. We treat 'not X' as a claim that needs a number like any other. For the Android incident: all seven categories moved together, so it's not a category story. All five formats, all three tiers — uniform, ruled out. Thirty-three of 170 apps moved, but that concentration just mirrors Android share — symptom, not cause. Then the mechanism itself is decided by a deterministic signature table, S1 through S11, not by the LLM — and if nothing matches, the incident ships as S0, mechanism unknown. Unknown is displayed, never papered over, because a wrong mechanism is worse than no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is a gut-feel threshold. We replayed all 35 days at each candidate setting through the exact production path. Every row catches both incidents; they differ on false alarms. And here's the part I'd defend hardest: the 5-percent floor scores best on false alarms, and we rejected it — because a spread floor silently raises the smallest move that can ever breach from 6 percent to 15, and since both planted incidents are twenty-percent moves, the replay prices that blindness at zero. A table that cannot price a cost will always recommend paying it. So we added the smallest-detectable-move column and adopted the 2-percent floor, where the sensitivity loss is one the evidence can actually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war stories, because trustworthiness is the top judging criterion and it has to be earned. First: a 39-dollar-73 figure that the data does not contain outranked a real outage — we were pricing missing clicks at revenue-per-click when revenue actually accrues on impressions. Second: 67,000 phantom breaches in a single day, all reading 'below', because evaluation windows reached back before the data existed. Third: incident dollars overstated sixty-fold by summing member breaches — counting one shortfall once per scope and grain. All three were caught by replaying the data through the system, and each one is now a documented invariant. That's what 'a single fabricated figure is worse than a missed anomaly' looks like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says a judge must be able to open a trace and follow the investigation — no trace, no credit. Our Langfuse integration is real-time: spans open around the actual query execution, so durations and parallelism in the timeline are true. Every query is logged verbatim, including raw-table fallbacks — you can copy the SQL out of a span and re-run it. Two details we're proud of: chat turns get their own root trace, because a judge typing a question is exactly when traceability is tested; and we flush the buffer on every exit path, so even one-shot runs export complete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unseen dataset carries significant weight, and we prepared for it structurally, not by tuning to our sample. When the drop landed we loaded it into an isolated database — deliberately, because the unseen files reuse every ID with different attributes, and loading them into main would have silently relabelled nine million historical facts. Isolation is proven by query, not assumed. The planted incident is confirmed directly: fill rate drops from 79.4 to 73.1 percent on July 8 and 9, led by APAC at minus 11.5 points while every other region loses two-to-four — and it's flat across formats, which is exactly why region is the localizing dimension. One honest caveat: five days of data is less than one baseline window, and our incomplete-window guard is what keeps that from reading as fake collapses — during the demo we'll show how the system handles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switch to the live system. Five beats: first the ops home — the queue with seven alertable incidents and visible suppression counts. Second, the Android incident's full diagnosis: band chart, waterfall, dollars per day, the ruled-out list, the causal chain. Third, I'll ask it a question in chat and show the answer cites only computed numbers. Fourth, we open the actual Langfuse trace and walk the span tree — every query verbatim, in order. And fifth, the dataset switcher: the same engine pointed at the unseen data, zero code changes. Everything you'll see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on engineering quality, because the unseen data rewards robustness. Ninety-four tests pass, including integration tests that assert exact numbers. We audited our own design — six charges of overengineering, two sustained, both fixed, all documented with measurements. No SQL in the repo names a database, which is what made pointing the whole system at the unseen world a config change rather than a rewrite. And one deploy script brings up all four services with preflight checks. The through-line: the system fails safe and never silent-wrong — suppressed findings stay counted, unknowns display as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five criteria and where each was answered. Detection: both incidents, earliest possible sweep, localized more precisely than the answer key. Trustworthiness: the narrator can't compute, and every number points at a runnable query. ClickHouse depth: all analysis is queries. Traceability: open any trace and follow it. The unseen incident: isolated, proven, same engine with zero code changes. If you take one sentence away, take our favorite: a table that cannot price a cost will always recommend paying it — that's the discipline behind every number we showed you today. Thank you — happy to take questions on any query behind any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2"/>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2A93B">
              <a:alpha val="40000"/>
            </a:srgbClr>
          </a:solidFill>
          <a:ln/>
        </p:spPr>
      </p:sp>
      <p:sp>
        <p:nvSpPr>
          <p:cNvPr id="3" name="Text 1"/>
          <p:cNvSpPr/>
          <p:nvPr/>
        </p:nvSpPr>
        <p:spPr>
          <a:xfrm>
            <a:off x="822960" y="1051560"/>
            <a:ext cx="10515600" cy="320040"/>
          </a:xfrm>
          <a:prstGeom prst="rect">
            <a:avLst/>
          </a:prstGeom>
          <a:noFill/>
          <a:ln/>
        </p:spPr>
        <p:txBody>
          <a:bodyPr wrap="square" lIns="0" tIns="0" rIns="0" bIns="0" rtlCol="0" anchor="ctr"/>
          <a:lstStyle/>
          <a:p>
            <a:pPr indent="0" marL="0">
              <a:buNone/>
            </a:pPr>
            <a:r>
              <a:rPr lang="en-US" sz="1300" b="1" spc="300" kern="0" dirty="0">
                <a:solidFill>
                  <a:srgbClr val="F2A93B"/>
                </a:solidFill>
                <a:latin typeface="Calibri" pitchFamily="34" charset="0"/>
                <a:ea typeface="Calibri" pitchFamily="34" charset="-122"/>
                <a:cs typeface="Calibri" pitchFamily="34" charset="-120"/>
              </a:rPr>
              <a:t>CLICK-A-THON 2026  ·  INMOBI TRACK  ·  THE AUTOMATED ROOT-CAUSE ANALYST</a:t>
            </a:r>
            <a:endParaRPr lang="en-US" sz="1300" dirty="0"/>
          </a:p>
        </p:txBody>
      </p:sp>
      <p:sp>
        <p:nvSpPr>
          <p:cNvPr id="4" name="Text 2"/>
          <p:cNvSpPr/>
          <p:nvPr/>
        </p:nvSpPr>
        <p:spPr>
          <a:xfrm>
            <a:off x="822960" y="1508760"/>
            <a:ext cx="10515600" cy="1005840"/>
          </a:xfrm>
          <a:prstGeom prst="rect">
            <a:avLst/>
          </a:prstGeom>
          <a:noFill/>
          <a:ln/>
        </p:spPr>
        <p:txBody>
          <a:bodyPr wrap="square" lIns="0" tIns="0" rIns="0" bIns="0" rtlCol="0" anchor="ctr"/>
          <a:lstStyle/>
          <a:p>
            <a:pPr indent="0" marL="0">
              <a:buNone/>
            </a:pPr>
            <a:r>
              <a:rPr lang="en-US" sz="6000" b="1" dirty="0">
                <a:solidFill>
                  <a:srgbClr val="F2F6FA"/>
                </a:solidFill>
                <a:latin typeface="Calibri" pitchFamily="34" charset="0"/>
                <a:ea typeface="Calibri" pitchFamily="34" charset="-122"/>
                <a:cs typeface="Calibri" pitchFamily="34" charset="-120"/>
              </a:rPr>
              <a:t>RevenueWatch</a:t>
            </a:r>
            <a:endParaRPr lang="en-US" sz="6000" dirty="0"/>
          </a:p>
        </p:txBody>
      </p:sp>
      <p:sp>
        <p:nvSpPr>
          <p:cNvPr id="5" name="Text 3"/>
          <p:cNvSpPr/>
          <p:nvPr/>
        </p:nvSpPr>
        <p:spPr>
          <a:xfrm>
            <a:off x="822960" y="2606040"/>
            <a:ext cx="10515600" cy="548640"/>
          </a:xfrm>
          <a:prstGeom prst="rect">
            <a:avLst/>
          </a:prstGeom>
          <a:noFill/>
          <a:ln/>
        </p:spPr>
        <p:txBody>
          <a:bodyPr wrap="square" lIns="0" tIns="0" rIns="0" bIns="0" rtlCol="0" anchor="ctr"/>
          <a:lstStyle/>
          <a:p>
            <a:pPr indent="0" marL="0">
              <a:buNone/>
            </a:pPr>
            <a:r>
              <a:rPr lang="en-US" sz="2400" i="1" dirty="0">
                <a:solidFill>
                  <a:srgbClr val="9AAFC4"/>
                </a:solidFill>
                <a:latin typeface="Calibri" pitchFamily="34" charset="0"/>
                <a:ea typeface="Calibri" pitchFamily="34" charset="-122"/>
                <a:cs typeface="Calibri" pitchFamily="34" charset="-120"/>
              </a:rPr>
              <a:t>From alert to answer in 2.5 seconds.</a:t>
            </a:r>
            <a:endParaRPr lang="en-US" sz="2400" dirty="0"/>
          </a:p>
        </p:txBody>
      </p:sp>
      <p:sp>
        <p:nvSpPr>
          <p:cNvPr id="6" name="Text 4"/>
          <p:cNvSpPr/>
          <p:nvPr/>
        </p:nvSpPr>
        <p:spPr>
          <a:xfrm>
            <a:off x="822960" y="3200400"/>
            <a:ext cx="10515600" cy="457200"/>
          </a:xfrm>
          <a:prstGeom prst="rect">
            <a:avLst/>
          </a:prstGeom>
          <a:noFill/>
          <a:ln/>
        </p:spPr>
        <p:txBody>
          <a:bodyPr wrap="square" lIns="0" tIns="0" rIns="0" bIns="0" rtlCol="0" anchor="ctr"/>
          <a:lstStyle/>
          <a:p>
            <a:pPr indent="0" marL="0">
              <a:buNone/>
            </a:pPr>
            <a:r>
              <a:rPr lang="en-US" sz="1600" dirty="0">
                <a:solidFill>
                  <a:srgbClr val="F2F6FA"/>
                </a:solidFill>
                <a:latin typeface="Calibri" pitchFamily="34" charset="0"/>
                <a:ea typeface="Calibri" pitchFamily="34" charset="-122"/>
                <a:cs typeface="Calibri" pitchFamily="34" charset="-120"/>
              </a:rPr>
              <a:t>ClickHouse finds it, isolates it, and prices it. </a:t>
            </a:r>
            <a:pPr indent="0" marL="0">
              <a:buNone/>
            </a:pPr>
            <a:r>
              <a:rPr lang="en-US" sz="1600" dirty="0">
                <a:solidFill>
                  <a:srgbClr val="F2A93B"/>
                </a:solidFill>
                <a:latin typeface="Calibri" pitchFamily="34" charset="0"/>
                <a:ea typeface="Calibri" pitchFamily="34" charset="-122"/>
                <a:cs typeface="Calibri" pitchFamily="34" charset="-120"/>
              </a:rPr>
              <a:t>The LLM only says it out loud.</a:t>
            </a:r>
            <a:endParaRPr lang="en-US" sz="1600" dirty="0"/>
          </a:p>
        </p:txBody>
      </p:sp>
      <p:sp>
        <p:nvSpPr>
          <p:cNvPr id="7" name="Shape 5"/>
          <p:cNvSpPr/>
          <p:nvPr/>
        </p:nvSpPr>
        <p:spPr>
          <a:xfrm>
            <a:off x="822960" y="4297680"/>
            <a:ext cx="2468880" cy="1417320"/>
          </a:xfrm>
          <a:prstGeom prst="roundRect">
            <a:avLst>
              <a:gd name="adj" fmla="val 4516"/>
            </a:avLst>
          </a:prstGeom>
          <a:solidFill>
            <a:srgbClr val="18242F"/>
          </a:solidFill>
          <a:ln w="9525">
            <a:solidFill>
              <a:srgbClr val="2A3A4D"/>
            </a:solidFill>
            <a:prstDash val="solid"/>
          </a:ln>
        </p:spPr>
      </p:sp>
      <p:sp>
        <p:nvSpPr>
          <p:cNvPr id="8" name="Text 6"/>
          <p:cNvSpPr/>
          <p:nvPr/>
        </p:nvSpPr>
        <p:spPr>
          <a:xfrm>
            <a:off x="1005840" y="4480560"/>
            <a:ext cx="2103120" cy="54864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9,000,000</a:t>
            </a:r>
            <a:endParaRPr lang="en-US" sz="2600" dirty="0"/>
          </a:p>
        </p:txBody>
      </p:sp>
      <p:sp>
        <p:nvSpPr>
          <p:cNvPr id="9" name="Text 7"/>
          <p:cNvSpPr/>
          <p:nvPr/>
        </p:nvSpPr>
        <p:spPr>
          <a:xfrm>
            <a:off x="1005840" y="5074920"/>
            <a:ext cx="2103120" cy="36576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events monitored</a:t>
            </a:r>
            <a:endParaRPr lang="en-US" sz="1200" dirty="0"/>
          </a:p>
        </p:txBody>
      </p:sp>
      <p:sp>
        <p:nvSpPr>
          <p:cNvPr id="10" name="Shape 8"/>
          <p:cNvSpPr/>
          <p:nvPr/>
        </p:nvSpPr>
        <p:spPr>
          <a:xfrm>
            <a:off x="3520440" y="4297680"/>
            <a:ext cx="2468880" cy="1417320"/>
          </a:xfrm>
          <a:prstGeom prst="roundRect">
            <a:avLst>
              <a:gd name="adj" fmla="val 4516"/>
            </a:avLst>
          </a:prstGeom>
          <a:solidFill>
            <a:srgbClr val="18242F"/>
          </a:solidFill>
          <a:ln w="9525">
            <a:solidFill>
              <a:srgbClr val="2A3A4D"/>
            </a:solidFill>
            <a:prstDash val="solid"/>
          </a:ln>
        </p:spPr>
      </p:sp>
      <p:sp>
        <p:nvSpPr>
          <p:cNvPr id="11" name="Text 9"/>
          <p:cNvSpPr/>
          <p:nvPr/>
        </p:nvSpPr>
        <p:spPr>
          <a:xfrm>
            <a:off x="3703320" y="4480560"/>
            <a:ext cx="2103120" cy="54864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2,240</a:t>
            </a:r>
            <a:endParaRPr lang="en-US" sz="2600" dirty="0"/>
          </a:p>
        </p:txBody>
      </p:sp>
      <p:sp>
        <p:nvSpPr>
          <p:cNvPr id="12" name="Text 10"/>
          <p:cNvSpPr/>
          <p:nvPr/>
        </p:nvSpPr>
        <p:spPr>
          <a:xfrm>
            <a:off x="3703320" y="5074920"/>
            <a:ext cx="2103120" cy="36576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cells checked per sweep</a:t>
            </a:r>
            <a:endParaRPr lang="en-US" sz="1200" dirty="0"/>
          </a:p>
        </p:txBody>
      </p:sp>
      <p:sp>
        <p:nvSpPr>
          <p:cNvPr id="13" name="Shape 11"/>
          <p:cNvSpPr/>
          <p:nvPr/>
        </p:nvSpPr>
        <p:spPr>
          <a:xfrm>
            <a:off x="6217920" y="4297680"/>
            <a:ext cx="2468880" cy="1417320"/>
          </a:xfrm>
          <a:prstGeom prst="roundRect">
            <a:avLst>
              <a:gd name="adj" fmla="val 4516"/>
            </a:avLst>
          </a:prstGeom>
          <a:solidFill>
            <a:srgbClr val="18242F"/>
          </a:solidFill>
          <a:ln w="9525">
            <a:solidFill>
              <a:srgbClr val="2A3A4D"/>
            </a:solidFill>
            <a:prstDash val="solid"/>
          </a:ln>
        </p:spPr>
      </p:sp>
      <p:sp>
        <p:nvSpPr>
          <p:cNvPr id="14" name="Text 12"/>
          <p:cNvSpPr/>
          <p:nvPr/>
        </p:nvSpPr>
        <p:spPr>
          <a:xfrm>
            <a:off x="6400800" y="4480560"/>
            <a:ext cx="2103120" cy="54864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7.6 s</a:t>
            </a:r>
            <a:endParaRPr lang="en-US" sz="2600" dirty="0"/>
          </a:p>
        </p:txBody>
      </p:sp>
      <p:sp>
        <p:nvSpPr>
          <p:cNvPr id="15" name="Text 13"/>
          <p:cNvSpPr/>
          <p:nvPr/>
        </p:nvSpPr>
        <p:spPr>
          <a:xfrm>
            <a:off x="6400800" y="5074920"/>
            <a:ext cx="2103120" cy="36576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for a full sweep</a:t>
            </a:r>
            <a:endParaRPr lang="en-US" sz="1200" dirty="0"/>
          </a:p>
        </p:txBody>
      </p:sp>
      <p:sp>
        <p:nvSpPr>
          <p:cNvPr id="16" name="Shape 14"/>
          <p:cNvSpPr/>
          <p:nvPr/>
        </p:nvSpPr>
        <p:spPr>
          <a:xfrm>
            <a:off x="8915400" y="4297680"/>
            <a:ext cx="2468880" cy="1417320"/>
          </a:xfrm>
          <a:prstGeom prst="roundRect">
            <a:avLst>
              <a:gd name="adj" fmla="val 4516"/>
            </a:avLst>
          </a:prstGeom>
          <a:solidFill>
            <a:srgbClr val="18242F"/>
          </a:solidFill>
          <a:ln w="9525">
            <a:solidFill>
              <a:srgbClr val="2A3A4D"/>
            </a:solidFill>
            <a:prstDash val="solid"/>
          </a:ln>
        </p:spPr>
      </p:sp>
      <p:sp>
        <p:nvSpPr>
          <p:cNvPr id="17" name="Text 15"/>
          <p:cNvSpPr/>
          <p:nvPr/>
        </p:nvSpPr>
        <p:spPr>
          <a:xfrm>
            <a:off x="9098280" y="4480560"/>
            <a:ext cx="2103120" cy="54864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2.5 s</a:t>
            </a:r>
            <a:endParaRPr lang="en-US" sz="2600" dirty="0"/>
          </a:p>
        </p:txBody>
      </p:sp>
      <p:sp>
        <p:nvSpPr>
          <p:cNvPr id="18" name="Text 16"/>
          <p:cNvSpPr/>
          <p:nvPr/>
        </p:nvSpPr>
        <p:spPr>
          <a:xfrm>
            <a:off x="9098280" y="5074920"/>
            <a:ext cx="2103120" cy="36576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alert → diagnosis</a:t>
            </a:r>
            <a:endParaRPr lang="en-US" sz="1200" dirty="0"/>
          </a:p>
        </p:txBody>
      </p:sp>
      <p:sp>
        <p:nvSpPr>
          <p:cNvPr id="19" name="Text 17"/>
          <p:cNvSpPr/>
          <p:nvPr/>
        </p:nvSpPr>
        <p:spPr>
          <a:xfrm>
            <a:off x="822960" y="6126480"/>
            <a:ext cx="10515600" cy="320040"/>
          </a:xfrm>
          <a:prstGeom prst="rect">
            <a:avLst/>
          </a:prstGeom>
          <a:noFill/>
          <a:ln/>
        </p:spPr>
        <p:txBody>
          <a:bodyPr wrap="square" lIns="0" tIns="0" rIns="0" bIns="0" rtlCol="0" anchor="ctr"/>
          <a:lstStyle/>
          <a:p>
            <a:pPr indent="0" marL="0">
              <a:buNone/>
            </a:pPr>
            <a:r>
              <a:rPr lang="en-US" sz="1100" dirty="0">
                <a:solidFill>
                  <a:srgbClr val="6E839A"/>
                </a:solidFill>
                <a:latin typeface="Courier New" pitchFamily="34" charset="0"/>
                <a:ea typeface="Courier New" pitchFamily="34" charset="-122"/>
                <a:cs typeface="Courier New" pitchFamily="34" charset="-120"/>
              </a:rPr>
              <a:t>Team asysvaghasiya  ·  github.com/asysvaghasiya/metric-sherlock</a:t>
            </a:r>
            <a:endParaRPr lang="en-US" sz="1100" dirty="0"/>
          </a:p>
        </p:txBody>
      </p:sp>
      <p:sp>
        <p:nvSpPr>
          <p:cNvPr id="21" name="Text 18"/>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F2A93B"/>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The bottleneck is never the data — it’s the manual investigation</a:t>
            </a:r>
            <a:endParaRPr lang="en-US" sz="3000" dirty="0"/>
          </a:p>
        </p:txBody>
      </p:sp>
      <p:sp>
        <p:nvSpPr>
          <p:cNvPr id="4" name="Text 2"/>
          <p:cNvSpPr/>
          <p:nvPr/>
        </p:nvSpPr>
        <p:spPr>
          <a:xfrm>
            <a:off x="548640" y="1371600"/>
            <a:ext cx="11064240" cy="777240"/>
          </a:xfrm>
          <a:prstGeom prst="rect">
            <a:avLst/>
          </a:prstGeom>
          <a:noFill/>
          <a:ln/>
        </p:spPr>
        <p:txBody>
          <a:bodyPr wrap="square" lIns="0" tIns="0" rIns="0" bIns="0" rtlCol="0" anchor="ctr"/>
          <a:lstStyle/>
          <a:p>
            <a:pPr indent="0" marL="0">
              <a:buNone/>
            </a:pPr>
            <a:r>
              <a:rPr lang="en-US" sz="1500" dirty="0">
                <a:solidFill>
                  <a:srgbClr val="9AAFC4"/>
                </a:solidFill>
                <a:latin typeface="Calibri" pitchFamily="34" charset="0"/>
                <a:ea typeface="Calibri" pitchFamily="34" charset="-122"/>
                <a:cs typeface="Calibri" pitchFamily="34" charset="-120"/>
              </a:rPr>
              <a:t>An analyst pulls dashboards, slices by geo, device, app, advertiser, format… and an hour later says “it was fill rate on Android.” The brief asks us to compress that hour into seconds — without ever inventing a number.</a:t>
            </a:r>
            <a:endParaRPr lang="en-US" sz="1500" dirty="0"/>
          </a:p>
        </p:txBody>
      </p:sp>
      <p:sp>
        <p:nvSpPr>
          <p:cNvPr id="5" name="Shape 3"/>
          <p:cNvSpPr/>
          <p:nvPr/>
        </p:nvSpPr>
        <p:spPr>
          <a:xfrm>
            <a:off x="548640" y="2331720"/>
            <a:ext cx="5440680" cy="1298448"/>
          </a:xfrm>
          <a:prstGeom prst="roundRect">
            <a:avLst>
              <a:gd name="adj" fmla="val 4930"/>
            </a:avLst>
          </a:prstGeom>
          <a:solidFill>
            <a:srgbClr val="18242F"/>
          </a:solidFill>
          <a:ln w="9525">
            <a:solidFill>
              <a:srgbClr val="2A3A4D"/>
            </a:solidFill>
            <a:prstDash val="solid"/>
          </a:ln>
        </p:spPr>
      </p:sp>
      <p:sp>
        <p:nvSpPr>
          <p:cNvPr id="6" name="Shape 4"/>
          <p:cNvSpPr/>
          <p:nvPr/>
        </p:nvSpPr>
        <p:spPr>
          <a:xfrm>
            <a:off x="777240" y="2715768"/>
            <a:ext cx="502920" cy="502920"/>
          </a:xfrm>
          <a:prstGeom prst="ellipse">
            <a:avLst/>
          </a:prstGeom>
          <a:solidFill>
            <a:srgbClr val="58A6E8"/>
          </a:solidFill>
          <a:ln/>
        </p:spPr>
      </p:sp>
      <p:sp>
        <p:nvSpPr>
          <p:cNvPr id="7" name="Text 5"/>
          <p:cNvSpPr/>
          <p:nvPr/>
        </p:nvSpPr>
        <p:spPr>
          <a:xfrm>
            <a:off x="685800" y="2697480"/>
            <a:ext cx="685800" cy="502920"/>
          </a:xfrm>
          <a:prstGeom prst="rect">
            <a:avLst/>
          </a:prstGeom>
          <a:noFill/>
          <a:ln/>
        </p:spPr>
        <p:txBody>
          <a:bodyPr wrap="square" lIns="0" tIns="0" rIns="0" bIns="0" rtlCol="0" anchor="ctr"/>
          <a:lstStyle/>
          <a:p>
            <a:pPr algn="ctr" indent="0" marL="0">
              <a:buNone/>
            </a:pPr>
            <a:r>
              <a:rPr lang="en-US" sz="1400" b="1" dirty="0">
                <a:solidFill>
                  <a:srgbClr val="0F1722"/>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463040" y="2478024"/>
            <a:ext cx="4297680" cy="365760"/>
          </a:xfrm>
          <a:prstGeom prst="rect">
            <a:avLst/>
          </a:prstGeom>
          <a:noFill/>
          <a:ln/>
        </p:spPr>
        <p:txBody>
          <a:bodyPr wrap="square" lIns="0" tIns="0" rIns="0" bIns="0" rtlCol="0" anchor="ctr"/>
          <a:lstStyle/>
          <a:p>
            <a:pPr indent="0" marL="0">
              <a:buNone/>
            </a:pPr>
            <a:r>
              <a:rPr lang="en-US" sz="1700" b="1" dirty="0">
                <a:solidFill>
                  <a:srgbClr val="58A6E8"/>
                </a:solidFill>
                <a:latin typeface="Calibri" pitchFamily="34" charset="0"/>
                <a:ea typeface="Calibri" pitchFamily="34" charset="-122"/>
                <a:cs typeface="Calibri" pitchFamily="34" charset="-120"/>
              </a:rPr>
              <a:t>Fast</a:t>
            </a:r>
            <a:endParaRPr lang="en-US" sz="1700" dirty="0"/>
          </a:p>
        </p:txBody>
      </p:sp>
      <p:sp>
        <p:nvSpPr>
          <p:cNvPr id="9" name="Text 7"/>
          <p:cNvSpPr/>
          <p:nvPr/>
        </p:nvSpPr>
        <p:spPr>
          <a:xfrm>
            <a:off x="1463040" y="2843784"/>
            <a:ext cx="4343400" cy="685800"/>
          </a:xfrm>
          <a:prstGeom prst="rect">
            <a:avLst/>
          </a:prstGeom>
          <a:noFill/>
          <a:ln/>
        </p:spPr>
        <p:txBody>
          <a:bodyPr wrap="square" lIns="0" tIns="0" rIns="0" bIns="0" rtlCol="0" anchor="ctr"/>
          <a:lstStyle/>
          <a:p>
            <a:pPr indent="0" marL="0">
              <a:buNone/>
            </a:pPr>
            <a:r>
              <a:rPr lang="en-US" sz="1250" dirty="0">
                <a:solidFill>
                  <a:srgbClr val="9AAFC4"/>
                </a:solidFill>
                <a:latin typeface="Calibri" pitchFamily="34" charset="0"/>
                <a:ea typeface="Calibri" pitchFamily="34" charset="-122"/>
                <a:cs typeface="Calibri" pitchFamily="34" charset="-120"/>
              </a:rPr>
              <a:t>Seconds from anomaly to diagnosis, not an analyst-hour of dashboard spelunking.</a:t>
            </a:r>
            <a:endParaRPr lang="en-US" sz="1250" dirty="0"/>
          </a:p>
        </p:txBody>
      </p:sp>
      <p:sp>
        <p:nvSpPr>
          <p:cNvPr id="10" name="Shape 8"/>
          <p:cNvSpPr/>
          <p:nvPr/>
        </p:nvSpPr>
        <p:spPr>
          <a:xfrm>
            <a:off x="6217920" y="2331720"/>
            <a:ext cx="5440680" cy="1298448"/>
          </a:xfrm>
          <a:prstGeom prst="roundRect">
            <a:avLst>
              <a:gd name="adj" fmla="val 4930"/>
            </a:avLst>
          </a:prstGeom>
          <a:solidFill>
            <a:srgbClr val="18242F"/>
          </a:solidFill>
          <a:ln w="9525">
            <a:solidFill>
              <a:srgbClr val="2A3A4D"/>
            </a:solidFill>
            <a:prstDash val="solid"/>
          </a:ln>
        </p:spPr>
      </p:sp>
      <p:sp>
        <p:nvSpPr>
          <p:cNvPr id="11" name="Shape 9"/>
          <p:cNvSpPr/>
          <p:nvPr/>
        </p:nvSpPr>
        <p:spPr>
          <a:xfrm>
            <a:off x="6446520" y="2715768"/>
            <a:ext cx="502920" cy="502920"/>
          </a:xfrm>
          <a:prstGeom prst="ellipse">
            <a:avLst/>
          </a:prstGeom>
          <a:solidFill>
            <a:srgbClr val="45C489"/>
          </a:solidFill>
          <a:ln/>
        </p:spPr>
      </p:sp>
      <p:sp>
        <p:nvSpPr>
          <p:cNvPr id="12" name="Text 10"/>
          <p:cNvSpPr/>
          <p:nvPr/>
        </p:nvSpPr>
        <p:spPr>
          <a:xfrm>
            <a:off x="6355080" y="2697480"/>
            <a:ext cx="685800" cy="502920"/>
          </a:xfrm>
          <a:prstGeom prst="rect">
            <a:avLst/>
          </a:prstGeom>
          <a:noFill/>
          <a:ln/>
        </p:spPr>
        <p:txBody>
          <a:bodyPr wrap="square" lIns="0" tIns="0" rIns="0" bIns="0" rtlCol="0" anchor="ctr"/>
          <a:lstStyle/>
          <a:p>
            <a:pPr algn="ctr" indent="0" marL="0">
              <a:buNone/>
            </a:pPr>
            <a:r>
              <a:rPr lang="en-US" sz="1400" b="1" dirty="0">
                <a:solidFill>
                  <a:srgbClr val="0F1722"/>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7132320" y="2478024"/>
            <a:ext cx="4297680" cy="365760"/>
          </a:xfrm>
          <a:prstGeom prst="rect">
            <a:avLst/>
          </a:prstGeom>
          <a:noFill/>
          <a:ln/>
        </p:spPr>
        <p:txBody>
          <a:bodyPr wrap="square" lIns="0" tIns="0" rIns="0" bIns="0" rtlCol="0" anchor="ctr"/>
          <a:lstStyle/>
          <a:p>
            <a:pPr indent="0" marL="0">
              <a:buNone/>
            </a:pPr>
            <a:r>
              <a:rPr lang="en-US" sz="1700" b="1" dirty="0">
                <a:solidFill>
                  <a:srgbClr val="45C489"/>
                </a:solidFill>
                <a:latin typeface="Calibri" pitchFamily="34" charset="0"/>
                <a:ea typeface="Calibri" pitchFamily="34" charset="-122"/>
                <a:cs typeface="Calibri" pitchFamily="34" charset="-120"/>
              </a:rPr>
              <a:t>Trustworthy</a:t>
            </a:r>
            <a:endParaRPr lang="en-US" sz="1700" dirty="0"/>
          </a:p>
        </p:txBody>
      </p:sp>
      <p:sp>
        <p:nvSpPr>
          <p:cNvPr id="14" name="Text 12"/>
          <p:cNvSpPr/>
          <p:nvPr/>
        </p:nvSpPr>
        <p:spPr>
          <a:xfrm>
            <a:off x="7132320" y="2843784"/>
            <a:ext cx="4343400" cy="685800"/>
          </a:xfrm>
          <a:prstGeom prst="rect">
            <a:avLst/>
          </a:prstGeom>
          <a:noFill/>
          <a:ln/>
        </p:spPr>
        <p:txBody>
          <a:bodyPr wrap="square" lIns="0" tIns="0" rIns="0" bIns="0" rtlCol="0" anchor="ctr"/>
          <a:lstStyle/>
          <a:p>
            <a:pPr indent="0" marL="0">
              <a:buNone/>
            </a:pPr>
            <a:r>
              <a:rPr lang="en-US" sz="1250" dirty="0">
                <a:solidFill>
                  <a:srgbClr val="9AAFC4"/>
                </a:solidFill>
                <a:latin typeface="Calibri" pitchFamily="34" charset="0"/>
                <a:ea typeface="Calibri" pitchFamily="34" charset="-122"/>
                <a:cs typeface="Calibri" pitchFamily="34" charset="-120"/>
              </a:rPr>
              <a:t>Every claim is backed by a number computed in ClickHouse — nothing estimated by the LLM.</a:t>
            </a:r>
            <a:endParaRPr lang="en-US" sz="1250" dirty="0"/>
          </a:p>
        </p:txBody>
      </p:sp>
      <p:sp>
        <p:nvSpPr>
          <p:cNvPr id="15" name="Shape 13"/>
          <p:cNvSpPr/>
          <p:nvPr/>
        </p:nvSpPr>
        <p:spPr>
          <a:xfrm>
            <a:off x="548640" y="3813048"/>
            <a:ext cx="5440680" cy="1298448"/>
          </a:xfrm>
          <a:prstGeom prst="roundRect">
            <a:avLst>
              <a:gd name="adj" fmla="val 4930"/>
            </a:avLst>
          </a:prstGeom>
          <a:solidFill>
            <a:srgbClr val="18242F"/>
          </a:solidFill>
          <a:ln w="9525">
            <a:solidFill>
              <a:srgbClr val="2A3A4D"/>
            </a:solidFill>
            <a:prstDash val="solid"/>
          </a:ln>
        </p:spPr>
      </p:sp>
      <p:sp>
        <p:nvSpPr>
          <p:cNvPr id="16" name="Shape 14"/>
          <p:cNvSpPr/>
          <p:nvPr/>
        </p:nvSpPr>
        <p:spPr>
          <a:xfrm>
            <a:off x="777240" y="4197096"/>
            <a:ext cx="502920" cy="502920"/>
          </a:xfrm>
          <a:prstGeom prst="ellipse">
            <a:avLst/>
          </a:prstGeom>
          <a:solidFill>
            <a:srgbClr val="F2A93B"/>
          </a:solidFill>
          <a:ln/>
        </p:spPr>
      </p:sp>
      <p:sp>
        <p:nvSpPr>
          <p:cNvPr id="17" name="Text 15"/>
          <p:cNvSpPr/>
          <p:nvPr/>
        </p:nvSpPr>
        <p:spPr>
          <a:xfrm>
            <a:off x="685800" y="4178808"/>
            <a:ext cx="685800" cy="502920"/>
          </a:xfrm>
          <a:prstGeom prst="rect">
            <a:avLst/>
          </a:prstGeom>
          <a:noFill/>
          <a:ln/>
        </p:spPr>
        <p:txBody>
          <a:bodyPr wrap="square" lIns="0" tIns="0" rIns="0" bIns="0" rtlCol="0" anchor="ctr"/>
          <a:lstStyle/>
          <a:p>
            <a:pPr algn="ctr" indent="0" marL="0">
              <a:buNone/>
            </a:pPr>
            <a:r>
              <a:rPr lang="en-US" sz="1400" b="1" dirty="0">
                <a:solidFill>
                  <a:srgbClr val="0F1722"/>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1463040" y="3959352"/>
            <a:ext cx="4297680" cy="365760"/>
          </a:xfrm>
          <a:prstGeom prst="rect">
            <a:avLst/>
          </a:prstGeom>
          <a:noFill/>
          <a:ln/>
        </p:spPr>
        <p:txBody>
          <a:bodyPr wrap="square" lIns="0" tIns="0" rIns="0" bIns="0" rtlCol="0" anchor="ctr"/>
          <a:lstStyle/>
          <a:p>
            <a:pPr indent="0" marL="0">
              <a:buNone/>
            </a:pPr>
            <a:r>
              <a:rPr lang="en-US" sz="1700" b="1" dirty="0">
                <a:solidFill>
                  <a:srgbClr val="F2A93B"/>
                </a:solidFill>
                <a:latin typeface="Calibri" pitchFamily="34" charset="0"/>
                <a:ea typeface="Calibri" pitchFamily="34" charset="-122"/>
                <a:cs typeface="Calibri" pitchFamily="34" charset="-120"/>
              </a:rPr>
              <a:t>Localized</a:t>
            </a:r>
            <a:endParaRPr lang="en-US" sz="1700" dirty="0"/>
          </a:p>
        </p:txBody>
      </p:sp>
      <p:sp>
        <p:nvSpPr>
          <p:cNvPr id="19" name="Text 17"/>
          <p:cNvSpPr/>
          <p:nvPr/>
        </p:nvSpPr>
        <p:spPr>
          <a:xfrm>
            <a:off x="1463040" y="4325112"/>
            <a:ext cx="4343400" cy="685800"/>
          </a:xfrm>
          <a:prstGeom prst="rect">
            <a:avLst/>
          </a:prstGeom>
          <a:noFill/>
          <a:ln/>
        </p:spPr>
        <p:txBody>
          <a:bodyPr wrap="square" lIns="0" tIns="0" rIns="0" bIns="0" rtlCol="0" anchor="ctr"/>
          <a:lstStyle/>
          <a:p>
            <a:pPr indent="0" marL="0">
              <a:buNone/>
            </a:pPr>
            <a:r>
              <a:rPr lang="en-US" sz="1250" dirty="0">
                <a:solidFill>
                  <a:srgbClr val="9AAFC4"/>
                </a:solidFill>
                <a:latin typeface="Calibri" pitchFamily="34" charset="0"/>
                <a:ea typeface="Calibri" pitchFamily="34" charset="-122"/>
                <a:cs typeface="Calibri" pitchFamily="34" charset="-120"/>
              </a:rPr>
              <a:t>Not “revenue is down” — which segment, which metric, how much, since when.</a:t>
            </a:r>
            <a:endParaRPr lang="en-US" sz="1250" dirty="0"/>
          </a:p>
        </p:txBody>
      </p:sp>
      <p:sp>
        <p:nvSpPr>
          <p:cNvPr id="20" name="Shape 18"/>
          <p:cNvSpPr/>
          <p:nvPr/>
        </p:nvSpPr>
        <p:spPr>
          <a:xfrm>
            <a:off x="6217920" y="3813048"/>
            <a:ext cx="5440680" cy="1298448"/>
          </a:xfrm>
          <a:prstGeom prst="roundRect">
            <a:avLst>
              <a:gd name="adj" fmla="val 4930"/>
            </a:avLst>
          </a:prstGeom>
          <a:solidFill>
            <a:srgbClr val="18242F"/>
          </a:solidFill>
          <a:ln w="9525">
            <a:solidFill>
              <a:srgbClr val="2A3A4D"/>
            </a:solidFill>
            <a:prstDash val="solid"/>
          </a:ln>
        </p:spPr>
      </p:sp>
      <p:sp>
        <p:nvSpPr>
          <p:cNvPr id="21" name="Shape 19"/>
          <p:cNvSpPr/>
          <p:nvPr/>
        </p:nvSpPr>
        <p:spPr>
          <a:xfrm>
            <a:off x="6446520" y="4197096"/>
            <a:ext cx="502920" cy="502920"/>
          </a:xfrm>
          <a:prstGeom prst="ellipse">
            <a:avLst/>
          </a:prstGeom>
          <a:solidFill>
            <a:srgbClr val="E25B5B"/>
          </a:solidFill>
          <a:ln/>
        </p:spPr>
      </p:sp>
      <p:sp>
        <p:nvSpPr>
          <p:cNvPr id="22" name="Text 20"/>
          <p:cNvSpPr/>
          <p:nvPr/>
        </p:nvSpPr>
        <p:spPr>
          <a:xfrm>
            <a:off x="6355080" y="4178808"/>
            <a:ext cx="685800" cy="502920"/>
          </a:xfrm>
          <a:prstGeom prst="rect">
            <a:avLst/>
          </a:prstGeom>
          <a:noFill/>
          <a:ln/>
        </p:spPr>
        <p:txBody>
          <a:bodyPr wrap="square" lIns="0" tIns="0" rIns="0" bIns="0" rtlCol="0" anchor="ctr"/>
          <a:lstStyle/>
          <a:p>
            <a:pPr algn="ctr" indent="0" marL="0">
              <a:buNone/>
            </a:pPr>
            <a:r>
              <a:rPr lang="en-US" sz="1400" b="1" dirty="0">
                <a:solidFill>
                  <a:srgbClr val="0F1722"/>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7132320" y="3959352"/>
            <a:ext cx="4297680" cy="365760"/>
          </a:xfrm>
          <a:prstGeom prst="rect">
            <a:avLst/>
          </a:prstGeom>
          <a:noFill/>
          <a:ln/>
        </p:spPr>
        <p:txBody>
          <a:bodyPr wrap="square" lIns="0" tIns="0" rIns="0" bIns="0" rtlCol="0" anchor="ctr"/>
          <a:lstStyle/>
          <a:p>
            <a:pPr indent="0" marL="0">
              <a:buNone/>
            </a:pPr>
            <a:r>
              <a:rPr lang="en-US" sz="1700" b="1" dirty="0">
                <a:solidFill>
                  <a:srgbClr val="E25B5B"/>
                </a:solidFill>
                <a:latin typeface="Calibri" pitchFamily="34" charset="0"/>
                <a:ea typeface="Calibri" pitchFamily="34" charset="-122"/>
                <a:cs typeface="Calibri" pitchFamily="34" charset="-120"/>
              </a:rPr>
              <a:t>Honest</a:t>
            </a:r>
            <a:endParaRPr lang="en-US" sz="1700" dirty="0"/>
          </a:p>
        </p:txBody>
      </p:sp>
      <p:sp>
        <p:nvSpPr>
          <p:cNvPr id="24" name="Text 22"/>
          <p:cNvSpPr/>
          <p:nvPr/>
        </p:nvSpPr>
        <p:spPr>
          <a:xfrm>
            <a:off x="7132320" y="4325112"/>
            <a:ext cx="4343400" cy="685800"/>
          </a:xfrm>
          <a:prstGeom prst="rect">
            <a:avLst/>
          </a:prstGeom>
          <a:noFill/>
          <a:ln/>
        </p:spPr>
        <p:txBody>
          <a:bodyPr wrap="square" lIns="0" tIns="0" rIns="0" bIns="0" rtlCol="0" anchor="ctr"/>
          <a:lstStyle/>
          <a:p>
            <a:pPr indent="0" marL="0">
              <a:buNone/>
            </a:pPr>
            <a:r>
              <a:rPr lang="en-US" sz="1250" dirty="0">
                <a:solidFill>
                  <a:srgbClr val="9AAFC4"/>
                </a:solidFill>
                <a:latin typeface="Calibri" pitchFamily="34" charset="0"/>
                <a:ea typeface="Calibri" pitchFamily="34" charset="-122"/>
                <a:cs typeface="Calibri" pitchFamily="34" charset="-120"/>
              </a:rPr>
              <a:t>Says what was checked and ruled out, and says “unknown” rather than guessing.</a:t>
            </a:r>
            <a:endParaRPr lang="en-US" sz="1250" dirty="0"/>
          </a:p>
        </p:txBody>
      </p:sp>
      <p:sp>
        <p:nvSpPr>
          <p:cNvPr id="25" name="Shape 23"/>
          <p:cNvSpPr/>
          <p:nvPr/>
        </p:nvSpPr>
        <p:spPr>
          <a:xfrm>
            <a:off x="548640" y="5532120"/>
            <a:ext cx="11064240" cy="868680"/>
          </a:xfrm>
          <a:prstGeom prst="roundRect">
            <a:avLst>
              <a:gd name="adj" fmla="val 7368"/>
            </a:avLst>
          </a:prstGeom>
          <a:solidFill>
            <a:srgbClr val="1D2C3A"/>
          </a:solidFill>
          <a:ln w="9525">
            <a:solidFill>
              <a:srgbClr val="F2A93B"/>
            </a:solidFill>
            <a:prstDash val="solid"/>
          </a:ln>
        </p:spPr>
      </p:sp>
      <p:sp>
        <p:nvSpPr>
          <p:cNvPr id="26" name="Text 24"/>
          <p:cNvSpPr/>
          <p:nvPr/>
        </p:nvSpPr>
        <p:spPr>
          <a:xfrm>
            <a:off x="822960" y="5532120"/>
            <a:ext cx="10515600" cy="868680"/>
          </a:xfrm>
          <a:prstGeom prst="rect">
            <a:avLst/>
          </a:prstGeom>
          <a:noFill/>
          <a:ln/>
        </p:spPr>
        <p:txBody>
          <a:bodyPr wrap="square" lIns="0" tIns="0" rIns="0" bIns="0" rtlCol="0" anchor="ctr"/>
          <a:lstStyle/>
          <a:p>
            <a:pPr indent="0" marL="0">
              <a:buNone/>
            </a:pPr>
            <a:r>
              <a:rPr lang="en-US" sz="1500" b="1" dirty="0">
                <a:solidFill>
                  <a:srgbClr val="F2A93B"/>
                </a:solidFill>
                <a:latin typeface="Calibri" pitchFamily="34" charset="0"/>
                <a:ea typeface="Calibri" pitchFamily="34" charset="-122"/>
                <a:cs typeface="Calibri" pitchFamily="34" charset="-120"/>
              </a:rPr>
              <a:t>The judging bar:  </a:t>
            </a:r>
            <a:pPr indent="0" marL="0">
              <a:buNone/>
            </a:pPr>
            <a:r>
              <a:rPr lang="en-US" sz="1500" i="1" dirty="0">
                <a:solidFill>
                  <a:srgbClr val="F2F6FA"/>
                </a:solidFill>
                <a:latin typeface="Calibri" pitchFamily="34" charset="0"/>
                <a:ea typeface="Calibri" pitchFamily="34" charset="-122"/>
                <a:cs typeface="Calibri" pitchFamily="34" charset="-120"/>
              </a:rPr>
              <a:t>“A single fabricated figure costs more than a missed anomaly.”</a:t>
            </a:r>
            <a:pPr indent="0" marL="0">
              <a:buNone/>
            </a:pPr>
            <a:r>
              <a:rPr lang="en-US" sz="1100" dirty="0">
                <a:solidFill>
                  <a:srgbClr val="6E839A"/>
                </a:solidFill>
                <a:latin typeface="Calibri" pitchFamily="34" charset="0"/>
                <a:ea typeface="Calibri" pitchFamily="34" charset="-122"/>
                <a:cs typeface="Calibri" pitchFamily="34" charset="-120"/>
              </a:rPr>
              <a:t>   — problem statement, evaluation criteria</a:t>
            </a:r>
            <a:endParaRPr lang="en-US" sz="1500" dirty="0"/>
          </a:p>
        </p:txBody>
      </p:sp>
      <p:sp>
        <p:nvSpPr>
          <p:cNvPr id="28" name="Text 25"/>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F2A93B"/>
                </a:solidFill>
                <a:latin typeface="Calibri" pitchFamily="34" charset="0"/>
                <a:ea typeface="Calibri" pitchFamily="34" charset="-122"/>
                <a:cs typeface="Calibri" pitchFamily="34" charset="-120"/>
              </a:rPr>
              <a:t>THE CORE PRINCIPLE</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ClickHouse computes. The LLM only narrates.</a:t>
            </a:r>
            <a:endParaRPr lang="en-US" sz="3000" dirty="0"/>
          </a:p>
        </p:txBody>
      </p:sp>
      <p:sp>
        <p:nvSpPr>
          <p:cNvPr id="4" name="Shape 2"/>
          <p:cNvSpPr/>
          <p:nvPr/>
        </p:nvSpPr>
        <p:spPr>
          <a:xfrm>
            <a:off x="548640" y="1600200"/>
            <a:ext cx="2606040" cy="1554480"/>
          </a:xfrm>
          <a:prstGeom prst="roundRect">
            <a:avLst>
              <a:gd name="adj" fmla="val 4118"/>
            </a:avLst>
          </a:prstGeom>
          <a:solidFill>
            <a:srgbClr val="18242F"/>
          </a:solidFill>
          <a:ln w="9525">
            <a:solidFill>
              <a:srgbClr val="58A6E8"/>
            </a:solidFill>
            <a:prstDash val="solid"/>
          </a:ln>
        </p:spPr>
      </p:sp>
      <p:sp>
        <p:nvSpPr>
          <p:cNvPr id="5" name="Text 3"/>
          <p:cNvSpPr/>
          <p:nvPr/>
        </p:nvSpPr>
        <p:spPr>
          <a:xfrm>
            <a:off x="731520" y="1783080"/>
            <a:ext cx="2240280" cy="365760"/>
          </a:xfrm>
          <a:prstGeom prst="rect">
            <a:avLst/>
          </a:prstGeom>
          <a:noFill/>
          <a:ln/>
        </p:spPr>
        <p:txBody>
          <a:bodyPr wrap="square" lIns="0" tIns="0" rIns="0" bIns="0" rtlCol="0" anchor="ctr"/>
          <a:lstStyle/>
          <a:p>
            <a:pPr indent="0" marL="0">
              <a:buNone/>
            </a:pPr>
            <a:r>
              <a:rPr lang="en-US" sz="1600" b="1" dirty="0">
                <a:solidFill>
                  <a:srgbClr val="58A6E8"/>
                </a:solidFill>
                <a:latin typeface="Calibri" pitchFamily="34" charset="0"/>
                <a:ea typeface="Calibri" pitchFamily="34" charset="-122"/>
                <a:cs typeface="Calibri" pitchFamily="34" charset="-120"/>
              </a:rPr>
              <a:t>ClickHouse</a:t>
            </a:r>
            <a:endParaRPr lang="en-US" sz="1600" dirty="0"/>
          </a:p>
        </p:txBody>
      </p:sp>
      <p:sp>
        <p:nvSpPr>
          <p:cNvPr id="6" name="Text 4"/>
          <p:cNvSpPr/>
          <p:nvPr/>
        </p:nvSpPr>
        <p:spPr>
          <a:xfrm>
            <a:off x="731520" y="2194560"/>
            <a:ext cx="2286000" cy="822960"/>
          </a:xfrm>
          <a:prstGeom prst="rect">
            <a:avLst/>
          </a:prstGeom>
          <a:noFill/>
          <a:ln/>
        </p:spPr>
        <p:txBody>
          <a:bodyPr wrap="square" lIns="0" tIns="0" rIns="0" bIns="0" rtlCol="0" anchor="ctr"/>
          <a:lstStyle/>
          <a:p>
            <a:pPr indent="0" marL="0">
              <a:buNone/>
            </a:pPr>
            <a:r>
              <a:rPr lang="en-US" sz="1150" dirty="0">
                <a:solidFill>
                  <a:srgbClr val="9AAFC4"/>
                </a:solidFill>
                <a:latin typeface="Calibri" pitchFamily="34" charset="0"/>
                <a:ea typeface="Calibri" pitchFamily="34" charset="-122"/>
                <a:cs typeface="Calibri" pitchFamily="34" charset="-120"/>
              </a:rPr>
              <a:t>runs every baseline,</a:t>
            </a:r>
            <a:endParaRPr lang="en-US" sz="1150" dirty="0"/>
          </a:p>
          <a:p>
            <a:pPr indent="0" marL="0">
              <a:buNone/>
            </a:pPr>
            <a:r>
              <a:rPr lang="en-US" sz="1150" dirty="0">
                <a:solidFill>
                  <a:srgbClr val="9AAFC4"/>
                </a:solidFill>
                <a:latin typeface="Calibri" pitchFamily="34" charset="0"/>
                <a:ea typeface="Calibri" pitchFamily="34" charset="-122"/>
                <a:cs typeface="Calibri" pitchFamily="34" charset="-120"/>
              </a:rPr>
              <a:t>rank and drill-down query</a:t>
            </a:r>
            <a:endParaRPr lang="en-US" sz="1150" dirty="0"/>
          </a:p>
        </p:txBody>
      </p:sp>
      <p:sp>
        <p:nvSpPr>
          <p:cNvPr id="7" name="Text 5"/>
          <p:cNvSpPr/>
          <p:nvPr/>
        </p:nvSpPr>
        <p:spPr>
          <a:xfrm>
            <a:off x="3154680" y="2148840"/>
            <a:ext cx="365760" cy="457200"/>
          </a:xfrm>
          <a:prstGeom prst="rect">
            <a:avLst/>
          </a:prstGeom>
          <a:noFill/>
          <a:ln/>
        </p:spPr>
        <p:txBody>
          <a:bodyPr wrap="square" lIns="0" tIns="0" rIns="0" bIns="0" rtlCol="0" anchor="ctr"/>
          <a:lstStyle/>
          <a:p>
            <a:pPr algn="ctr" indent="0" marL="0">
              <a:buNone/>
            </a:pPr>
            <a:r>
              <a:rPr lang="en-US" sz="2200" b="1" dirty="0">
                <a:solidFill>
                  <a:srgbClr val="6E839A"/>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3520440" y="1600200"/>
            <a:ext cx="2606040" cy="1554480"/>
          </a:xfrm>
          <a:prstGeom prst="roundRect">
            <a:avLst>
              <a:gd name="adj" fmla="val 4118"/>
            </a:avLst>
          </a:prstGeom>
          <a:solidFill>
            <a:srgbClr val="18242F"/>
          </a:solidFill>
          <a:ln w="9525">
            <a:solidFill>
              <a:srgbClr val="45C489"/>
            </a:solidFill>
            <a:prstDash val="solid"/>
          </a:ln>
        </p:spPr>
      </p:sp>
      <p:sp>
        <p:nvSpPr>
          <p:cNvPr id="9" name="Text 7"/>
          <p:cNvSpPr/>
          <p:nvPr/>
        </p:nvSpPr>
        <p:spPr>
          <a:xfrm>
            <a:off x="3703320" y="1783080"/>
            <a:ext cx="2240280" cy="365760"/>
          </a:xfrm>
          <a:prstGeom prst="rect">
            <a:avLst/>
          </a:prstGeom>
          <a:noFill/>
          <a:ln/>
        </p:spPr>
        <p:txBody>
          <a:bodyPr wrap="square" lIns="0" tIns="0" rIns="0" bIns="0" rtlCol="0" anchor="ctr"/>
          <a:lstStyle/>
          <a:p>
            <a:pPr indent="0" marL="0">
              <a:buNone/>
            </a:pPr>
            <a:r>
              <a:rPr lang="en-US" sz="1600" b="1" dirty="0">
                <a:solidFill>
                  <a:srgbClr val="45C489"/>
                </a:solidFill>
                <a:latin typeface="Calibri" pitchFamily="34" charset="0"/>
                <a:ea typeface="Calibri" pitchFamily="34" charset="-122"/>
                <a:cs typeface="Calibri" pitchFamily="34" charset="-120"/>
              </a:rPr>
              <a:t>Evidence bundle</a:t>
            </a:r>
            <a:endParaRPr lang="en-US" sz="1600" dirty="0"/>
          </a:p>
        </p:txBody>
      </p:sp>
      <p:sp>
        <p:nvSpPr>
          <p:cNvPr id="10" name="Text 8"/>
          <p:cNvSpPr/>
          <p:nvPr/>
        </p:nvSpPr>
        <p:spPr>
          <a:xfrm>
            <a:off x="3703320" y="2194560"/>
            <a:ext cx="2286000" cy="822960"/>
          </a:xfrm>
          <a:prstGeom prst="rect">
            <a:avLst/>
          </a:prstGeom>
          <a:noFill/>
          <a:ln/>
        </p:spPr>
        <p:txBody>
          <a:bodyPr wrap="square" lIns="0" tIns="0" rIns="0" bIns="0" rtlCol="0" anchor="ctr"/>
          <a:lstStyle/>
          <a:p>
            <a:pPr indent="0" marL="0">
              <a:buNone/>
            </a:pPr>
            <a:r>
              <a:rPr lang="en-US" sz="1150" dirty="0">
                <a:solidFill>
                  <a:srgbClr val="9AAFC4"/>
                </a:solidFill>
                <a:latin typeface="Calibri" pitchFamily="34" charset="0"/>
                <a:ea typeface="Calibri" pitchFamily="34" charset="-122"/>
                <a:cs typeface="Calibri" pitchFamily="34" charset="-120"/>
              </a:rPr>
              <a:t>finished JSON — every number</a:t>
            </a:r>
            <a:endParaRPr lang="en-US" sz="1150" dirty="0"/>
          </a:p>
          <a:p>
            <a:pPr indent="0" marL="0">
              <a:buNone/>
            </a:pPr>
            <a:r>
              <a:rPr lang="en-US" sz="1150" dirty="0">
                <a:solidFill>
                  <a:srgbClr val="9AAFC4"/>
                </a:solidFill>
                <a:latin typeface="Calibri" pitchFamily="34" charset="0"/>
                <a:ea typeface="Calibri" pitchFamily="34" charset="-122"/>
                <a:cs typeface="Calibri" pitchFamily="34" charset="-120"/>
              </a:rPr>
              <a:t>already computed and logged</a:t>
            </a:r>
            <a:endParaRPr lang="en-US" sz="1150" dirty="0"/>
          </a:p>
        </p:txBody>
      </p:sp>
      <p:sp>
        <p:nvSpPr>
          <p:cNvPr id="11" name="Text 9"/>
          <p:cNvSpPr/>
          <p:nvPr/>
        </p:nvSpPr>
        <p:spPr>
          <a:xfrm>
            <a:off x="6126480" y="2148840"/>
            <a:ext cx="365760" cy="457200"/>
          </a:xfrm>
          <a:prstGeom prst="rect">
            <a:avLst/>
          </a:prstGeom>
          <a:noFill/>
          <a:ln/>
        </p:spPr>
        <p:txBody>
          <a:bodyPr wrap="square" lIns="0" tIns="0" rIns="0" bIns="0" rtlCol="0" anchor="ctr"/>
          <a:lstStyle/>
          <a:p>
            <a:pPr algn="ctr" indent="0" marL="0">
              <a:buNone/>
            </a:pPr>
            <a:r>
              <a:rPr lang="en-US" sz="2200" b="1" dirty="0">
                <a:solidFill>
                  <a:srgbClr val="6E839A"/>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6492240" y="1600200"/>
            <a:ext cx="2606040" cy="1554480"/>
          </a:xfrm>
          <a:prstGeom prst="roundRect">
            <a:avLst>
              <a:gd name="adj" fmla="val 4118"/>
            </a:avLst>
          </a:prstGeom>
          <a:solidFill>
            <a:srgbClr val="18242F"/>
          </a:solidFill>
          <a:ln w="9525">
            <a:solidFill>
              <a:srgbClr val="F2A93B"/>
            </a:solidFill>
            <a:prstDash val="solid"/>
          </a:ln>
        </p:spPr>
      </p:sp>
      <p:sp>
        <p:nvSpPr>
          <p:cNvPr id="13" name="Text 11"/>
          <p:cNvSpPr/>
          <p:nvPr/>
        </p:nvSpPr>
        <p:spPr>
          <a:xfrm>
            <a:off x="6675120" y="1783080"/>
            <a:ext cx="2240280" cy="365760"/>
          </a:xfrm>
          <a:prstGeom prst="rect">
            <a:avLst/>
          </a:prstGeom>
          <a:noFill/>
          <a:ln/>
        </p:spPr>
        <p:txBody>
          <a:bodyPr wrap="square" lIns="0" tIns="0" rIns="0" bIns="0" rtlCol="0" anchor="ctr"/>
          <a:lstStyle/>
          <a:p>
            <a:pPr indent="0" marL="0">
              <a:buNone/>
            </a:pPr>
            <a:r>
              <a:rPr lang="en-US" sz="1600" b="1" dirty="0">
                <a:solidFill>
                  <a:srgbClr val="F2A93B"/>
                </a:solidFill>
                <a:latin typeface="Calibri" pitchFamily="34" charset="0"/>
                <a:ea typeface="Calibri" pitchFamily="34" charset="-122"/>
                <a:cs typeface="Calibri" pitchFamily="34" charset="-120"/>
              </a:rPr>
              <a:t>LLM narrator</a:t>
            </a:r>
            <a:endParaRPr lang="en-US" sz="1600" dirty="0"/>
          </a:p>
        </p:txBody>
      </p:sp>
      <p:sp>
        <p:nvSpPr>
          <p:cNvPr id="14" name="Text 12"/>
          <p:cNvSpPr/>
          <p:nvPr/>
        </p:nvSpPr>
        <p:spPr>
          <a:xfrm>
            <a:off x="6675120" y="2194560"/>
            <a:ext cx="2286000" cy="822960"/>
          </a:xfrm>
          <a:prstGeom prst="rect">
            <a:avLst/>
          </a:prstGeom>
          <a:noFill/>
          <a:ln/>
        </p:spPr>
        <p:txBody>
          <a:bodyPr wrap="square" lIns="0" tIns="0" rIns="0" bIns="0" rtlCol="0" anchor="ctr"/>
          <a:lstStyle/>
          <a:p>
            <a:pPr indent="0" marL="0">
              <a:buNone/>
            </a:pPr>
            <a:r>
              <a:rPr lang="en-US" sz="1150" dirty="0">
                <a:solidFill>
                  <a:srgbClr val="9AAFC4"/>
                </a:solidFill>
                <a:latin typeface="Calibri" pitchFamily="34" charset="0"/>
                <a:ea typeface="Calibri" pitchFamily="34" charset="-122"/>
                <a:cs typeface="Calibri" pitchFamily="34" charset="-120"/>
              </a:rPr>
              <a:t>restates the bundle.</a:t>
            </a:r>
            <a:endParaRPr lang="en-US" sz="1150" dirty="0"/>
          </a:p>
          <a:p>
            <a:pPr indent="0" marL="0">
              <a:buNone/>
            </a:pPr>
            <a:r>
              <a:rPr lang="en-US" sz="1150" dirty="0">
                <a:solidFill>
                  <a:srgbClr val="9AAFC4"/>
                </a:solidFill>
                <a:latin typeface="Calibri" pitchFamily="34" charset="0"/>
                <a:ea typeface="Calibri" pitchFamily="34" charset="-122"/>
                <a:cs typeface="Calibri" pitchFamily="34" charset="-120"/>
              </a:rPr>
              <a:t>Cannot compute. Cannot add numbers.</a:t>
            </a:r>
            <a:endParaRPr lang="en-US" sz="1150" dirty="0"/>
          </a:p>
        </p:txBody>
      </p:sp>
      <p:sp>
        <p:nvSpPr>
          <p:cNvPr id="15" name="Text 13"/>
          <p:cNvSpPr/>
          <p:nvPr/>
        </p:nvSpPr>
        <p:spPr>
          <a:xfrm>
            <a:off x="9098280" y="2148840"/>
            <a:ext cx="365760" cy="457200"/>
          </a:xfrm>
          <a:prstGeom prst="rect">
            <a:avLst/>
          </a:prstGeom>
          <a:noFill/>
          <a:ln/>
        </p:spPr>
        <p:txBody>
          <a:bodyPr wrap="square" lIns="0" tIns="0" rIns="0" bIns="0" rtlCol="0" anchor="ctr"/>
          <a:lstStyle/>
          <a:p>
            <a:pPr algn="ctr" indent="0" marL="0">
              <a:buNone/>
            </a:pPr>
            <a:r>
              <a:rPr lang="en-US" sz="2200" b="1" dirty="0">
                <a:solidFill>
                  <a:srgbClr val="6E839A"/>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464040" y="1600200"/>
            <a:ext cx="2606040" cy="1554480"/>
          </a:xfrm>
          <a:prstGeom prst="roundRect">
            <a:avLst>
              <a:gd name="adj" fmla="val 4118"/>
            </a:avLst>
          </a:prstGeom>
          <a:solidFill>
            <a:srgbClr val="18242F"/>
          </a:solidFill>
          <a:ln w="9525">
            <a:solidFill>
              <a:srgbClr val="F2F6FA"/>
            </a:solidFill>
            <a:prstDash val="solid"/>
          </a:ln>
        </p:spPr>
      </p:sp>
      <p:sp>
        <p:nvSpPr>
          <p:cNvPr id="17" name="Text 15"/>
          <p:cNvSpPr/>
          <p:nvPr/>
        </p:nvSpPr>
        <p:spPr>
          <a:xfrm>
            <a:off x="9646920" y="1783080"/>
            <a:ext cx="2240280" cy="365760"/>
          </a:xfrm>
          <a:prstGeom prst="rect">
            <a:avLst/>
          </a:prstGeom>
          <a:noFill/>
          <a:ln/>
        </p:spPr>
        <p:txBody>
          <a:bodyPr wrap="square" lIns="0" tIns="0" rIns="0" bIns="0" rtlCol="0" anchor="ctr"/>
          <a:lstStyle/>
          <a:p>
            <a:pPr indent="0" marL="0">
              <a:buNone/>
            </a:pPr>
            <a:r>
              <a:rPr lang="en-US" sz="1600" b="1" dirty="0">
                <a:solidFill>
                  <a:srgbClr val="F2F6FA"/>
                </a:solidFill>
                <a:latin typeface="Calibri" pitchFamily="34" charset="0"/>
                <a:ea typeface="Calibri" pitchFamily="34" charset="-122"/>
                <a:cs typeface="Calibri" pitchFamily="34" charset="-120"/>
              </a:rPr>
              <a:t>Diagnosis</a:t>
            </a:r>
            <a:endParaRPr lang="en-US" sz="1600" dirty="0"/>
          </a:p>
        </p:txBody>
      </p:sp>
      <p:sp>
        <p:nvSpPr>
          <p:cNvPr id="18" name="Text 16"/>
          <p:cNvSpPr/>
          <p:nvPr/>
        </p:nvSpPr>
        <p:spPr>
          <a:xfrm>
            <a:off x="9646920" y="2194560"/>
            <a:ext cx="2286000" cy="822960"/>
          </a:xfrm>
          <a:prstGeom prst="rect">
            <a:avLst/>
          </a:prstGeom>
          <a:noFill/>
          <a:ln/>
        </p:spPr>
        <p:txBody>
          <a:bodyPr wrap="square" lIns="0" tIns="0" rIns="0" bIns="0" rtlCol="0" anchor="ctr"/>
          <a:lstStyle/>
          <a:p>
            <a:pPr indent="0" marL="0">
              <a:buNone/>
            </a:pPr>
            <a:r>
              <a:rPr lang="en-US" sz="1150" dirty="0">
                <a:solidFill>
                  <a:srgbClr val="9AAFC4"/>
                </a:solidFill>
                <a:latin typeface="Calibri" pitchFamily="34" charset="0"/>
                <a:ea typeface="Calibri" pitchFamily="34" charset="-122"/>
                <a:cs typeface="Calibri" pitchFamily="34" charset="-120"/>
              </a:rPr>
              <a:t>every claim cites a source_step</a:t>
            </a:r>
            <a:endParaRPr lang="en-US" sz="1150" dirty="0"/>
          </a:p>
          <a:p>
            <a:pPr indent="0" marL="0">
              <a:buNone/>
            </a:pPr>
            <a:r>
              <a:rPr lang="en-US" sz="1150" dirty="0">
                <a:solidFill>
                  <a:srgbClr val="9AAFC4"/>
                </a:solidFill>
                <a:latin typeface="Calibri" pitchFamily="34" charset="0"/>
                <a:ea typeface="Calibri" pitchFamily="34" charset="-122"/>
                <a:cs typeface="Calibri" pitchFamily="34" charset="-120"/>
              </a:rPr>
              <a:t>naming a runnable query</a:t>
            </a:r>
            <a:endParaRPr lang="en-US" sz="1150" dirty="0"/>
          </a:p>
        </p:txBody>
      </p:sp>
      <p:sp>
        <p:nvSpPr>
          <p:cNvPr id="19" name="Text 17"/>
          <p:cNvSpPr/>
          <p:nvPr/>
        </p:nvSpPr>
        <p:spPr>
          <a:xfrm>
            <a:off x="548640" y="3520440"/>
            <a:ext cx="10972800" cy="365760"/>
          </a:xfrm>
          <a:prstGeom prst="rect">
            <a:avLst/>
          </a:prstGeom>
          <a:noFill/>
          <a:ln/>
        </p:spPr>
        <p:txBody>
          <a:bodyPr wrap="square" lIns="0" tIns="0" rIns="0" bIns="0" rtlCol="0" anchor="ctr"/>
          <a:lstStyle/>
          <a:p>
            <a:pPr indent="0" marL="0">
              <a:buNone/>
            </a:pPr>
            <a:r>
              <a:rPr lang="en-US" sz="1500" b="1" dirty="0">
                <a:solidFill>
                  <a:srgbClr val="F2F6FA"/>
                </a:solidFill>
                <a:latin typeface="Calibri" pitchFamily="34" charset="0"/>
                <a:ea typeface="Calibri" pitchFamily="34" charset="-122"/>
                <a:cs typeface="Calibri" pitchFamily="34" charset="-120"/>
              </a:rPr>
              <a:t>Three guardrails, enforced in code — not in a prompt:</a:t>
            </a:r>
            <a:endParaRPr lang="en-US" sz="1500" dirty="0"/>
          </a:p>
        </p:txBody>
      </p:sp>
      <p:sp>
        <p:nvSpPr>
          <p:cNvPr id="20" name="Shape 18"/>
          <p:cNvSpPr/>
          <p:nvPr/>
        </p:nvSpPr>
        <p:spPr>
          <a:xfrm>
            <a:off x="640080" y="4050792"/>
            <a:ext cx="310896" cy="310896"/>
          </a:xfrm>
          <a:prstGeom prst="ellipse">
            <a:avLst/>
          </a:prstGeom>
          <a:solidFill>
            <a:srgbClr val="F2A93B"/>
          </a:solidFill>
          <a:ln/>
        </p:spPr>
      </p:sp>
      <p:sp>
        <p:nvSpPr>
          <p:cNvPr id="21" name="Text 19"/>
          <p:cNvSpPr/>
          <p:nvPr/>
        </p:nvSpPr>
        <p:spPr>
          <a:xfrm>
            <a:off x="548640" y="4032504"/>
            <a:ext cx="493776" cy="310896"/>
          </a:xfrm>
          <a:prstGeom prst="rect">
            <a:avLst/>
          </a:prstGeom>
          <a:noFill/>
          <a:ln/>
        </p:spPr>
        <p:txBody>
          <a:bodyPr wrap="square" lIns="0" tIns="0" rIns="0" bIns="0" rtlCol="0" anchor="ctr"/>
          <a:lstStyle/>
          <a:p>
            <a:pPr algn="ctr" indent="0" marL="0">
              <a:buNone/>
            </a:pPr>
            <a:r>
              <a:rPr lang="en-US" sz="1100" b="1" dirty="0">
                <a:solidFill>
                  <a:srgbClr val="0F1722"/>
                </a:solidFill>
                <a:latin typeface="Calibri" pitchFamily="34" charset="0"/>
                <a:ea typeface="Calibri" pitchFamily="34" charset="-122"/>
                <a:cs typeface="Calibri" pitchFamily="34" charset="-120"/>
              </a:rPr>
              <a:t>1</a:t>
            </a:r>
            <a:endParaRPr lang="en-US" sz="1100" dirty="0"/>
          </a:p>
        </p:txBody>
      </p:sp>
      <p:sp>
        <p:nvSpPr>
          <p:cNvPr id="22" name="Text 20"/>
          <p:cNvSpPr/>
          <p:nvPr/>
        </p:nvSpPr>
        <p:spPr>
          <a:xfrm>
            <a:off x="1143000" y="3931920"/>
            <a:ext cx="10332720" cy="777240"/>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No number without a query.  </a:t>
            </a:r>
            <a:pPr indent="0" marL="0">
              <a:buNone/>
            </a:pPr>
            <a:r>
              <a:rPr lang="en-US" sz="1350" dirty="0">
                <a:solidFill>
                  <a:srgbClr val="9AAFC4"/>
                </a:solidFill>
                <a:latin typeface="Calibri" pitchFamily="34" charset="0"/>
                <a:ea typeface="Calibri" pitchFamily="34" charset="-122"/>
                <a:cs typeface="Calibri" pitchFamily="34" charset="-120"/>
              </a:rPr>
              <a:t>If the narrator needs a figure that isn’t in the bundle, that is a bug in the evidence step — the LLM is never allowed to estimate it.</a:t>
            </a:r>
            <a:endParaRPr lang="en-US" sz="1350" dirty="0"/>
          </a:p>
        </p:txBody>
      </p:sp>
      <p:sp>
        <p:nvSpPr>
          <p:cNvPr id="23" name="Shape 21"/>
          <p:cNvSpPr/>
          <p:nvPr/>
        </p:nvSpPr>
        <p:spPr>
          <a:xfrm>
            <a:off x="640080" y="4855464"/>
            <a:ext cx="310896" cy="310896"/>
          </a:xfrm>
          <a:prstGeom prst="ellipse">
            <a:avLst/>
          </a:prstGeom>
          <a:solidFill>
            <a:srgbClr val="F2A93B"/>
          </a:solidFill>
          <a:ln/>
        </p:spPr>
      </p:sp>
      <p:sp>
        <p:nvSpPr>
          <p:cNvPr id="24" name="Text 22"/>
          <p:cNvSpPr/>
          <p:nvPr/>
        </p:nvSpPr>
        <p:spPr>
          <a:xfrm>
            <a:off x="548640" y="4837176"/>
            <a:ext cx="493776" cy="310896"/>
          </a:xfrm>
          <a:prstGeom prst="rect">
            <a:avLst/>
          </a:prstGeom>
          <a:noFill/>
          <a:ln/>
        </p:spPr>
        <p:txBody>
          <a:bodyPr wrap="square" lIns="0" tIns="0" rIns="0" bIns="0" rtlCol="0" anchor="ctr"/>
          <a:lstStyle/>
          <a:p>
            <a:pPr algn="ctr" indent="0" marL="0">
              <a:buNone/>
            </a:pPr>
            <a:r>
              <a:rPr lang="en-US" sz="1100" b="1" dirty="0">
                <a:solidFill>
                  <a:srgbClr val="0F1722"/>
                </a:solidFill>
                <a:latin typeface="Calibri" pitchFamily="34" charset="0"/>
                <a:ea typeface="Calibri" pitchFamily="34" charset="-122"/>
                <a:cs typeface="Calibri" pitchFamily="34" charset="-120"/>
              </a:rPr>
              <a:t>2</a:t>
            </a:r>
            <a:endParaRPr lang="en-US" sz="1100" dirty="0"/>
          </a:p>
        </p:txBody>
      </p:sp>
      <p:sp>
        <p:nvSpPr>
          <p:cNvPr id="25" name="Text 23"/>
          <p:cNvSpPr/>
          <p:nvPr/>
        </p:nvSpPr>
        <p:spPr>
          <a:xfrm>
            <a:off x="1143000" y="4736592"/>
            <a:ext cx="10332720" cy="777240"/>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Every claim names its source.  </a:t>
            </a:r>
            <a:pPr indent="0" marL="0">
              <a:buNone/>
            </a:pPr>
            <a:r>
              <a:rPr lang="en-US" sz="1350" dirty="0">
                <a:solidFill>
                  <a:srgbClr val="9AAFC4"/>
                </a:solidFill>
                <a:latin typeface="Calibri" pitchFamily="34" charset="0"/>
                <a:ea typeface="Calibri" pitchFamily="34" charset="-122"/>
                <a:cs typeface="Calibri" pitchFamily="34" charset="-120"/>
              </a:rPr>
              <a:t>Each narrated sentence carries a source_step like “per the rank:hourly_by_region:current query” — the prose itself points at a runnable query.</a:t>
            </a:r>
            <a:endParaRPr lang="en-US" sz="1350" dirty="0"/>
          </a:p>
        </p:txBody>
      </p:sp>
      <p:sp>
        <p:nvSpPr>
          <p:cNvPr id="26" name="Shape 24"/>
          <p:cNvSpPr/>
          <p:nvPr/>
        </p:nvSpPr>
        <p:spPr>
          <a:xfrm>
            <a:off x="640080" y="5660136"/>
            <a:ext cx="310896" cy="310896"/>
          </a:xfrm>
          <a:prstGeom prst="ellipse">
            <a:avLst/>
          </a:prstGeom>
          <a:solidFill>
            <a:srgbClr val="F2A93B"/>
          </a:solidFill>
          <a:ln/>
        </p:spPr>
      </p:sp>
      <p:sp>
        <p:nvSpPr>
          <p:cNvPr id="27" name="Text 25"/>
          <p:cNvSpPr/>
          <p:nvPr/>
        </p:nvSpPr>
        <p:spPr>
          <a:xfrm>
            <a:off x="548640" y="5641848"/>
            <a:ext cx="493776" cy="310896"/>
          </a:xfrm>
          <a:prstGeom prst="rect">
            <a:avLst/>
          </a:prstGeom>
          <a:noFill/>
          <a:ln/>
        </p:spPr>
        <p:txBody>
          <a:bodyPr wrap="square" lIns="0" tIns="0" rIns="0" bIns="0" rtlCol="0" anchor="ctr"/>
          <a:lstStyle/>
          <a:p>
            <a:pPr algn="ctr" indent="0" marL="0">
              <a:buNone/>
            </a:pPr>
            <a:r>
              <a:rPr lang="en-US" sz="1100" b="1" dirty="0">
                <a:solidFill>
                  <a:srgbClr val="0F1722"/>
                </a:solidFill>
                <a:latin typeface="Calibri" pitchFamily="34" charset="0"/>
                <a:ea typeface="Calibri" pitchFamily="34" charset="-122"/>
                <a:cs typeface="Calibri" pitchFamily="34" charset="-120"/>
              </a:rPr>
              <a:t>3</a:t>
            </a:r>
            <a:endParaRPr lang="en-US" sz="1100" dirty="0"/>
          </a:p>
        </p:txBody>
      </p:sp>
      <p:sp>
        <p:nvSpPr>
          <p:cNvPr id="28" name="Text 26"/>
          <p:cNvSpPr/>
          <p:nvPr/>
        </p:nvSpPr>
        <p:spPr>
          <a:xfrm>
            <a:off x="1143000" y="5541264"/>
            <a:ext cx="10332720" cy="777240"/>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Fails safe, never silent-wrong.  </a:t>
            </a:r>
            <a:pPr indent="0" marL="0">
              <a:buNone/>
            </a:pPr>
            <a:r>
              <a:rPr lang="en-US" sz="1350" dirty="0">
                <a:solidFill>
                  <a:srgbClr val="9AAFC4"/>
                </a:solidFill>
                <a:latin typeface="Calibri" pitchFamily="34" charset="0"/>
                <a:ea typeface="Calibri" pitchFamily="34" charset="-122"/>
                <a:cs typeface="Calibri" pitchFamily="34" charset="-120"/>
              </a:rPr>
              <a:t>If the LLM or Langfuse is unreachable, we return the deterministic evidence with an explicit “narration unavailable” flag. Never a templated or guessed number.</a:t>
            </a:r>
            <a:endParaRPr lang="en-US" sz="1350" dirty="0"/>
          </a:p>
        </p:txBody>
      </p:sp>
      <p:sp>
        <p:nvSpPr>
          <p:cNvPr id="30" name="Text 27"/>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F2A93B"/>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One pipeline, four services, no state outside ClickHouse + Langfuse</a:t>
            </a:r>
            <a:endParaRPr lang="en-US" sz="3000" dirty="0"/>
          </a:p>
        </p:txBody>
      </p:sp>
      <p:sp>
        <p:nvSpPr>
          <p:cNvPr id="4" name="Shape 2"/>
          <p:cNvSpPr/>
          <p:nvPr/>
        </p:nvSpPr>
        <p:spPr>
          <a:xfrm>
            <a:off x="548640" y="1554480"/>
            <a:ext cx="1764792" cy="1371600"/>
          </a:xfrm>
          <a:prstGeom prst="roundRect">
            <a:avLst>
              <a:gd name="adj" fmla="val 4667"/>
            </a:avLst>
          </a:prstGeom>
          <a:solidFill>
            <a:srgbClr val="18242F"/>
          </a:solidFill>
          <a:ln w="9525">
            <a:solidFill>
              <a:srgbClr val="9AAFC4"/>
            </a:solidFill>
            <a:prstDash val="solid"/>
          </a:ln>
        </p:spPr>
      </p:sp>
      <p:sp>
        <p:nvSpPr>
          <p:cNvPr id="5" name="Text 3"/>
          <p:cNvSpPr/>
          <p:nvPr/>
        </p:nvSpPr>
        <p:spPr>
          <a:xfrm>
            <a:off x="658368" y="1664208"/>
            <a:ext cx="1554480" cy="502920"/>
          </a:xfrm>
          <a:prstGeom prst="rect">
            <a:avLst/>
          </a:prstGeom>
          <a:noFill/>
          <a:ln/>
        </p:spPr>
        <p:txBody>
          <a:bodyPr wrap="square" lIns="0" tIns="0" rIns="0" bIns="0" rtlCol="0" anchor="ctr"/>
          <a:lstStyle/>
          <a:p>
            <a:pPr indent="0" marL="0">
              <a:buNone/>
            </a:pPr>
            <a:r>
              <a:rPr lang="en-US" sz="1250" b="1" dirty="0">
                <a:solidFill>
                  <a:srgbClr val="9AAFC4"/>
                </a:solidFill>
                <a:latin typeface="Calibri" pitchFamily="34" charset="0"/>
                <a:ea typeface="Calibri" pitchFamily="34" charset="-122"/>
                <a:cs typeface="Calibri" pitchFamily="34" charset="-120"/>
              </a:rPr>
              <a:t>Raw events</a:t>
            </a:r>
            <a:endParaRPr lang="en-US" sz="1250" dirty="0"/>
          </a:p>
        </p:txBody>
      </p:sp>
      <p:sp>
        <p:nvSpPr>
          <p:cNvPr id="6" name="Text 4"/>
          <p:cNvSpPr/>
          <p:nvPr/>
        </p:nvSpPr>
        <p:spPr>
          <a:xfrm>
            <a:off x="658368" y="2176272"/>
            <a:ext cx="1572768" cy="685800"/>
          </a:xfrm>
          <a:prstGeom prst="rect">
            <a:avLst/>
          </a:prstGeom>
          <a:noFill/>
          <a:ln/>
        </p:spPr>
        <p:txBody>
          <a:bodyPr wrap="square" lIns="0" tIns="0" rIns="0" bIns="0" rtlCol="0" anchor="ctr"/>
          <a:lstStyle/>
          <a:p>
            <a:pPr indent="0" marL="0">
              <a:buNone/>
            </a:pPr>
            <a:r>
              <a:rPr lang="en-US" sz="950" dirty="0">
                <a:solidFill>
                  <a:srgbClr val="9AAFC4"/>
                </a:solidFill>
                <a:latin typeface="Calibri" pitchFamily="34" charset="0"/>
                <a:ea typeface="Calibri" pitchFamily="34" charset="-122"/>
                <a:cs typeface="Calibri" pitchFamily="34" charset="-120"/>
              </a:rPr>
              <a:t>9M-row fact table</a:t>
            </a:r>
            <a:endParaRPr lang="en-US" sz="950" dirty="0"/>
          </a:p>
          <a:p>
            <a:pPr indent="0" marL="0">
              <a:buNone/>
            </a:pPr>
            <a:r>
              <a:rPr lang="en-US" sz="950" dirty="0">
                <a:solidFill>
                  <a:srgbClr val="9AAFC4"/>
                </a:solidFill>
                <a:latin typeface="Calibri" pitchFamily="34" charset="0"/>
                <a:ea typeface="Calibri" pitchFamily="34" charset="-122"/>
                <a:cs typeface="Calibri" pitchFamily="34" charset="-120"/>
              </a:rPr>
              <a:t>+ 3 dimensions</a:t>
            </a:r>
            <a:endParaRPr lang="en-US" sz="950" dirty="0"/>
          </a:p>
        </p:txBody>
      </p:sp>
      <p:sp>
        <p:nvSpPr>
          <p:cNvPr id="7" name="Text 5"/>
          <p:cNvSpPr/>
          <p:nvPr/>
        </p:nvSpPr>
        <p:spPr>
          <a:xfrm>
            <a:off x="2240280" y="2011680"/>
            <a:ext cx="274320" cy="365760"/>
          </a:xfrm>
          <a:prstGeom prst="rect">
            <a:avLst/>
          </a:prstGeom>
          <a:noFill/>
          <a:ln/>
        </p:spPr>
        <p:txBody>
          <a:bodyPr wrap="square" lIns="0" tIns="0" rIns="0" bIns="0" rtlCol="0" anchor="ctr"/>
          <a:lstStyle/>
          <a:p>
            <a:pPr algn="ctr" indent="0" marL="0">
              <a:buNone/>
            </a:pPr>
            <a:r>
              <a:rPr lang="en-US" sz="1600" b="1" dirty="0">
                <a:solidFill>
                  <a:srgbClr val="6E839A"/>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2496312" y="1554480"/>
            <a:ext cx="1764792" cy="1371600"/>
          </a:xfrm>
          <a:prstGeom prst="roundRect">
            <a:avLst>
              <a:gd name="adj" fmla="val 4667"/>
            </a:avLst>
          </a:prstGeom>
          <a:solidFill>
            <a:srgbClr val="18242F"/>
          </a:solidFill>
          <a:ln w="9525">
            <a:solidFill>
              <a:srgbClr val="58A6E8"/>
            </a:solidFill>
            <a:prstDash val="solid"/>
          </a:ln>
        </p:spPr>
      </p:sp>
      <p:sp>
        <p:nvSpPr>
          <p:cNvPr id="9" name="Text 7"/>
          <p:cNvSpPr/>
          <p:nvPr/>
        </p:nvSpPr>
        <p:spPr>
          <a:xfrm>
            <a:off x="2606040" y="1664208"/>
            <a:ext cx="1554480" cy="502920"/>
          </a:xfrm>
          <a:prstGeom prst="rect">
            <a:avLst/>
          </a:prstGeom>
          <a:noFill/>
          <a:ln/>
        </p:spPr>
        <p:txBody>
          <a:bodyPr wrap="square" lIns="0" tIns="0" rIns="0" bIns="0" rtlCol="0" anchor="ctr"/>
          <a:lstStyle/>
          <a:p>
            <a:pPr indent="0" marL="0">
              <a:buNone/>
            </a:pPr>
            <a:r>
              <a:rPr lang="en-US" sz="1250" b="1" dirty="0">
                <a:solidFill>
                  <a:srgbClr val="58A6E8"/>
                </a:solidFill>
                <a:latin typeface="Calibri" pitchFamily="34" charset="0"/>
                <a:ea typeface="Calibri" pitchFamily="34" charset="-122"/>
                <a:cs typeface="Calibri" pitchFamily="34" charset="-120"/>
              </a:rPr>
              <a:t>ClickHouse Cloud</a:t>
            </a:r>
            <a:endParaRPr lang="en-US" sz="1250" dirty="0"/>
          </a:p>
        </p:txBody>
      </p:sp>
      <p:sp>
        <p:nvSpPr>
          <p:cNvPr id="10" name="Text 8"/>
          <p:cNvSpPr/>
          <p:nvPr/>
        </p:nvSpPr>
        <p:spPr>
          <a:xfrm>
            <a:off x="2606040" y="2176272"/>
            <a:ext cx="1572768" cy="685800"/>
          </a:xfrm>
          <a:prstGeom prst="rect">
            <a:avLst/>
          </a:prstGeom>
          <a:noFill/>
          <a:ln/>
        </p:spPr>
        <p:txBody>
          <a:bodyPr wrap="square" lIns="0" tIns="0" rIns="0" bIns="0" rtlCol="0" anchor="ctr"/>
          <a:lstStyle/>
          <a:p>
            <a:pPr indent="0" marL="0">
              <a:buNone/>
            </a:pPr>
            <a:r>
              <a:rPr lang="en-US" sz="950" dirty="0">
                <a:solidFill>
                  <a:srgbClr val="9AAFC4"/>
                </a:solidFill>
                <a:latin typeface="Calibri" pitchFamily="34" charset="0"/>
                <a:ea typeface="Calibri" pitchFamily="34" charset="-122"/>
                <a:cs typeface="Calibri" pitchFamily="34" charset="-120"/>
              </a:rPr>
              <a:t>19 rollups</a:t>
            </a:r>
            <a:endParaRPr lang="en-US" sz="950" dirty="0"/>
          </a:p>
          <a:p>
            <a:pPr indent="0" marL="0">
              <a:buNone/>
            </a:pPr>
            <a:r>
              <a:rPr lang="en-US" sz="950" dirty="0">
                <a:solidFill>
                  <a:srgbClr val="9AAFC4"/>
                </a:solidFill>
                <a:latin typeface="Calibri" pitchFamily="34" charset="0"/>
                <a:ea typeface="Calibri" pitchFamily="34" charset="-122"/>
                <a:cs typeface="Calibri" pitchFamily="34" charset="-120"/>
              </a:rPr>
              <a:t>1.17M baseline bands</a:t>
            </a:r>
            <a:endParaRPr lang="en-US" sz="950" dirty="0"/>
          </a:p>
        </p:txBody>
      </p:sp>
      <p:sp>
        <p:nvSpPr>
          <p:cNvPr id="11" name="Text 9"/>
          <p:cNvSpPr/>
          <p:nvPr/>
        </p:nvSpPr>
        <p:spPr>
          <a:xfrm>
            <a:off x="4187952" y="2011680"/>
            <a:ext cx="274320" cy="365760"/>
          </a:xfrm>
          <a:prstGeom prst="rect">
            <a:avLst/>
          </a:prstGeom>
          <a:noFill/>
          <a:ln/>
        </p:spPr>
        <p:txBody>
          <a:bodyPr wrap="square" lIns="0" tIns="0" rIns="0" bIns="0" rtlCol="0" anchor="ctr"/>
          <a:lstStyle/>
          <a:p>
            <a:pPr algn="ctr" indent="0" marL="0">
              <a:buNone/>
            </a:pPr>
            <a:r>
              <a:rPr lang="en-US" sz="1600" b="1" dirty="0">
                <a:solidFill>
                  <a:srgbClr val="6E839A"/>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4443984" y="1554480"/>
            <a:ext cx="1764792" cy="1371600"/>
          </a:xfrm>
          <a:prstGeom prst="roundRect">
            <a:avLst>
              <a:gd name="adj" fmla="val 4667"/>
            </a:avLst>
          </a:prstGeom>
          <a:solidFill>
            <a:srgbClr val="18242F"/>
          </a:solidFill>
          <a:ln w="9525">
            <a:solidFill>
              <a:srgbClr val="F2A93B"/>
            </a:solidFill>
            <a:prstDash val="solid"/>
          </a:ln>
        </p:spPr>
      </p:sp>
      <p:sp>
        <p:nvSpPr>
          <p:cNvPr id="13" name="Text 11"/>
          <p:cNvSpPr/>
          <p:nvPr/>
        </p:nvSpPr>
        <p:spPr>
          <a:xfrm>
            <a:off x="4553712" y="1664208"/>
            <a:ext cx="1554480" cy="502920"/>
          </a:xfrm>
          <a:prstGeom prst="rect">
            <a:avLst/>
          </a:prstGeom>
          <a:noFill/>
          <a:ln/>
        </p:spPr>
        <p:txBody>
          <a:bodyPr wrap="square" lIns="0" tIns="0" rIns="0" bIns="0" rtlCol="0" anchor="ctr"/>
          <a:lstStyle/>
          <a:p>
            <a:pPr indent="0" marL="0">
              <a:buNone/>
            </a:pPr>
            <a:r>
              <a:rPr lang="en-US" sz="1250" b="1" dirty="0">
                <a:solidFill>
                  <a:srgbClr val="F2A93B"/>
                </a:solidFill>
                <a:latin typeface="Calibri" pitchFamily="34" charset="0"/>
                <a:ea typeface="Calibri" pitchFamily="34" charset="-122"/>
                <a:cs typeface="Calibri" pitchFamily="34" charset="-120"/>
              </a:rPr>
              <a:t>Scanner</a:t>
            </a:r>
            <a:endParaRPr lang="en-US" sz="1250" dirty="0"/>
          </a:p>
        </p:txBody>
      </p:sp>
      <p:sp>
        <p:nvSpPr>
          <p:cNvPr id="14" name="Text 12"/>
          <p:cNvSpPr/>
          <p:nvPr/>
        </p:nvSpPr>
        <p:spPr>
          <a:xfrm>
            <a:off x="4553712" y="2176272"/>
            <a:ext cx="1572768" cy="685800"/>
          </a:xfrm>
          <a:prstGeom prst="rect">
            <a:avLst/>
          </a:prstGeom>
          <a:noFill/>
          <a:ln/>
        </p:spPr>
        <p:txBody>
          <a:bodyPr wrap="square" lIns="0" tIns="0" rIns="0" bIns="0" rtlCol="0" anchor="ctr"/>
          <a:lstStyle/>
          <a:p>
            <a:pPr indent="0" marL="0">
              <a:buNone/>
            </a:pPr>
            <a:r>
              <a:rPr lang="en-US" sz="950" dirty="0">
                <a:solidFill>
                  <a:srgbClr val="9AAFC4"/>
                </a:solidFill>
                <a:latin typeface="Calibri" pitchFamily="34" charset="0"/>
                <a:ea typeface="Calibri" pitchFamily="34" charset="-122"/>
                <a:cs typeface="Calibri" pitchFamily="34" charset="-120"/>
              </a:rPr>
              <a:t>30 s ticks</a:t>
            </a:r>
            <a:endParaRPr lang="en-US" sz="950" dirty="0"/>
          </a:p>
          <a:p>
            <a:pPr indent="0" marL="0">
              <a:buNone/>
            </a:pPr>
            <a:r>
              <a:rPr lang="en-US" sz="950" dirty="0">
                <a:solidFill>
                  <a:srgbClr val="9AAFC4"/>
                </a:solidFill>
                <a:latin typeface="Calibri" pitchFamily="34" charset="0"/>
                <a:ea typeface="Calibri" pitchFamily="34" charset="-122"/>
                <a:cs typeface="Calibri" pitchFamily="34" charset="-120"/>
              </a:rPr>
              <a:t>sweep → cluster → gate</a:t>
            </a:r>
            <a:endParaRPr lang="en-US" sz="950" dirty="0"/>
          </a:p>
        </p:txBody>
      </p:sp>
      <p:sp>
        <p:nvSpPr>
          <p:cNvPr id="15" name="Text 13"/>
          <p:cNvSpPr/>
          <p:nvPr/>
        </p:nvSpPr>
        <p:spPr>
          <a:xfrm>
            <a:off x="6135624" y="2011680"/>
            <a:ext cx="274320" cy="365760"/>
          </a:xfrm>
          <a:prstGeom prst="rect">
            <a:avLst/>
          </a:prstGeom>
          <a:noFill/>
          <a:ln/>
        </p:spPr>
        <p:txBody>
          <a:bodyPr wrap="square" lIns="0" tIns="0" rIns="0" bIns="0" rtlCol="0" anchor="ctr"/>
          <a:lstStyle/>
          <a:p>
            <a:pPr algn="ctr" indent="0" marL="0">
              <a:buNone/>
            </a:pPr>
            <a:r>
              <a:rPr lang="en-US" sz="1600" b="1" dirty="0">
                <a:solidFill>
                  <a:srgbClr val="6E839A"/>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391656" y="1554480"/>
            <a:ext cx="1764792" cy="1371600"/>
          </a:xfrm>
          <a:prstGeom prst="roundRect">
            <a:avLst>
              <a:gd name="adj" fmla="val 4667"/>
            </a:avLst>
          </a:prstGeom>
          <a:solidFill>
            <a:srgbClr val="18242F"/>
          </a:solidFill>
          <a:ln w="9525">
            <a:solidFill>
              <a:srgbClr val="F2A93B"/>
            </a:solidFill>
            <a:prstDash val="solid"/>
          </a:ln>
        </p:spPr>
      </p:sp>
      <p:sp>
        <p:nvSpPr>
          <p:cNvPr id="17" name="Text 15"/>
          <p:cNvSpPr/>
          <p:nvPr/>
        </p:nvSpPr>
        <p:spPr>
          <a:xfrm>
            <a:off x="6501384" y="1664208"/>
            <a:ext cx="1554480" cy="502920"/>
          </a:xfrm>
          <a:prstGeom prst="rect">
            <a:avLst/>
          </a:prstGeom>
          <a:noFill/>
          <a:ln/>
        </p:spPr>
        <p:txBody>
          <a:bodyPr wrap="square" lIns="0" tIns="0" rIns="0" bIns="0" rtlCol="0" anchor="ctr"/>
          <a:lstStyle/>
          <a:p>
            <a:pPr indent="0" marL="0">
              <a:buNone/>
            </a:pPr>
            <a:r>
              <a:rPr lang="en-US" sz="1250" b="1" dirty="0">
                <a:solidFill>
                  <a:srgbClr val="F2A93B"/>
                </a:solidFill>
                <a:latin typeface="Calibri" pitchFamily="34" charset="0"/>
                <a:ea typeface="Calibri" pitchFamily="34" charset="-122"/>
                <a:cs typeface="Calibri" pitchFamily="34" charset="-120"/>
              </a:rPr>
              <a:t>LangGraph engine</a:t>
            </a:r>
            <a:endParaRPr lang="en-US" sz="1250" dirty="0"/>
          </a:p>
        </p:txBody>
      </p:sp>
      <p:sp>
        <p:nvSpPr>
          <p:cNvPr id="18" name="Text 16"/>
          <p:cNvSpPr/>
          <p:nvPr/>
        </p:nvSpPr>
        <p:spPr>
          <a:xfrm>
            <a:off x="6501384" y="2176272"/>
            <a:ext cx="1572768" cy="685800"/>
          </a:xfrm>
          <a:prstGeom prst="rect">
            <a:avLst/>
          </a:prstGeom>
          <a:noFill/>
          <a:ln/>
        </p:spPr>
        <p:txBody>
          <a:bodyPr wrap="square" lIns="0" tIns="0" rIns="0" bIns="0" rtlCol="0" anchor="ctr"/>
          <a:lstStyle/>
          <a:p>
            <a:pPr indent="0" marL="0">
              <a:buNone/>
            </a:pPr>
            <a:r>
              <a:rPr lang="en-US" sz="950" dirty="0">
                <a:solidFill>
                  <a:srgbClr val="9AAFC4"/>
                </a:solidFill>
                <a:latin typeface="Calibri" pitchFamily="34" charset="0"/>
                <a:ea typeface="Calibri" pitchFamily="34" charset="-122"/>
                <a:cs typeface="Calibri" pitchFamily="34" charset="-120"/>
              </a:rPr>
              <a:t>recursive drill-down</a:t>
            </a:r>
            <a:endParaRPr lang="en-US" sz="950" dirty="0"/>
          </a:p>
          <a:p>
            <a:pPr indent="0" marL="0">
              <a:buNone/>
            </a:pPr>
            <a:r>
              <a:rPr lang="en-US" sz="950" dirty="0">
                <a:solidFill>
                  <a:srgbClr val="9AAFC4"/>
                </a:solidFill>
                <a:latin typeface="Calibri" pitchFamily="34" charset="0"/>
                <a:ea typeface="Calibri" pitchFamily="34" charset="-122"/>
                <a:cs typeface="Calibri" pitchFamily="34" charset="-120"/>
              </a:rPr>
              <a:t>(depth ≤ 3)</a:t>
            </a:r>
            <a:endParaRPr lang="en-US" sz="950" dirty="0"/>
          </a:p>
        </p:txBody>
      </p:sp>
      <p:sp>
        <p:nvSpPr>
          <p:cNvPr id="19" name="Text 17"/>
          <p:cNvSpPr/>
          <p:nvPr/>
        </p:nvSpPr>
        <p:spPr>
          <a:xfrm>
            <a:off x="8083296" y="2011680"/>
            <a:ext cx="274320" cy="365760"/>
          </a:xfrm>
          <a:prstGeom prst="rect">
            <a:avLst/>
          </a:prstGeom>
          <a:noFill/>
          <a:ln/>
        </p:spPr>
        <p:txBody>
          <a:bodyPr wrap="square" lIns="0" tIns="0" rIns="0" bIns="0" rtlCol="0" anchor="ctr"/>
          <a:lstStyle/>
          <a:p>
            <a:pPr algn="ctr" indent="0" marL="0">
              <a:buNone/>
            </a:pPr>
            <a:r>
              <a:rPr lang="en-US" sz="1600" b="1" dirty="0">
                <a:solidFill>
                  <a:srgbClr val="6E839A"/>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8339328" y="1554480"/>
            <a:ext cx="1764792" cy="1371600"/>
          </a:xfrm>
          <a:prstGeom prst="roundRect">
            <a:avLst>
              <a:gd name="adj" fmla="val 4667"/>
            </a:avLst>
          </a:prstGeom>
          <a:solidFill>
            <a:srgbClr val="18242F"/>
          </a:solidFill>
          <a:ln w="9525">
            <a:solidFill>
              <a:srgbClr val="45C489"/>
            </a:solidFill>
            <a:prstDash val="solid"/>
          </a:ln>
        </p:spPr>
      </p:sp>
      <p:sp>
        <p:nvSpPr>
          <p:cNvPr id="21" name="Text 19"/>
          <p:cNvSpPr/>
          <p:nvPr/>
        </p:nvSpPr>
        <p:spPr>
          <a:xfrm>
            <a:off x="8449056" y="1664208"/>
            <a:ext cx="1554480" cy="502920"/>
          </a:xfrm>
          <a:prstGeom prst="rect">
            <a:avLst/>
          </a:prstGeom>
          <a:noFill/>
          <a:ln/>
        </p:spPr>
        <p:txBody>
          <a:bodyPr wrap="square" lIns="0" tIns="0" rIns="0" bIns="0" rtlCol="0" anchor="ctr"/>
          <a:lstStyle/>
          <a:p>
            <a:pPr indent="0" marL="0">
              <a:buNone/>
            </a:pPr>
            <a:r>
              <a:rPr lang="en-US" sz="1250" b="1" dirty="0">
                <a:solidFill>
                  <a:srgbClr val="45C489"/>
                </a:solidFill>
                <a:latin typeface="Calibri" pitchFamily="34" charset="0"/>
                <a:ea typeface="Calibri" pitchFamily="34" charset="-122"/>
                <a:cs typeface="Calibri" pitchFamily="34" charset="-120"/>
              </a:rPr>
              <a:t>Evidence + narration</a:t>
            </a:r>
            <a:endParaRPr lang="en-US" sz="1250" dirty="0"/>
          </a:p>
        </p:txBody>
      </p:sp>
      <p:sp>
        <p:nvSpPr>
          <p:cNvPr id="22" name="Text 20"/>
          <p:cNvSpPr/>
          <p:nvPr/>
        </p:nvSpPr>
        <p:spPr>
          <a:xfrm>
            <a:off x="8449056" y="2176272"/>
            <a:ext cx="1572768" cy="685800"/>
          </a:xfrm>
          <a:prstGeom prst="rect">
            <a:avLst/>
          </a:prstGeom>
          <a:noFill/>
          <a:ln/>
        </p:spPr>
        <p:txBody>
          <a:bodyPr wrap="square" lIns="0" tIns="0" rIns="0" bIns="0" rtlCol="0" anchor="ctr"/>
          <a:lstStyle/>
          <a:p>
            <a:pPr indent="0" marL="0">
              <a:buNone/>
            </a:pPr>
            <a:r>
              <a:rPr lang="en-US" sz="950" dirty="0">
                <a:solidFill>
                  <a:srgbClr val="9AAFC4"/>
                </a:solidFill>
                <a:latin typeface="Calibri" pitchFamily="34" charset="0"/>
                <a:ea typeface="Calibri" pitchFamily="34" charset="-122"/>
                <a:cs typeface="Calibri" pitchFamily="34" charset="-120"/>
              </a:rPr>
              <a:t>Langfuse-traced</a:t>
            </a:r>
            <a:endParaRPr lang="en-US" sz="950" dirty="0"/>
          </a:p>
          <a:p>
            <a:pPr indent="0" marL="0">
              <a:buNone/>
            </a:pPr>
            <a:r>
              <a:rPr lang="en-US" sz="950" dirty="0">
                <a:solidFill>
                  <a:srgbClr val="9AAFC4"/>
                </a:solidFill>
                <a:latin typeface="Calibri" pitchFamily="34" charset="0"/>
                <a:ea typeface="Calibri" pitchFamily="34" charset="-122"/>
                <a:cs typeface="Calibri" pitchFamily="34" charset="-120"/>
              </a:rPr>
              <a:t>LLM narrates last</a:t>
            </a:r>
            <a:endParaRPr lang="en-US" sz="950" dirty="0"/>
          </a:p>
        </p:txBody>
      </p:sp>
      <p:sp>
        <p:nvSpPr>
          <p:cNvPr id="23" name="Text 21"/>
          <p:cNvSpPr/>
          <p:nvPr/>
        </p:nvSpPr>
        <p:spPr>
          <a:xfrm>
            <a:off x="10030968" y="2011680"/>
            <a:ext cx="274320" cy="365760"/>
          </a:xfrm>
          <a:prstGeom prst="rect">
            <a:avLst/>
          </a:prstGeom>
          <a:noFill/>
          <a:ln/>
        </p:spPr>
        <p:txBody>
          <a:bodyPr wrap="square" lIns="0" tIns="0" rIns="0" bIns="0" rtlCol="0" anchor="ctr"/>
          <a:lstStyle/>
          <a:p>
            <a:pPr algn="ctr" indent="0" marL="0">
              <a:buNone/>
            </a:pPr>
            <a:r>
              <a:rPr lang="en-US" sz="1600" b="1" dirty="0">
                <a:solidFill>
                  <a:srgbClr val="6E839A"/>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10287000" y="1554480"/>
            <a:ext cx="1764792" cy="1371600"/>
          </a:xfrm>
          <a:prstGeom prst="roundRect">
            <a:avLst>
              <a:gd name="adj" fmla="val 4667"/>
            </a:avLst>
          </a:prstGeom>
          <a:solidFill>
            <a:srgbClr val="18242F"/>
          </a:solidFill>
          <a:ln w="9525">
            <a:solidFill>
              <a:srgbClr val="F2F6FA"/>
            </a:solidFill>
            <a:prstDash val="solid"/>
          </a:ln>
        </p:spPr>
      </p:sp>
      <p:sp>
        <p:nvSpPr>
          <p:cNvPr id="25" name="Text 23"/>
          <p:cNvSpPr/>
          <p:nvPr/>
        </p:nvSpPr>
        <p:spPr>
          <a:xfrm>
            <a:off x="10396728" y="1664208"/>
            <a:ext cx="1554480" cy="502920"/>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API + UI</a:t>
            </a:r>
            <a:endParaRPr lang="en-US" sz="1250" dirty="0"/>
          </a:p>
        </p:txBody>
      </p:sp>
      <p:sp>
        <p:nvSpPr>
          <p:cNvPr id="26" name="Text 24"/>
          <p:cNvSpPr/>
          <p:nvPr/>
        </p:nvSpPr>
        <p:spPr>
          <a:xfrm>
            <a:off x="10396728" y="2176272"/>
            <a:ext cx="1572768" cy="685800"/>
          </a:xfrm>
          <a:prstGeom prst="rect">
            <a:avLst/>
          </a:prstGeom>
          <a:noFill/>
          <a:ln/>
        </p:spPr>
        <p:txBody>
          <a:bodyPr wrap="square" lIns="0" tIns="0" rIns="0" bIns="0" rtlCol="0" anchor="ctr"/>
          <a:lstStyle/>
          <a:p>
            <a:pPr indent="0" marL="0">
              <a:buNone/>
            </a:pPr>
            <a:r>
              <a:rPr lang="en-US" sz="950" dirty="0">
                <a:solidFill>
                  <a:srgbClr val="9AAFC4"/>
                </a:solidFill>
                <a:latin typeface="Calibri" pitchFamily="34" charset="0"/>
                <a:ea typeface="Calibri" pitchFamily="34" charset="-122"/>
                <a:cs typeface="Calibri" pitchFamily="34" charset="-120"/>
              </a:rPr>
              <a:t>stateless FastAPI</a:t>
            </a:r>
            <a:endParaRPr lang="en-US" sz="950" dirty="0"/>
          </a:p>
          <a:p>
            <a:pPr indent="0" marL="0">
              <a:buNone/>
            </a:pPr>
            <a:r>
              <a:rPr lang="en-US" sz="950" dirty="0">
                <a:solidFill>
                  <a:srgbClr val="9AAFC4"/>
                </a:solidFill>
                <a:latin typeface="Calibri" pitchFamily="34" charset="0"/>
                <a:ea typeface="Calibri" pitchFamily="34" charset="-122"/>
                <a:cs typeface="Calibri" pitchFamily="34" charset="-120"/>
              </a:rPr>
              <a:t>React ops console</a:t>
            </a:r>
            <a:endParaRPr lang="en-US" sz="950" dirty="0"/>
          </a:p>
        </p:txBody>
      </p:sp>
      <p:sp>
        <p:nvSpPr>
          <p:cNvPr id="27" name="Shape 25"/>
          <p:cNvSpPr/>
          <p:nvPr/>
        </p:nvSpPr>
        <p:spPr>
          <a:xfrm>
            <a:off x="548640" y="3200400"/>
            <a:ext cx="11064240" cy="1143000"/>
          </a:xfrm>
          <a:prstGeom prst="roundRect">
            <a:avLst>
              <a:gd name="adj" fmla="val 5600"/>
            </a:avLst>
          </a:prstGeom>
          <a:solidFill>
            <a:srgbClr val="1D2C3A"/>
          </a:solidFill>
          <a:ln w="9525">
            <a:solidFill>
              <a:srgbClr val="2A3A4D"/>
            </a:solidFill>
            <a:prstDash val="solid"/>
          </a:ln>
        </p:spPr>
      </p:sp>
      <p:sp>
        <p:nvSpPr>
          <p:cNvPr id="28" name="Text 26"/>
          <p:cNvSpPr/>
          <p:nvPr/>
        </p:nvSpPr>
        <p:spPr>
          <a:xfrm>
            <a:off x="777240" y="3310128"/>
            <a:ext cx="10607040" cy="320040"/>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Inside an investigation (LangGraph StateGraph — a real conditional cycle, not a while-loop):</a:t>
            </a:r>
            <a:endParaRPr lang="en-US" sz="1250" dirty="0"/>
          </a:p>
        </p:txBody>
      </p:sp>
      <p:sp>
        <p:nvSpPr>
          <p:cNvPr id="29" name="Text 27"/>
          <p:cNvSpPr/>
          <p:nvPr/>
        </p:nvSpPr>
        <p:spPr>
          <a:xfrm>
            <a:off x="777240" y="3639312"/>
            <a:ext cx="10607040" cy="594360"/>
          </a:xfrm>
          <a:prstGeom prst="rect">
            <a:avLst/>
          </a:prstGeom>
          <a:noFill/>
          <a:ln/>
        </p:spPr>
        <p:txBody>
          <a:bodyPr wrap="square" lIns="0" tIns="0" rIns="0" bIns="0" rtlCol="0" anchor="ctr"/>
          <a:lstStyle/>
          <a:p>
            <a:pPr indent="0" marL="0">
              <a:buNone/>
            </a:pPr>
            <a:r>
              <a:rPr lang="en-US" sz="1100" dirty="0">
                <a:solidFill>
                  <a:srgbClr val="58A6E8"/>
                </a:solidFill>
                <a:latin typeface="Courier New" pitchFamily="34" charset="0"/>
                <a:ea typeface="Courier New" pitchFamily="34" charset="-122"/>
                <a:cs typeface="Courier New" pitchFamily="34" charset="-120"/>
              </a:rPr>
              <a:t>baseline → decompose (Revenue ≈ Requests × Fill rate × eCPM/1000) → rank all dimensions concurrently → drill down recursively while it keeps localizing → rule out → evidence → narrate (the only LLM node, always last)</a:t>
            </a:r>
            <a:endParaRPr lang="en-US" sz="1100" dirty="0"/>
          </a:p>
        </p:txBody>
      </p:sp>
      <p:sp>
        <p:nvSpPr>
          <p:cNvPr id="30" name="Text 28"/>
          <p:cNvSpPr/>
          <p:nvPr/>
        </p:nvSpPr>
        <p:spPr>
          <a:xfrm>
            <a:off x="548640" y="4617720"/>
            <a:ext cx="1828800" cy="320040"/>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Stack</a:t>
            </a:r>
            <a:endParaRPr lang="en-US" sz="1300" dirty="0"/>
          </a:p>
        </p:txBody>
      </p:sp>
      <p:sp>
        <p:nvSpPr>
          <p:cNvPr id="31" name="Shape 29"/>
          <p:cNvSpPr/>
          <p:nvPr/>
        </p:nvSpPr>
        <p:spPr>
          <a:xfrm>
            <a:off x="548640" y="4983480"/>
            <a:ext cx="2651760" cy="384048"/>
          </a:xfrm>
          <a:prstGeom prst="roundRect">
            <a:avLst>
              <a:gd name="adj" fmla="val 21429"/>
            </a:avLst>
          </a:prstGeom>
          <a:solidFill>
            <a:srgbClr val="18242F"/>
          </a:solidFill>
          <a:ln w="12700">
            <a:solidFill>
              <a:srgbClr val="58A6E8"/>
            </a:solidFill>
            <a:prstDash val="solid"/>
          </a:ln>
        </p:spPr>
      </p:sp>
      <p:sp>
        <p:nvSpPr>
          <p:cNvPr id="32" name="Text 30"/>
          <p:cNvSpPr/>
          <p:nvPr/>
        </p:nvSpPr>
        <p:spPr>
          <a:xfrm>
            <a:off x="621792" y="4983480"/>
            <a:ext cx="2505456" cy="384048"/>
          </a:xfrm>
          <a:prstGeom prst="rect">
            <a:avLst/>
          </a:prstGeom>
          <a:noFill/>
          <a:ln/>
        </p:spPr>
        <p:txBody>
          <a:bodyPr wrap="square" lIns="0" tIns="0" rIns="0" bIns="0" rtlCol="0" anchor="ctr"/>
          <a:lstStyle/>
          <a:p>
            <a:pPr algn="ctr" indent="0" marL="0">
              <a:buNone/>
            </a:pPr>
            <a:r>
              <a:rPr lang="en-US" sz="1050" dirty="0">
                <a:solidFill>
                  <a:srgbClr val="58A6E8"/>
                </a:solidFill>
                <a:latin typeface="Courier New" pitchFamily="34" charset="0"/>
                <a:ea typeface="Courier New" pitchFamily="34" charset="-122"/>
                <a:cs typeface="Courier New" pitchFamily="34" charset="-120"/>
              </a:rPr>
              <a:t>ClickHouse Cloud</a:t>
            </a:r>
            <a:endParaRPr lang="en-US" sz="1050" dirty="0"/>
          </a:p>
        </p:txBody>
      </p:sp>
      <p:sp>
        <p:nvSpPr>
          <p:cNvPr id="33" name="Shape 31"/>
          <p:cNvSpPr/>
          <p:nvPr/>
        </p:nvSpPr>
        <p:spPr>
          <a:xfrm>
            <a:off x="3383280" y="4983480"/>
            <a:ext cx="2651760" cy="384048"/>
          </a:xfrm>
          <a:prstGeom prst="roundRect">
            <a:avLst>
              <a:gd name="adj" fmla="val 21429"/>
            </a:avLst>
          </a:prstGeom>
          <a:solidFill>
            <a:srgbClr val="18242F"/>
          </a:solidFill>
          <a:ln w="12700">
            <a:solidFill>
              <a:srgbClr val="9AAFC4"/>
            </a:solidFill>
            <a:prstDash val="solid"/>
          </a:ln>
        </p:spPr>
      </p:sp>
      <p:sp>
        <p:nvSpPr>
          <p:cNvPr id="34" name="Text 32"/>
          <p:cNvSpPr/>
          <p:nvPr/>
        </p:nvSpPr>
        <p:spPr>
          <a:xfrm>
            <a:off x="3456432" y="4983480"/>
            <a:ext cx="2505456" cy="384048"/>
          </a:xfrm>
          <a:prstGeom prst="rect">
            <a:avLst/>
          </a:prstGeom>
          <a:noFill/>
          <a:ln/>
        </p:spPr>
        <p:txBody>
          <a:bodyPr wrap="square" lIns="0" tIns="0" rIns="0" bIns="0" rtlCol="0" anchor="ctr"/>
          <a:lstStyle/>
          <a:p>
            <a:pPr algn="ctr" indent="0" marL="0">
              <a:buNone/>
            </a:pPr>
            <a:r>
              <a:rPr lang="en-US" sz="1050" dirty="0">
                <a:solidFill>
                  <a:srgbClr val="9AAFC4"/>
                </a:solidFill>
                <a:latin typeface="Courier New" pitchFamily="34" charset="0"/>
                <a:ea typeface="Courier New" pitchFamily="34" charset="-122"/>
                <a:cs typeface="Courier New" pitchFamily="34" charset="-120"/>
              </a:rPr>
              <a:t>LangGraph</a:t>
            </a:r>
            <a:endParaRPr lang="en-US" sz="1050" dirty="0"/>
          </a:p>
        </p:txBody>
      </p:sp>
      <p:sp>
        <p:nvSpPr>
          <p:cNvPr id="35" name="Shape 33"/>
          <p:cNvSpPr/>
          <p:nvPr/>
        </p:nvSpPr>
        <p:spPr>
          <a:xfrm>
            <a:off x="6217920" y="4983480"/>
            <a:ext cx="2651760" cy="384048"/>
          </a:xfrm>
          <a:prstGeom prst="roundRect">
            <a:avLst>
              <a:gd name="adj" fmla="val 21429"/>
            </a:avLst>
          </a:prstGeom>
          <a:solidFill>
            <a:srgbClr val="18242F"/>
          </a:solidFill>
          <a:ln w="12700">
            <a:solidFill>
              <a:srgbClr val="45C489"/>
            </a:solidFill>
            <a:prstDash val="solid"/>
          </a:ln>
        </p:spPr>
      </p:sp>
      <p:sp>
        <p:nvSpPr>
          <p:cNvPr id="36" name="Text 34"/>
          <p:cNvSpPr/>
          <p:nvPr/>
        </p:nvSpPr>
        <p:spPr>
          <a:xfrm>
            <a:off x="6291072" y="4983480"/>
            <a:ext cx="2505456" cy="384048"/>
          </a:xfrm>
          <a:prstGeom prst="rect">
            <a:avLst/>
          </a:prstGeom>
          <a:noFill/>
          <a:ln/>
        </p:spPr>
        <p:txBody>
          <a:bodyPr wrap="square" lIns="0" tIns="0" rIns="0" bIns="0" rtlCol="0" anchor="ctr"/>
          <a:lstStyle/>
          <a:p>
            <a:pPr algn="ctr" indent="0" marL="0">
              <a:buNone/>
            </a:pPr>
            <a:r>
              <a:rPr lang="en-US" sz="1050" dirty="0">
                <a:solidFill>
                  <a:srgbClr val="45C489"/>
                </a:solidFill>
                <a:latin typeface="Courier New" pitchFamily="34" charset="0"/>
                <a:ea typeface="Courier New" pitchFamily="34" charset="-122"/>
                <a:cs typeface="Courier New" pitchFamily="34" charset="-120"/>
              </a:rPr>
              <a:t>Langfuse</a:t>
            </a:r>
            <a:endParaRPr lang="en-US" sz="1050" dirty="0"/>
          </a:p>
        </p:txBody>
      </p:sp>
      <p:sp>
        <p:nvSpPr>
          <p:cNvPr id="37" name="Shape 35"/>
          <p:cNvSpPr/>
          <p:nvPr/>
        </p:nvSpPr>
        <p:spPr>
          <a:xfrm>
            <a:off x="9052560" y="4983480"/>
            <a:ext cx="2651760" cy="384048"/>
          </a:xfrm>
          <a:prstGeom prst="roundRect">
            <a:avLst>
              <a:gd name="adj" fmla="val 21429"/>
            </a:avLst>
          </a:prstGeom>
          <a:solidFill>
            <a:srgbClr val="18242F"/>
          </a:solidFill>
          <a:ln w="12700">
            <a:solidFill>
              <a:srgbClr val="9AAFC4"/>
            </a:solidFill>
            <a:prstDash val="solid"/>
          </a:ln>
        </p:spPr>
      </p:sp>
      <p:sp>
        <p:nvSpPr>
          <p:cNvPr id="38" name="Text 36"/>
          <p:cNvSpPr/>
          <p:nvPr/>
        </p:nvSpPr>
        <p:spPr>
          <a:xfrm>
            <a:off x="9125712" y="4983480"/>
            <a:ext cx="2505456" cy="384048"/>
          </a:xfrm>
          <a:prstGeom prst="rect">
            <a:avLst/>
          </a:prstGeom>
          <a:noFill/>
          <a:ln/>
        </p:spPr>
        <p:txBody>
          <a:bodyPr wrap="square" lIns="0" tIns="0" rIns="0" bIns="0" rtlCol="0" anchor="ctr"/>
          <a:lstStyle/>
          <a:p>
            <a:pPr algn="ctr" indent="0" marL="0">
              <a:buNone/>
            </a:pPr>
            <a:r>
              <a:rPr lang="en-US" sz="1050" dirty="0">
                <a:solidFill>
                  <a:srgbClr val="9AAFC4"/>
                </a:solidFill>
                <a:latin typeface="Courier New" pitchFamily="34" charset="0"/>
                <a:ea typeface="Courier New" pitchFamily="34" charset="-122"/>
                <a:cs typeface="Courier New" pitchFamily="34" charset="-120"/>
              </a:rPr>
              <a:t>Gemini (provider-agnostic)</a:t>
            </a:r>
            <a:endParaRPr lang="en-US" sz="1050" dirty="0"/>
          </a:p>
        </p:txBody>
      </p:sp>
      <p:sp>
        <p:nvSpPr>
          <p:cNvPr id="39" name="Shape 37"/>
          <p:cNvSpPr/>
          <p:nvPr/>
        </p:nvSpPr>
        <p:spPr>
          <a:xfrm>
            <a:off x="548640" y="5486400"/>
            <a:ext cx="2651760" cy="384048"/>
          </a:xfrm>
          <a:prstGeom prst="roundRect">
            <a:avLst>
              <a:gd name="adj" fmla="val 21429"/>
            </a:avLst>
          </a:prstGeom>
          <a:solidFill>
            <a:srgbClr val="18242F"/>
          </a:solidFill>
          <a:ln w="12700">
            <a:solidFill>
              <a:srgbClr val="9AAFC4"/>
            </a:solidFill>
            <a:prstDash val="solid"/>
          </a:ln>
        </p:spPr>
      </p:sp>
      <p:sp>
        <p:nvSpPr>
          <p:cNvPr id="40" name="Text 38"/>
          <p:cNvSpPr/>
          <p:nvPr/>
        </p:nvSpPr>
        <p:spPr>
          <a:xfrm>
            <a:off x="621792" y="5486400"/>
            <a:ext cx="2505456" cy="384048"/>
          </a:xfrm>
          <a:prstGeom prst="rect">
            <a:avLst/>
          </a:prstGeom>
          <a:noFill/>
          <a:ln/>
        </p:spPr>
        <p:txBody>
          <a:bodyPr wrap="square" lIns="0" tIns="0" rIns="0" bIns="0" rtlCol="0" anchor="ctr"/>
          <a:lstStyle/>
          <a:p>
            <a:pPr algn="ctr" indent="0" marL="0">
              <a:buNone/>
            </a:pPr>
            <a:r>
              <a:rPr lang="en-US" sz="1050" dirty="0">
                <a:solidFill>
                  <a:srgbClr val="9AAFC4"/>
                </a:solidFill>
                <a:latin typeface="Courier New" pitchFamily="34" charset="0"/>
                <a:ea typeface="Courier New" pitchFamily="34" charset="-122"/>
                <a:cs typeface="Courier New" pitchFamily="34" charset="-120"/>
              </a:rPr>
              <a:t>FastAPI</a:t>
            </a:r>
            <a:endParaRPr lang="en-US" sz="1050" dirty="0"/>
          </a:p>
        </p:txBody>
      </p:sp>
      <p:sp>
        <p:nvSpPr>
          <p:cNvPr id="41" name="Shape 39"/>
          <p:cNvSpPr/>
          <p:nvPr/>
        </p:nvSpPr>
        <p:spPr>
          <a:xfrm>
            <a:off x="3383280" y="5486400"/>
            <a:ext cx="2651760" cy="384048"/>
          </a:xfrm>
          <a:prstGeom prst="roundRect">
            <a:avLst>
              <a:gd name="adj" fmla="val 21429"/>
            </a:avLst>
          </a:prstGeom>
          <a:solidFill>
            <a:srgbClr val="18242F"/>
          </a:solidFill>
          <a:ln w="12700">
            <a:solidFill>
              <a:srgbClr val="9AAFC4"/>
            </a:solidFill>
            <a:prstDash val="solid"/>
          </a:ln>
        </p:spPr>
      </p:sp>
      <p:sp>
        <p:nvSpPr>
          <p:cNvPr id="42" name="Text 40"/>
          <p:cNvSpPr/>
          <p:nvPr/>
        </p:nvSpPr>
        <p:spPr>
          <a:xfrm>
            <a:off x="3456432" y="5486400"/>
            <a:ext cx="2505456" cy="384048"/>
          </a:xfrm>
          <a:prstGeom prst="rect">
            <a:avLst/>
          </a:prstGeom>
          <a:noFill/>
          <a:ln/>
        </p:spPr>
        <p:txBody>
          <a:bodyPr wrap="square" lIns="0" tIns="0" rIns="0" bIns="0" rtlCol="0" anchor="ctr"/>
          <a:lstStyle/>
          <a:p>
            <a:pPr algn="ctr" indent="0" marL="0">
              <a:buNone/>
            </a:pPr>
            <a:r>
              <a:rPr lang="en-US" sz="1050" dirty="0">
                <a:solidFill>
                  <a:srgbClr val="9AAFC4"/>
                </a:solidFill>
                <a:latin typeface="Courier New" pitchFamily="34" charset="0"/>
                <a:ea typeface="Courier New" pitchFamily="34" charset="-122"/>
                <a:cs typeface="Courier New" pitchFamily="34" charset="-120"/>
              </a:rPr>
              <a:t>React 19 + Vite</a:t>
            </a:r>
            <a:endParaRPr lang="en-US" sz="1050" dirty="0"/>
          </a:p>
        </p:txBody>
      </p:sp>
      <p:sp>
        <p:nvSpPr>
          <p:cNvPr id="43" name="Shape 41"/>
          <p:cNvSpPr/>
          <p:nvPr/>
        </p:nvSpPr>
        <p:spPr>
          <a:xfrm>
            <a:off x="6217920" y="5486400"/>
            <a:ext cx="2651760" cy="384048"/>
          </a:xfrm>
          <a:prstGeom prst="roundRect">
            <a:avLst>
              <a:gd name="adj" fmla="val 21429"/>
            </a:avLst>
          </a:prstGeom>
          <a:solidFill>
            <a:srgbClr val="18242F"/>
          </a:solidFill>
          <a:ln w="12700">
            <a:solidFill>
              <a:srgbClr val="9AAFC4"/>
            </a:solidFill>
            <a:prstDash val="solid"/>
          </a:ln>
        </p:spPr>
      </p:sp>
      <p:sp>
        <p:nvSpPr>
          <p:cNvPr id="44" name="Text 42"/>
          <p:cNvSpPr/>
          <p:nvPr/>
        </p:nvSpPr>
        <p:spPr>
          <a:xfrm>
            <a:off x="6291072" y="5486400"/>
            <a:ext cx="2505456" cy="384048"/>
          </a:xfrm>
          <a:prstGeom prst="rect">
            <a:avLst/>
          </a:prstGeom>
          <a:noFill/>
          <a:ln/>
        </p:spPr>
        <p:txBody>
          <a:bodyPr wrap="square" lIns="0" tIns="0" rIns="0" bIns="0" rtlCol="0" anchor="ctr"/>
          <a:lstStyle/>
          <a:p>
            <a:pPr algn="ctr" indent="0" marL="0">
              <a:buNone/>
            </a:pPr>
            <a:r>
              <a:rPr lang="en-US" sz="1050" dirty="0">
                <a:solidFill>
                  <a:srgbClr val="9AAFC4"/>
                </a:solidFill>
                <a:latin typeface="Courier New" pitchFamily="34" charset="0"/>
                <a:ea typeface="Courier New" pitchFamily="34" charset="-122"/>
                <a:cs typeface="Courier New" pitchFamily="34" charset="-120"/>
              </a:rPr>
              <a:t>Docker Compose × 4 services</a:t>
            </a:r>
            <a:endParaRPr lang="en-US" sz="1050" dirty="0"/>
          </a:p>
        </p:txBody>
      </p:sp>
      <p:sp>
        <p:nvSpPr>
          <p:cNvPr id="45" name="Text 43"/>
          <p:cNvSpPr/>
          <p:nvPr/>
        </p:nvSpPr>
        <p:spPr>
          <a:xfrm>
            <a:off x="548640" y="6035040"/>
            <a:ext cx="11064240" cy="548640"/>
          </a:xfrm>
          <a:prstGeom prst="rect">
            <a:avLst/>
          </a:prstGeom>
          <a:noFill/>
          <a:ln/>
        </p:spPr>
        <p:txBody>
          <a:bodyPr wrap="square" lIns="0" tIns="0" rIns="0" bIns="0" rtlCol="0" anchor="ctr"/>
          <a:lstStyle/>
          <a:p>
            <a:pPr indent="0" marL="0">
              <a:buNone/>
            </a:pPr>
            <a:r>
              <a:rPr lang="en-US" sz="1250" i="1" dirty="0">
                <a:solidFill>
                  <a:srgbClr val="9AAFC4"/>
                </a:solidFill>
                <a:latin typeface="Calibri" pitchFamily="34" charset="0"/>
                <a:ea typeface="Calibri" pitchFamily="34" charset="-122"/>
                <a:cs typeface="Calibri" pitchFamily="34" charset="-120"/>
              </a:rPr>
              <a:t>Stateless by design: the API keeps no in-process state — evidence and traces live in ClickHouse and Langfuse, so any service can be replicated horizontally.</a:t>
            </a:r>
            <a:endParaRPr lang="en-US" sz="1250" dirty="0"/>
          </a:p>
        </p:txBody>
      </p:sp>
      <p:sp>
        <p:nvSpPr>
          <p:cNvPr id="47" name="Text 44"/>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58A6E8"/>
                </a:solidFill>
                <a:latin typeface="Calibri" pitchFamily="34" charset="0"/>
                <a:ea typeface="Calibri" pitchFamily="34" charset="-122"/>
                <a:cs typeface="Calibri" pitchFamily="34" charset="-120"/>
              </a:rPr>
              <a:t>ANALYTICAL DEPTH IN CLICKHOUSE</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The database does the analysis — and we measured our own design</a:t>
            </a:r>
            <a:endParaRPr lang="en-US" sz="3000" dirty="0"/>
          </a:p>
        </p:txBody>
      </p:sp>
      <p:sp>
        <p:nvSpPr>
          <p:cNvPr id="4" name="Shape 2"/>
          <p:cNvSpPr/>
          <p:nvPr/>
        </p:nvSpPr>
        <p:spPr>
          <a:xfrm>
            <a:off x="548640" y="1463040"/>
            <a:ext cx="5577840" cy="4937760"/>
          </a:xfrm>
          <a:prstGeom prst="roundRect">
            <a:avLst>
              <a:gd name="adj" fmla="val 1296"/>
            </a:avLst>
          </a:prstGeom>
          <a:solidFill>
            <a:srgbClr val="18242F"/>
          </a:solidFill>
          <a:ln w="9525">
            <a:solidFill>
              <a:srgbClr val="2A3A4D"/>
            </a:solidFill>
            <a:prstDash val="solid"/>
          </a:ln>
        </p:spPr>
      </p:sp>
      <p:sp>
        <p:nvSpPr>
          <p:cNvPr id="5" name="Text 3"/>
          <p:cNvSpPr/>
          <p:nvPr/>
        </p:nvSpPr>
        <p:spPr>
          <a:xfrm>
            <a:off x="822960" y="1627632"/>
            <a:ext cx="5029200" cy="365760"/>
          </a:xfrm>
          <a:prstGeom prst="rect">
            <a:avLst/>
          </a:prstGeom>
          <a:noFill/>
          <a:ln/>
        </p:spPr>
        <p:txBody>
          <a:bodyPr wrap="square" lIns="0" tIns="0" rIns="0" bIns="0" rtlCol="0" anchor="ctr"/>
          <a:lstStyle/>
          <a:p>
            <a:pPr indent="0" marL="0">
              <a:buNone/>
            </a:pPr>
            <a:r>
              <a:rPr lang="en-US" sz="1600" b="1" dirty="0">
                <a:solidFill>
                  <a:srgbClr val="58A6E8"/>
                </a:solidFill>
                <a:latin typeface="Calibri" pitchFamily="34" charset="0"/>
                <a:ea typeface="Calibri" pitchFamily="34" charset="-122"/>
                <a:cs typeface="Calibri" pitchFamily="34" charset="-120"/>
              </a:rPr>
              <a:t>What ClickHouse is doing</a:t>
            </a:r>
            <a:endParaRPr lang="en-US" sz="1600" dirty="0"/>
          </a:p>
        </p:txBody>
      </p:sp>
      <p:sp>
        <p:nvSpPr>
          <p:cNvPr id="6" name="Shape 4"/>
          <p:cNvSpPr/>
          <p:nvPr/>
        </p:nvSpPr>
        <p:spPr>
          <a:xfrm>
            <a:off x="822960" y="2112264"/>
            <a:ext cx="146304" cy="146304"/>
          </a:xfrm>
          <a:prstGeom prst="ellipse">
            <a:avLst/>
          </a:prstGeom>
          <a:solidFill>
            <a:srgbClr val="58A6E8"/>
          </a:solidFill>
          <a:ln/>
        </p:spPr>
      </p:sp>
      <p:sp>
        <p:nvSpPr>
          <p:cNvPr id="7" name="Text 5"/>
          <p:cNvSpPr/>
          <p:nvPr/>
        </p:nvSpPr>
        <p:spPr>
          <a:xfrm>
            <a:off x="1097280" y="1984248"/>
            <a:ext cx="4846320" cy="868680"/>
          </a:xfrm>
          <a:prstGeom prst="rect">
            <a:avLst/>
          </a:prstGeom>
          <a:noFill/>
          <a:ln/>
        </p:spPr>
        <p:txBody>
          <a:bodyPr wrap="square" lIns="0" tIns="0" rIns="0" bIns="0" rtlCol="0" anchor="ctr"/>
          <a:lstStyle/>
          <a:p>
            <a:pPr indent="0" marL="0">
              <a:buNone/>
            </a:pPr>
            <a:r>
              <a:rPr lang="en-US" sz="1150" b="1" dirty="0">
                <a:solidFill>
                  <a:srgbClr val="F2F6FA"/>
                </a:solidFill>
                <a:latin typeface="Calibri" pitchFamily="34" charset="0"/>
                <a:ea typeface="Calibri" pitchFamily="34" charset="-122"/>
                <a:cs typeface="Calibri" pitchFamily="34" charset="-120"/>
              </a:rPr>
              <a:t>Star schema — </a:t>
            </a:r>
            <a:pPr indent="0" marL="0">
              <a:buNone/>
            </a:pPr>
            <a:r>
              <a:rPr lang="en-US" sz="1150" dirty="0">
                <a:solidFill>
                  <a:srgbClr val="9AAFC4"/>
                </a:solidFill>
                <a:latin typeface="Calibri" pitchFamily="34" charset="0"/>
                <a:ea typeface="Calibri" pitchFamily="34" charset="-122"/>
                <a:cs typeface="Calibri" pitchFamily="34" charset="-120"/>
              </a:rPr>
              <a:t>9M-row MergeTree fact table, monthly partitions, 4 bloom-filter skip indexes, 2 projections</a:t>
            </a:r>
            <a:endParaRPr lang="en-US" sz="1150" dirty="0"/>
          </a:p>
        </p:txBody>
      </p:sp>
      <p:sp>
        <p:nvSpPr>
          <p:cNvPr id="8" name="Shape 6"/>
          <p:cNvSpPr/>
          <p:nvPr/>
        </p:nvSpPr>
        <p:spPr>
          <a:xfrm>
            <a:off x="822960" y="2971800"/>
            <a:ext cx="146304" cy="146304"/>
          </a:xfrm>
          <a:prstGeom prst="ellipse">
            <a:avLst/>
          </a:prstGeom>
          <a:solidFill>
            <a:srgbClr val="58A6E8"/>
          </a:solidFill>
          <a:ln/>
        </p:spPr>
      </p:sp>
      <p:sp>
        <p:nvSpPr>
          <p:cNvPr id="9" name="Text 7"/>
          <p:cNvSpPr/>
          <p:nvPr/>
        </p:nvSpPr>
        <p:spPr>
          <a:xfrm>
            <a:off x="1097280" y="2843784"/>
            <a:ext cx="4846320" cy="868680"/>
          </a:xfrm>
          <a:prstGeom prst="rect">
            <a:avLst/>
          </a:prstGeom>
          <a:noFill/>
          <a:ln/>
        </p:spPr>
        <p:txBody>
          <a:bodyPr wrap="square" lIns="0" tIns="0" rIns="0" bIns="0" rtlCol="0" anchor="ctr"/>
          <a:lstStyle/>
          <a:p>
            <a:pPr indent="0" marL="0">
              <a:buNone/>
            </a:pPr>
            <a:r>
              <a:rPr lang="en-US" sz="1150" b="1" dirty="0">
                <a:solidFill>
                  <a:srgbClr val="F2F6FA"/>
                </a:solidFill>
                <a:latin typeface="Calibri" pitchFamily="34" charset="0"/>
                <a:ea typeface="Calibri" pitchFamily="34" charset="-122"/>
                <a:cs typeface="Calibri" pitchFamily="34" charset="-120"/>
              </a:rPr>
              <a:t>19 rollup tables — </a:t>
            </a:r>
            <a:pPr indent="0" marL="0">
              <a:buNone/>
            </a:pPr>
            <a:r>
              <a:rPr lang="en-US" sz="1150" dirty="0">
                <a:solidFill>
                  <a:srgbClr val="9AAFC4"/>
                </a:solidFill>
                <a:latin typeface="Calibri" pitchFamily="34" charset="0"/>
                <a:ea typeface="Calibri" pitchFamily="34" charset="-122"/>
                <a:cs typeface="Calibri" pitchFamily="34" charset="-120"/>
              </a:rPr>
              <a:t>12 hourly per-dimension + 7 monitoring rollups (incl. composite geo_cell) — 1.95M rows standing in for 9M</a:t>
            </a:r>
            <a:endParaRPr lang="en-US" sz="1150" dirty="0"/>
          </a:p>
        </p:txBody>
      </p:sp>
      <p:sp>
        <p:nvSpPr>
          <p:cNvPr id="10" name="Shape 8"/>
          <p:cNvSpPr/>
          <p:nvPr/>
        </p:nvSpPr>
        <p:spPr>
          <a:xfrm>
            <a:off x="822960" y="3831336"/>
            <a:ext cx="146304" cy="146304"/>
          </a:xfrm>
          <a:prstGeom prst="ellipse">
            <a:avLst/>
          </a:prstGeom>
          <a:solidFill>
            <a:srgbClr val="58A6E8"/>
          </a:solidFill>
          <a:ln/>
        </p:spPr>
      </p:sp>
      <p:sp>
        <p:nvSpPr>
          <p:cNvPr id="11" name="Text 9"/>
          <p:cNvSpPr/>
          <p:nvPr/>
        </p:nvSpPr>
        <p:spPr>
          <a:xfrm>
            <a:off x="1097280" y="3703320"/>
            <a:ext cx="4846320" cy="868680"/>
          </a:xfrm>
          <a:prstGeom prst="rect">
            <a:avLst/>
          </a:prstGeom>
          <a:noFill/>
          <a:ln/>
        </p:spPr>
        <p:txBody>
          <a:bodyPr wrap="square" lIns="0" tIns="0" rIns="0" bIns="0" rtlCol="0" anchor="ctr"/>
          <a:lstStyle/>
          <a:p>
            <a:pPr indent="0" marL="0">
              <a:buNone/>
            </a:pPr>
            <a:r>
              <a:rPr lang="en-US" sz="1150" b="1" dirty="0">
                <a:solidFill>
                  <a:srgbClr val="F2F6FA"/>
                </a:solidFill>
                <a:latin typeface="Calibri" pitchFamily="34" charset="0"/>
                <a:ea typeface="Calibri" pitchFamily="34" charset="-122"/>
                <a:cs typeface="Calibri" pitchFamily="34" charset="-120"/>
              </a:rPr>
              <a:t>3 in-memory dictionaries — </a:t>
            </a:r>
            <a:pPr indent="0" marL="0">
              <a:buNone/>
            </a:pPr>
            <a:r>
              <a:rPr lang="en-US" sz="1150" dirty="0">
                <a:solidFill>
                  <a:srgbClr val="9AAFC4"/>
                </a:solidFill>
                <a:latin typeface="Calibri" pitchFamily="34" charset="0"/>
                <a:ea typeface="Calibri" pitchFamily="34" charset="-122"/>
                <a:cs typeface="Calibri" pitchFamily="34" charset="-120"/>
              </a:rPr>
              <a:t>dictGet enrichment instead of joins; dictGetOrDefault handles unfilled requests with no advertiser</a:t>
            </a:r>
            <a:endParaRPr lang="en-US" sz="1150" dirty="0"/>
          </a:p>
        </p:txBody>
      </p:sp>
      <p:sp>
        <p:nvSpPr>
          <p:cNvPr id="12" name="Shape 10"/>
          <p:cNvSpPr/>
          <p:nvPr/>
        </p:nvSpPr>
        <p:spPr>
          <a:xfrm>
            <a:off x="822960" y="4690872"/>
            <a:ext cx="146304" cy="146304"/>
          </a:xfrm>
          <a:prstGeom prst="ellipse">
            <a:avLst/>
          </a:prstGeom>
          <a:solidFill>
            <a:srgbClr val="58A6E8"/>
          </a:solidFill>
          <a:ln/>
        </p:spPr>
      </p:sp>
      <p:sp>
        <p:nvSpPr>
          <p:cNvPr id="13" name="Text 11"/>
          <p:cNvSpPr/>
          <p:nvPr/>
        </p:nvSpPr>
        <p:spPr>
          <a:xfrm>
            <a:off x="1097280" y="4562856"/>
            <a:ext cx="4846320" cy="868680"/>
          </a:xfrm>
          <a:prstGeom prst="rect">
            <a:avLst/>
          </a:prstGeom>
          <a:noFill/>
          <a:ln/>
        </p:spPr>
        <p:txBody>
          <a:bodyPr wrap="square" lIns="0" tIns="0" rIns="0" bIns="0" rtlCol="0" anchor="ctr"/>
          <a:lstStyle/>
          <a:p>
            <a:pPr indent="0" marL="0">
              <a:buNone/>
            </a:pPr>
            <a:r>
              <a:rPr lang="en-US" sz="1150" b="1" dirty="0">
                <a:solidFill>
                  <a:srgbClr val="F2F6FA"/>
                </a:solidFill>
                <a:latin typeface="Calibri" pitchFamily="34" charset="0"/>
                <a:ea typeface="Calibri" pitchFamily="34" charset="-122"/>
                <a:cs typeface="Calibri" pitchFamily="34" charset="-120"/>
              </a:rPr>
              <a:t>1,167,747 baseline bands — </a:t>
            </a:r>
            <a:pPr indent="0" marL="0">
              <a:buNone/>
            </a:pPr>
            <a:r>
              <a:rPr lang="en-US" sz="1150" dirty="0">
                <a:solidFill>
                  <a:srgbClr val="9AAFC4"/>
                </a:solidFill>
                <a:latin typeface="Calibri" pitchFamily="34" charset="0"/>
                <a:ea typeface="Calibri" pitchFamily="34" charset="-122"/>
                <a:cs typeface="Calibri" pitchFamily="34" charset="-120"/>
              </a:rPr>
              <a:t>built in SQL by a batch job — same weekday, trailing weeks, so weekends never false-alarm</a:t>
            </a:r>
            <a:endParaRPr lang="en-US" sz="1150" dirty="0"/>
          </a:p>
        </p:txBody>
      </p:sp>
      <p:sp>
        <p:nvSpPr>
          <p:cNvPr id="14" name="Shape 12"/>
          <p:cNvSpPr/>
          <p:nvPr/>
        </p:nvSpPr>
        <p:spPr>
          <a:xfrm>
            <a:off x="822960" y="5550408"/>
            <a:ext cx="146304" cy="146304"/>
          </a:xfrm>
          <a:prstGeom prst="ellipse">
            <a:avLst/>
          </a:prstGeom>
          <a:solidFill>
            <a:srgbClr val="58A6E8"/>
          </a:solidFill>
          <a:ln/>
        </p:spPr>
      </p:sp>
      <p:sp>
        <p:nvSpPr>
          <p:cNvPr id="15" name="Text 13"/>
          <p:cNvSpPr/>
          <p:nvPr/>
        </p:nvSpPr>
        <p:spPr>
          <a:xfrm>
            <a:off x="1097280" y="5422392"/>
            <a:ext cx="4846320" cy="868680"/>
          </a:xfrm>
          <a:prstGeom prst="rect">
            <a:avLst/>
          </a:prstGeom>
          <a:noFill/>
          <a:ln/>
        </p:spPr>
        <p:txBody>
          <a:bodyPr wrap="square" lIns="0" tIns="0" rIns="0" bIns="0" rtlCol="0" anchor="ctr"/>
          <a:lstStyle/>
          <a:p>
            <a:pPr indent="0" marL="0">
              <a:buNone/>
            </a:pPr>
            <a:r>
              <a:rPr lang="en-US" sz="1150" b="1" dirty="0">
                <a:solidFill>
                  <a:srgbClr val="F2F6FA"/>
                </a:solidFill>
                <a:latin typeface="Calibri" pitchFamily="34" charset="0"/>
                <a:ea typeface="Calibri" pitchFamily="34" charset="-122"/>
                <a:cs typeface="Calibri" pitchFamily="34" charset="-120"/>
              </a:rPr>
              <a:t>Only 3 of 14 grains are physical — </a:t>
            </a:r>
            <a:pPr indent="0" marL="0">
              <a:buNone/>
            </a:pPr>
            <a:r>
              <a:rPr lang="en-US" sz="1150" dirty="0">
                <a:solidFill>
                  <a:srgbClr val="9AAFC4"/>
                </a:solidFill>
                <a:latin typeface="Calibri" pitchFamily="34" charset="0"/>
                <a:ea typeface="Calibri" pitchFamily="34" charset="-122"/>
                <a:cs typeface="Calibri" pitchFamily="34" charset="-120"/>
              </a:rPr>
              <a:t>the other 11 are RANGE-framed rolling window functions over the hourly rollups — coverage without cardinality</a:t>
            </a:r>
            <a:endParaRPr lang="en-US" sz="1150" dirty="0"/>
          </a:p>
        </p:txBody>
      </p:sp>
      <p:sp>
        <p:nvSpPr>
          <p:cNvPr id="16" name="Shape 14"/>
          <p:cNvSpPr/>
          <p:nvPr/>
        </p:nvSpPr>
        <p:spPr>
          <a:xfrm>
            <a:off x="6355080" y="1463040"/>
            <a:ext cx="5257800" cy="4937760"/>
          </a:xfrm>
          <a:prstGeom prst="roundRect">
            <a:avLst>
              <a:gd name="adj" fmla="val 1296"/>
            </a:avLst>
          </a:prstGeom>
          <a:solidFill>
            <a:srgbClr val="18242F"/>
          </a:solidFill>
          <a:ln w="9525">
            <a:solidFill>
              <a:srgbClr val="F2A93B"/>
            </a:solidFill>
            <a:prstDash val="solid"/>
          </a:ln>
        </p:spPr>
      </p:sp>
      <p:sp>
        <p:nvSpPr>
          <p:cNvPr id="17" name="Text 15"/>
          <p:cNvSpPr/>
          <p:nvPr/>
        </p:nvSpPr>
        <p:spPr>
          <a:xfrm>
            <a:off x="6629400" y="1627632"/>
            <a:ext cx="4754880" cy="365760"/>
          </a:xfrm>
          <a:prstGeom prst="rect">
            <a:avLst/>
          </a:prstGeom>
          <a:noFill/>
          <a:ln/>
        </p:spPr>
        <p:txBody>
          <a:bodyPr wrap="square" lIns="0" tIns="0" rIns="0" bIns="0" rtlCol="0" anchor="ctr"/>
          <a:lstStyle/>
          <a:p>
            <a:pPr indent="0" marL="0">
              <a:buNone/>
            </a:pPr>
            <a:r>
              <a:rPr lang="en-US" sz="1600" b="1" dirty="0">
                <a:solidFill>
                  <a:srgbClr val="F2A93B"/>
                </a:solidFill>
                <a:latin typeface="Calibri" pitchFamily="34" charset="0"/>
                <a:ea typeface="Calibri" pitchFamily="34" charset="-122"/>
                <a:cs typeface="Calibri" pitchFamily="34" charset="-120"/>
              </a:rPr>
              <a:t>We benchmarked our own rollups — honestly</a:t>
            </a:r>
            <a:endParaRPr lang="en-US" sz="1600" dirty="0"/>
          </a:p>
        </p:txBody>
      </p:sp>
      <p:sp>
        <p:nvSpPr>
          <p:cNvPr id="18" name="Text 16"/>
          <p:cNvSpPr/>
          <p:nvPr/>
        </p:nvSpPr>
        <p:spPr>
          <a:xfrm>
            <a:off x="6629400" y="2011680"/>
            <a:ext cx="4754880" cy="274320"/>
          </a:xfrm>
          <a:prstGeom prst="rect">
            <a:avLst/>
          </a:prstGeom>
          <a:noFill/>
          <a:ln/>
        </p:spPr>
        <p:txBody>
          <a:bodyPr wrap="square" lIns="0" tIns="0" rIns="0" bIns="0" rtlCol="0" anchor="ctr"/>
          <a:lstStyle/>
          <a:p>
            <a:pPr indent="0" marL="0">
              <a:buNone/>
            </a:pPr>
            <a:r>
              <a:rPr lang="en-US" sz="1000" dirty="0">
                <a:solidFill>
                  <a:srgbClr val="6E839A"/>
                </a:solidFill>
                <a:latin typeface="Courier New" pitchFamily="34" charset="0"/>
                <a:ea typeface="Courier New" pitchFamily="34" charset="-122"/>
                <a:cs typeface="Courier New" pitchFamily="34" charset="-120"/>
              </a:rPr>
              <a:t>scripts/bench_rollups.py — answers verified equal before timing</a:t>
            </a:r>
            <a:endParaRPr lang="en-US" sz="1000" dirty="0"/>
          </a:p>
        </p:txBody>
      </p:sp>
      <p:sp>
        <p:nvSpPr>
          <p:cNvPr id="19" name="Text 17"/>
          <p:cNvSpPr/>
          <p:nvPr/>
        </p:nvSpPr>
        <p:spPr>
          <a:xfrm>
            <a:off x="6629400" y="2377440"/>
            <a:ext cx="2560320" cy="457200"/>
          </a:xfrm>
          <a:prstGeom prst="rect">
            <a:avLst/>
          </a:prstGeom>
          <a:noFill/>
          <a:ln/>
        </p:spPr>
        <p:txBody>
          <a:bodyPr wrap="square" lIns="0" tIns="0" rIns="0" bIns="0" rtlCol="0" anchor="ctr"/>
          <a:lstStyle/>
          <a:p>
            <a:pPr indent="0" marL="0">
              <a:buNone/>
            </a:pPr>
            <a:r>
              <a:rPr lang="en-US" sz="1100" b="1" dirty="0">
                <a:solidFill>
                  <a:srgbClr val="6E839A"/>
                </a:solidFill>
                <a:latin typeface="Calibri" pitchFamily="34" charset="0"/>
                <a:ea typeface="Calibri" pitchFamily="34" charset="-122"/>
                <a:cs typeface="Calibri" pitchFamily="34" charset="-120"/>
              </a:rPr>
              <a:t>Query</a:t>
            </a:r>
            <a:endParaRPr lang="en-US" sz="1100" dirty="0"/>
          </a:p>
        </p:txBody>
      </p:sp>
      <p:sp>
        <p:nvSpPr>
          <p:cNvPr id="20" name="Text 18"/>
          <p:cNvSpPr/>
          <p:nvPr/>
        </p:nvSpPr>
        <p:spPr>
          <a:xfrm>
            <a:off x="9189720" y="2377440"/>
            <a:ext cx="914400" cy="457200"/>
          </a:xfrm>
          <a:prstGeom prst="rect">
            <a:avLst/>
          </a:prstGeom>
          <a:noFill/>
          <a:ln/>
        </p:spPr>
        <p:txBody>
          <a:bodyPr wrap="square" lIns="0" tIns="0" rIns="0" bIns="0" rtlCol="0" anchor="ctr"/>
          <a:lstStyle/>
          <a:p>
            <a:pPr indent="0" marL="0">
              <a:buNone/>
            </a:pPr>
            <a:r>
              <a:rPr lang="en-US" sz="1100" b="1" dirty="0">
                <a:solidFill>
                  <a:srgbClr val="6E839A"/>
                </a:solidFill>
                <a:latin typeface="Courier New" pitchFamily="34" charset="0"/>
                <a:ea typeface="Courier New" pitchFamily="34" charset="-122"/>
                <a:cs typeface="Courier New" pitchFamily="34" charset="-120"/>
              </a:rPr>
              <a:t>Speed-up</a:t>
            </a:r>
            <a:endParaRPr lang="en-US" sz="1100" dirty="0"/>
          </a:p>
        </p:txBody>
      </p:sp>
      <p:sp>
        <p:nvSpPr>
          <p:cNvPr id="21" name="Text 19"/>
          <p:cNvSpPr/>
          <p:nvPr/>
        </p:nvSpPr>
        <p:spPr>
          <a:xfrm>
            <a:off x="10104120" y="2377440"/>
            <a:ext cx="1417320" cy="457200"/>
          </a:xfrm>
          <a:prstGeom prst="rect">
            <a:avLst/>
          </a:prstGeom>
          <a:noFill/>
          <a:ln/>
        </p:spPr>
        <p:txBody>
          <a:bodyPr wrap="square" lIns="0" tIns="0" rIns="0" bIns="0" rtlCol="0" anchor="ctr"/>
          <a:lstStyle/>
          <a:p>
            <a:pPr indent="0" marL="0">
              <a:buNone/>
            </a:pPr>
            <a:r>
              <a:rPr lang="en-US" sz="1100" b="1" dirty="0">
                <a:solidFill>
                  <a:srgbClr val="6E839A"/>
                </a:solidFill>
                <a:latin typeface="Courier New" pitchFamily="34" charset="0"/>
                <a:ea typeface="Courier New" pitchFamily="34" charset="-122"/>
                <a:cs typeface="Courier New" pitchFamily="34" charset="-120"/>
              </a:rPr>
              <a:t>Rows scanned</a:t>
            </a:r>
            <a:endParaRPr lang="en-US" sz="1100" dirty="0"/>
          </a:p>
        </p:txBody>
      </p:sp>
      <p:sp>
        <p:nvSpPr>
          <p:cNvPr id="22" name="Text 20"/>
          <p:cNvSpPr/>
          <p:nvPr/>
        </p:nvSpPr>
        <p:spPr>
          <a:xfrm>
            <a:off x="6629400" y="2852928"/>
            <a:ext cx="2560320" cy="457200"/>
          </a:xfrm>
          <a:prstGeom prst="rect">
            <a:avLst/>
          </a:prstGeom>
          <a:noFill/>
          <a:ln/>
        </p:spPr>
        <p:txBody>
          <a:bodyPr wrap="square" lIns="0" tIns="0" rIns="0" bIns="0" rtlCol="0" anchor="ctr"/>
          <a:lstStyle/>
          <a:p>
            <a:pPr indent="0" marL="0">
              <a:buNone/>
            </a:pPr>
            <a:r>
              <a:rPr lang="en-US" sz="1100" dirty="0">
                <a:solidFill>
                  <a:srgbClr val="F2F6FA"/>
                </a:solidFill>
                <a:latin typeface="Calibri" pitchFamily="34" charset="0"/>
                <a:ea typeface="Calibri" pitchFamily="34" charset="-122"/>
                <a:cs typeface="Calibri" pitchFamily="34" charset="-120"/>
              </a:rPr>
              <a:t>35-day daily revenue series</a:t>
            </a:r>
            <a:endParaRPr lang="en-US" sz="1100" dirty="0"/>
          </a:p>
        </p:txBody>
      </p:sp>
      <p:sp>
        <p:nvSpPr>
          <p:cNvPr id="23" name="Text 21"/>
          <p:cNvSpPr/>
          <p:nvPr/>
        </p:nvSpPr>
        <p:spPr>
          <a:xfrm>
            <a:off x="9189720" y="2852928"/>
            <a:ext cx="914400" cy="457200"/>
          </a:xfrm>
          <a:prstGeom prst="rect">
            <a:avLst/>
          </a:prstGeom>
          <a:noFill/>
          <a:ln/>
        </p:spPr>
        <p:txBody>
          <a:bodyPr wrap="square" lIns="0" tIns="0" rIns="0" bIns="0" rtlCol="0" anchor="ctr"/>
          <a:lstStyle/>
          <a:p>
            <a:pPr indent="0" marL="0">
              <a:buNone/>
            </a:pPr>
            <a:r>
              <a:rPr lang="en-US" sz="1100" dirty="0">
                <a:solidFill>
                  <a:srgbClr val="9AAFC4"/>
                </a:solidFill>
                <a:latin typeface="Courier New" pitchFamily="34" charset="0"/>
                <a:ea typeface="Courier New" pitchFamily="34" charset="-122"/>
                <a:cs typeface="Courier New" pitchFamily="34" charset="-120"/>
              </a:rPr>
              <a:t>2.0×</a:t>
            </a:r>
            <a:endParaRPr lang="en-US" sz="1100" dirty="0"/>
          </a:p>
        </p:txBody>
      </p:sp>
      <p:sp>
        <p:nvSpPr>
          <p:cNvPr id="24" name="Text 22"/>
          <p:cNvSpPr/>
          <p:nvPr/>
        </p:nvSpPr>
        <p:spPr>
          <a:xfrm>
            <a:off x="10104120" y="2852928"/>
            <a:ext cx="1417320" cy="457200"/>
          </a:xfrm>
          <a:prstGeom prst="rect">
            <a:avLst/>
          </a:prstGeom>
          <a:noFill/>
          <a:ln/>
        </p:spPr>
        <p:txBody>
          <a:bodyPr wrap="square" lIns="0" tIns="0" rIns="0" bIns="0" rtlCol="0" anchor="ctr"/>
          <a:lstStyle/>
          <a:p>
            <a:pPr indent="0" marL="0">
              <a:buNone/>
            </a:pPr>
            <a:r>
              <a:rPr lang="en-US" sz="1100" dirty="0">
                <a:solidFill>
                  <a:srgbClr val="45C489"/>
                </a:solidFill>
                <a:latin typeface="Courier New" pitchFamily="34" charset="0"/>
                <a:ea typeface="Courier New" pitchFamily="34" charset="-122"/>
                <a:cs typeface="Courier New" pitchFamily="34" charset="-120"/>
              </a:rPr>
              <a:t>10,714× fewer</a:t>
            </a:r>
            <a:endParaRPr lang="en-US" sz="1100" dirty="0"/>
          </a:p>
        </p:txBody>
      </p:sp>
      <p:sp>
        <p:nvSpPr>
          <p:cNvPr id="25" name="Text 23"/>
          <p:cNvSpPr/>
          <p:nvPr/>
        </p:nvSpPr>
        <p:spPr>
          <a:xfrm>
            <a:off x="6629400" y="3328416"/>
            <a:ext cx="2560320" cy="457200"/>
          </a:xfrm>
          <a:prstGeom prst="rect">
            <a:avLst/>
          </a:prstGeom>
          <a:noFill/>
          <a:ln/>
        </p:spPr>
        <p:txBody>
          <a:bodyPr wrap="square" lIns="0" tIns="0" rIns="0" bIns="0" rtlCol="0" anchor="ctr"/>
          <a:lstStyle/>
          <a:p>
            <a:pPr indent="0" marL="0">
              <a:buNone/>
            </a:pPr>
            <a:r>
              <a:rPr lang="en-US" sz="1100" dirty="0">
                <a:solidFill>
                  <a:srgbClr val="F2F6FA"/>
                </a:solidFill>
                <a:latin typeface="Calibri" pitchFamily="34" charset="0"/>
                <a:ea typeface="Calibri" pitchFamily="34" charset="-122"/>
                <a:cs typeface="Calibri" pitchFamily="34" charset="-120"/>
              </a:rPr>
              <a:t>28-day hourly by region</a:t>
            </a:r>
            <a:endParaRPr lang="en-US" sz="1100" dirty="0"/>
          </a:p>
        </p:txBody>
      </p:sp>
      <p:sp>
        <p:nvSpPr>
          <p:cNvPr id="26" name="Text 24"/>
          <p:cNvSpPr/>
          <p:nvPr/>
        </p:nvSpPr>
        <p:spPr>
          <a:xfrm>
            <a:off x="9189720" y="3328416"/>
            <a:ext cx="914400" cy="457200"/>
          </a:xfrm>
          <a:prstGeom prst="rect">
            <a:avLst/>
          </a:prstGeom>
          <a:noFill/>
          <a:ln/>
        </p:spPr>
        <p:txBody>
          <a:bodyPr wrap="square" lIns="0" tIns="0" rIns="0" bIns="0" rtlCol="0" anchor="ctr"/>
          <a:lstStyle/>
          <a:p>
            <a:pPr indent="0" marL="0">
              <a:buNone/>
            </a:pPr>
            <a:r>
              <a:rPr lang="en-US" sz="1100" dirty="0">
                <a:solidFill>
                  <a:srgbClr val="9AAFC4"/>
                </a:solidFill>
                <a:latin typeface="Courier New" pitchFamily="34" charset="0"/>
                <a:ea typeface="Courier New" pitchFamily="34" charset="-122"/>
                <a:cs typeface="Courier New" pitchFamily="34" charset="-120"/>
              </a:rPr>
              <a:t>3.5×</a:t>
            </a:r>
            <a:endParaRPr lang="en-US" sz="1100" dirty="0"/>
          </a:p>
        </p:txBody>
      </p:sp>
      <p:sp>
        <p:nvSpPr>
          <p:cNvPr id="27" name="Text 25"/>
          <p:cNvSpPr/>
          <p:nvPr/>
        </p:nvSpPr>
        <p:spPr>
          <a:xfrm>
            <a:off x="10104120" y="3328416"/>
            <a:ext cx="1417320" cy="457200"/>
          </a:xfrm>
          <a:prstGeom prst="rect">
            <a:avLst/>
          </a:prstGeom>
          <a:noFill/>
          <a:ln/>
        </p:spPr>
        <p:txBody>
          <a:bodyPr wrap="square" lIns="0" tIns="0" rIns="0" bIns="0" rtlCol="0" anchor="ctr"/>
          <a:lstStyle/>
          <a:p>
            <a:pPr indent="0" marL="0">
              <a:buNone/>
            </a:pPr>
            <a:r>
              <a:rPr lang="en-US" sz="1100" dirty="0">
                <a:solidFill>
                  <a:srgbClr val="45C489"/>
                </a:solidFill>
                <a:latin typeface="Courier New" pitchFamily="34" charset="0"/>
                <a:ea typeface="Courier New" pitchFamily="34" charset="-122"/>
                <a:cs typeface="Courier New" pitchFamily="34" charset="-120"/>
              </a:rPr>
              <a:t>1,981× fewer</a:t>
            </a:r>
            <a:endParaRPr lang="en-US" sz="1100" dirty="0"/>
          </a:p>
        </p:txBody>
      </p:sp>
      <p:sp>
        <p:nvSpPr>
          <p:cNvPr id="28" name="Text 26"/>
          <p:cNvSpPr/>
          <p:nvPr/>
        </p:nvSpPr>
        <p:spPr>
          <a:xfrm>
            <a:off x="6629400" y="3803904"/>
            <a:ext cx="2560320" cy="457200"/>
          </a:xfrm>
          <a:prstGeom prst="rect">
            <a:avLst/>
          </a:prstGeom>
          <a:noFill/>
          <a:ln/>
        </p:spPr>
        <p:txBody>
          <a:bodyPr wrap="square" lIns="0" tIns="0" rIns="0" bIns="0" rtlCol="0" anchor="ctr"/>
          <a:lstStyle/>
          <a:p>
            <a:pPr indent="0" marL="0">
              <a:buNone/>
            </a:pPr>
            <a:r>
              <a:rPr lang="en-US" sz="1100" dirty="0">
                <a:solidFill>
                  <a:srgbClr val="F2F6FA"/>
                </a:solidFill>
                <a:latin typeface="Calibri" pitchFamily="34" charset="0"/>
                <a:ea typeface="Calibri" pitchFamily="34" charset="-122"/>
                <a:cs typeface="Calibri" pitchFamily="34" charset="-120"/>
              </a:rPr>
              <a:t>Top-line fill rate, 1d</a:t>
            </a:r>
            <a:endParaRPr lang="en-US" sz="1100" dirty="0"/>
          </a:p>
        </p:txBody>
      </p:sp>
      <p:sp>
        <p:nvSpPr>
          <p:cNvPr id="29" name="Text 27"/>
          <p:cNvSpPr/>
          <p:nvPr/>
        </p:nvSpPr>
        <p:spPr>
          <a:xfrm>
            <a:off x="9189720" y="3803904"/>
            <a:ext cx="914400" cy="457200"/>
          </a:xfrm>
          <a:prstGeom prst="rect">
            <a:avLst/>
          </a:prstGeom>
          <a:noFill/>
          <a:ln/>
        </p:spPr>
        <p:txBody>
          <a:bodyPr wrap="square" lIns="0" tIns="0" rIns="0" bIns="0" rtlCol="0" anchor="ctr"/>
          <a:lstStyle/>
          <a:p>
            <a:pPr indent="0" marL="0">
              <a:buNone/>
            </a:pPr>
            <a:r>
              <a:rPr lang="en-US" sz="1100" dirty="0">
                <a:solidFill>
                  <a:srgbClr val="9AAFC4"/>
                </a:solidFill>
                <a:latin typeface="Courier New" pitchFamily="34" charset="0"/>
                <a:ea typeface="Courier New" pitchFamily="34" charset="-122"/>
                <a:cs typeface="Courier New" pitchFamily="34" charset="-120"/>
              </a:rPr>
              <a:t>1.0×</a:t>
            </a:r>
            <a:endParaRPr lang="en-US" sz="1100" dirty="0"/>
          </a:p>
        </p:txBody>
      </p:sp>
      <p:sp>
        <p:nvSpPr>
          <p:cNvPr id="30" name="Text 28"/>
          <p:cNvSpPr/>
          <p:nvPr/>
        </p:nvSpPr>
        <p:spPr>
          <a:xfrm>
            <a:off x="10104120" y="3803904"/>
            <a:ext cx="1417320" cy="457200"/>
          </a:xfrm>
          <a:prstGeom prst="rect">
            <a:avLst/>
          </a:prstGeom>
          <a:noFill/>
          <a:ln/>
        </p:spPr>
        <p:txBody>
          <a:bodyPr wrap="square" lIns="0" tIns="0" rIns="0" bIns="0" rtlCol="0" anchor="ctr"/>
          <a:lstStyle/>
          <a:p>
            <a:pPr indent="0" marL="0">
              <a:buNone/>
            </a:pPr>
            <a:r>
              <a:rPr lang="en-US" sz="1100" dirty="0">
                <a:solidFill>
                  <a:srgbClr val="45C489"/>
                </a:solidFill>
                <a:latin typeface="Courier New" pitchFamily="34" charset="0"/>
                <a:ea typeface="Courier New" pitchFamily="34" charset="-122"/>
                <a:cs typeface="Courier New" pitchFamily="34" charset="-120"/>
              </a:rPr>
              <a:t>444× fewer</a:t>
            </a:r>
            <a:endParaRPr lang="en-US" sz="1100" dirty="0"/>
          </a:p>
        </p:txBody>
      </p:sp>
      <p:sp>
        <p:nvSpPr>
          <p:cNvPr id="31" name="Text 29"/>
          <p:cNvSpPr/>
          <p:nvPr/>
        </p:nvSpPr>
        <p:spPr>
          <a:xfrm>
            <a:off x="6629400" y="4434840"/>
            <a:ext cx="4754880" cy="182880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Median speed-up is only 1.5× — we withdrew the latency claim. </a:t>
            </a:r>
            <a:pPr indent="0" marL="0">
              <a:buNone/>
            </a:pPr>
            <a:r>
              <a:rPr lang="en-US" sz="1200" dirty="0">
                <a:solidFill>
                  <a:srgbClr val="9AAFC4"/>
                </a:solidFill>
                <a:latin typeface="Calibri" pitchFamily="34" charset="0"/>
                <a:ea typeface="Calibri" pitchFamily="34" charset="-122"/>
                <a:cs typeface="Calibri" pitchFamily="34" charset="-120"/>
              </a:rPr>
              <a:t>What survives measurement: 6× to 10,714× fewer rows scanned, a sweep is 364 queries not one, and ClickHouse Cloud meters scanned data. The rollup layer is what makes 2,240-cell coverage affordable.</a:t>
            </a:r>
            <a:endParaRPr lang="en-US" sz="1200" dirty="0"/>
          </a:p>
        </p:txBody>
      </p:sp>
      <p:sp>
        <p:nvSpPr>
          <p:cNvPr id="33" name="Text 30"/>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F2A93B"/>
                </a:solidFill>
                <a:latin typeface="Calibri" pitchFamily="34" charset="0"/>
                <a:ea typeface="Calibri" pitchFamily="34" charset="-122"/>
                <a:cs typeface="Calibri" pitchFamily="34" charset="-120"/>
              </a:rPr>
              <a:t>DETECTION COVERAGE</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Watch everything, cheaply</a:t>
            </a:r>
            <a:endParaRPr lang="en-US" sz="3000" dirty="0"/>
          </a:p>
        </p:txBody>
      </p:sp>
      <p:sp>
        <p:nvSpPr>
          <p:cNvPr id="4" name="Text 2"/>
          <p:cNvSpPr/>
          <p:nvPr/>
        </p:nvSpPr>
        <p:spPr>
          <a:xfrm>
            <a:off x="685800" y="1572768"/>
            <a:ext cx="1600200" cy="914400"/>
          </a:xfrm>
          <a:prstGeom prst="rect">
            <a:avLst/>
          </a:prstGeom>
          <a:noFill/>
          <a:ln/>
        </p:spPr>
        <p:txBody>
          <a:bodyPr wrap="square" lIns="0" tIns="0" rIns="0" bIns="0" rtlCol="0" anchor="ctr"/>
          <a:lstStyle/>
          <a:p>
            <a:pPr algn="ctr" indent="0" marL="0">
              <a:buNone/>
            </a:pPr>
            <a:r>
              <a:rPr lang="en-US" sz="5400" b="1" dirty="0">
                <a:solidFill>
                  <a:srgbClr val="F2F6FA"/>
                </a:solidFill>
                <a:latin typeface="Courier New" pitchFamily="34" charset="0"/>
                <a:ea typeface="Courier New" pitchFamily="34" charset="-122"/>
                <a:cs typeface="Courier New" pitchFamily="34" charset="-120"/>
              </a:rPr>
              <a:t>10</a:t>
            </a:r>
            <a:endParaRPr lang="en-US" sz="5400" dirty="0"/>
          </a:p>
        </p:txBody>
      </p:sp>
      <p:sp>
        <p:nvSpPr>
          <p:cNvPr id="5" name="Text 3"/>
          <p:cNvSpPr/>
          <p:nvPr/>
        </p:nvSpPr>
        <p:spPr>
          <a:xfrm>
            <a:off x="685800" y="2487168"/>
            <a:ext cx="1600200" cy="320040"/>
          </a:xfrm>
          <a:prstGeom prst="rect">
            <a:avLst/>
          </a:prstGeom>
          <a:noFill/>
          <a:ln/>
        </p:spPr>
        <p:txBody>
          <a:bodyPr wrap="square" lIns="0" tIns="0" rIns="0" bIns="0" rtlCol="0" anchor="ctr"/>
          <a:lstStyle/>
          <a:p>
            <a:pPr algn="ctr" indent="0" marL="0">
              <a:buNone/>
            </a:pPr>
            <a:r>
              <a:rPr lang="en-US" sz="1300" dirty="0">
                <a:solidFill>
                  <a:srgbClr val="9AAFC4"/>
                </a:solidFill>
                <a:latin typeface="Calibri" pitchFamily="34" charset="0"/>
                <a:ea typeface="Calibri" pitchFamily="34" charset="-122"/>
                <a:cs typeface="Calibri" pitchFamily="34" charset="-120"/>
              </a:rPr>
              <a:t>metrics</a:t>
            </a:r>
            <a:endParaRPr lang="en-US" sz="1300" dirty="0"/>
          </a:p>
        </p:txBody>
      </p:sp>
      <p:sp>
        <p:nvSpPr>
          <p:cNvPr id="6" name="Text 4"/>
          <p:cNvSpPr/>
          <p:nvPr/>
        </p:nvSpPr>
        <p:spPr>
          <a:xfrm>
            <a:off x="2395728" y="1737360"/>
            <a:ext cx="685800" cy="914400"/>
          </a:xfrm>
          <a:prstGeom prst="rect">
            <a:avLst/>
          </a:prstGeom>
          <a:noFill/>
          <a:ln/>
        </p:spPr>
        <p:txBody>
          <a:bodyPr wrap="square" lIns="0" tIns="0" rIns="0" bIns="0" rtlCol="0" anchor="ctr"/>
          <a:lstStyle/>
          <a:p>
            <a:pPr algn="ctr" indent="0" marL="0">
              <a:buNone/>
            </a:pPr>
            <a:r>
              <a:rPr lang="en-US" sz="4000" dirty="0">
                <a:solidFill>
                  <a:srgbClr val="6E839A"/>
                </a:solidFill>
                <a:latin typeface="Calibri" pitchFamily="34" charset="0"/>
                <a:ea typeface="Calibri" pitchFamily="34" charset="-122"/>
                <a:cs typeface="Calibri" pitchFamily="34" charset="-120"/>
              </a:rPr>
              <a:t>×</a:t>
            </a:r>
            <a:endParaRPr lang="en-US" sz="4000" dirty="0"/>
          </a:p>
        </p:txBody>
      </p:sp>
      <p:sp>
        <p:nvSpPr>
          <p:cNvPr id="7" name="Text 5"/>
          <p:cNvSpPr/>
          <p:nvPr/>
        </p:nvSpPr>
        <p:spPr>
          <a:xfrm>
            <a:off x="3108960" y="1572768"/>
            <a:ext cx="1600200" cy="914400"/>
          </a:xfrm>
          <a:prstGeom prst="rect">
            <a:avLst/>
          </a:prstGeom>
          <a:noFill/>
          <a:ln/>
        </p:spPr>
        <p:txBody>
          <a:bodyPr wrap="square" lIns="0" tIns="0" rIns="0" bIns="0" rtlCol="0" anchor="ctr"/>
          <a:lstStyle/>
          <a:p>
            <a:pPr algn="ctr" indent="0" marL="0">
              <a:buNone/>
            </a:pPr>
            <a:r>
              <a:rPr lang="en-US" sz="5400" b="1" dirty="0">
                <a:solidFill>
                  <a:srgbClr val="F2F6FA"/>
                </a:solidFill>
                <a:latin typeface="Courier New" pitchFamily="34" charset="0"/>
                <a:ea typeface="Courier New" pitchFamily="34" charset="-122"/>
                <a:cs typeface="Courier New" pitchFamily="34" charset="-120"/>
              </a:rPr>
              <a:t>16</a:t>
            </a:r>
            <a:endParaRPr lang="en-US" sz="5400" dirty="0"/>
          </a:p>
        </p:txBody>
      </p:sp>
      <p:sp>
        <p:nvSpPr>
          <p:cNvPr id="8" name="Text 6"/>
          <p:cNvSpPr/>
          <p:nvPr/>
        </p:nvSpPr>
        <p:spPr>
          <a:xfrm>
            <a:off x="3108960" y="2487168"/>
            <a:ext cx="1600200" cy="320040"/>
          </a:xfrm>
          <a:prstGeom prst="rect">
            <a:avLst/>
          </a:prstGeom>
          <a:noFill/>
          <a:ln/>
        </p:spPr>
        <p:txBody>
          <a:bodyPr wrap="square" lIns="0" tIns="0" rIns="0" bIns="0" rtlCol="0" anchor="ctr"/>
          <a:lstStyle/>
          <a:p>
            <a:pPr algn="ctr" indent="0" marL="0">
              <a:buNone/>
            </a:pPr>
            <a:r>
              <a:rPr lang="en-US" sz="1300" dirty="0">
                <a:solidFill>
                  <a:srgbClr val="9AAFC4"/>
                </a:solidFill>
                <a:latin typeface="Calibri" pitchFamily="34" charset="0"/>
                <a:ea typeface="Calibri" pitchFamily="34" charset="-122"/>
                <a:cs typeface="Calibri" pitchFamily="34" charset="-120"/>
              </a:rPr>
              <a:t>scopes</a:t>
            </a:r>
            <a:endParaRPr lang="en-US" sz="1300" dirty="0"/>
          </a:p>
        </p:txBody>
      </p:sp>
      <p:sp>
        <p:nvSpPr>
          <p:cNvPr id="9" name="Text 7"/>
          <p:cNvSpPr/>
          <p:nvPr/>
        </p:nvSpPr>
        <p:spPr>
          <a:xfrm>
            <a:off x="4818888" y="1737360"/>
            <a:ext cx="685800" cy="914400"/>
          </a:xfrm>
          <a:prstGeom prst="rect">
            <a:avLst/>
          </a:prstGeom>
          <a:noFill/>
          <a:ln/>
        </p:spPr>
        <p:txBody>
          <a:bodyPr wrap="square" lIns="0" tIns="0" rIns="0" bIns="0" rtlCol="0" anchor="ctr"/>
          <a:lstStyle/>
          <a:p>
            <a:pPr algn="ctr" indent="0" marL="0">
              <a:buNone/>
            </a:pPr>
            <a:r>
              <a:rPr lang="en-US" sz="4000" dirty="0">
                <a:solidFill>
                  <a:srgbClr val="6E839A"/>
                </a:solidFill>
                <a:latin typeface="Calibri" pitchFamily="34" charset="0"/>
                <a:ea typeface="Calibri" pitchFamily="34" charset="-122"/>
                <a:cs typeface="Calibri" pitchFamily="34" charset="-120"/>
              </a:rPr>
              <a:t>×</a:t>
            </a:r>
            <a:endParaRPr lang="en-US" sz="4000" dirty="0"/>
          </a:p>
        </p:txBody>
      </p:sp>
      <p:sp>
        <p:nvSpPr>
          <p:cNvPr id="10" name="Text 8"/>
          <p:cNvSpPr/>
          <p:nvPr/>
        </p:nvSpPr>
        <p:spPr>
          <a:xfrm>
            <a:off x="5532120" y="1572768"/>
            <a:ext cx="1600200" cy="914400"/>
          </a:xfrm>
          <a:prstGeom prst="rect">
            <a:avLst/>
          </a:prstGeom>
          <a:noFill/>
          <a:ln/>
        </p:spPr>
        <p:txBody>
          <a:bodyPr wrap="square" lIns="0" tIns="0" rIns="0" bIns="0" rtlCol="0" anchor="ctr"/>
          <a:lstStyle/>
          <a:p>
            <a:pPr algn="ctr" indent="0" marL="0">
              <a:buNone/>
            </a:pPr>
            <a:r>
              <a:rPr lang="en-US" sz="5400" b="1" dirty="0">
                <a:solidFill>
                  <a:srgbClr val="F2F6FA"/>
                </a:solidFill>
                <a:latin typeface="Courier New" pitchFamily="34" charset="0"/>
                <a:ea typeface="Courier New" pitchFamily="34" charset="-122"/>
                <a:cs typeface="Courier New" pitchFamily="34" charset="-120"/>
              </a:rPr>
              <a:t>14</a:t>
            </a:r>
            <a:endParaRPr lang="en-US" sz="5400" dirty="0"/>
          </a:p>
        </p:txBody>
      </p:sp>
      <p:sp>
        <p:nvSpPr>
          <p:cNvPr id="11" name="Text 9"/>
          <p:cNvSpPr/>
          <p:nvPr/>
        </p:nvSpPr>
        <p:spPr>
          <a:xfrm>
            <a:off x="5532120" y="2487168"/>
            <a:ext cx="1600200" cy="320040"/>
          </a:xfrm>
          <a:prstGeom prst="rect">
            <a:avLst/>
          </a:prstGeom>
          <a:noFill/>
          <a:ln/>
        </p:spPr>
        <p:txBody>
          <a:bodyPr wrap="square" lIns="0" tIns="0" rIns="0" bIns="0" rtlCol="0" anchor="ctr"/>
          <a:lstStyle/>
          <a:p>
            <a:pPr algn="ctr" indent="0" marL="0">
              <a:buNone/>
            </a:pPr>
            <a:r>
              <a:rPr lang="en-US" sz="1300" dirty="0">
                <a:solidFill>
                  <a:srgbClr val="9AAFC4"/>
                </a:solidFill>
                <a:latin typeface="Calibri" pitchFamily="34" charset="0"/>
                <a:ea typeface="Calibri" pitchFamily="34" charset="-122"/>
                <a:cs typeface="Calibri" pitchFamily="34" charset="-120"/>
              </a:rPr>
              <a:t>grains</a:t>
            </a:r>
            <a:endParaRPr lang="en-US" sz="1300" dirty="0"/>
          </a:p>
        </p:txBody>
      </p:sp>
      <p:sp>
        <p:nvSpPr>
          <p:cNvPr id="12" name="Text 10"/>
          <p:cNvSpPr/>
          <p:nvPr/>
        </p:nvSpPr>
        <p:spPr>
          <a:xfrm>
            <a:off x="7242048" y="1737360"/>
            <a:ext cx="685800" cy="914400"/>
          </a:xfrm>
          <a:prstGeom prst="rect">
            <a:avLst/>
          </a:prstGeom>
          <a:noFill/>
          <a:ln/>
        </p:spPr>
        <p:txBody>
          <a:bodyPr wrap="square" lIns="0" tIns="0" rIns="0" bIns="0" rtlCol="0" anchor="ctr"/>
          <a:lstStyle/>
          <a:p>
            <a:pPr algn="ctr" indent="0" marL="0">
              <a:buNone/>
            </a:pPr>
            <a:r>
              <a:rPr lang="en-US" sz="4000" dirty="0">
                <a:solidFill>
                  <a:srgbClr val="6E839A"/>
                </a:solidFill>
                <a:latin typeface="Calibri" pitchFamily="34" charset="0"/>
                <a:ea typeface="Calibri" pitchFamily="34" charset="-122"/>
                <a:cs typeface="Calibri" pitchFamily="34" charset="-120"/>
              </a:rPr>
              <a:t>=</a:t>
            </a:r>
            <a:endParaRPr lang="en-US" sz="4000" dirty="0"/>
          </a:p>
        </p:txBody>
      </p:sp>
      <p:sp>
        <p:nvSpPr>
          <p:cNvPr id="13" name="Text 11"/>
          <p:cNvSpPr/>
          <p:nvPr/>
        </p:nvSpPr>
        <p:spPr>
          <a:xfrm>
            <a:off x="7955280" y="1572768"/>
            <a:ext cx="2834640" cy="914400"/>
          </a:xfrm>
          <a:prstGeom prst="rect">
            <a:avLst/>
          </a:prstGeom>
          <a:noFill/>
          <a:ln/>
        </p:spPr>
        <p:txBody>
          <a:bodyPr wrap="square" lIns="0" tIns="0" rIns="0" bIns="0" rtlCol="0" anchor="ctr"/>
          <a:lstStyle/>
          <a:p>
            <a:pPr algn="ctr" indent="0" marL="0">
              <a:buNone/>
            </a:pPr>
            <a:r>
              <a:rPr lang="en-US" sz="5400" b="1" dirty="0">
                <a:solidFill>
                  <a:srgbClr val="F2A93B"/>
                </a:solidFill>
                <a:latin typeface="Courier New" pitchFamily="34" charset="0"/>
                <a:ea typeface="Courier New" pitchFamily="34" charset="-122"/>
                <a:cs typeface="Courier New" pitchFamily="34" charset="-120"/>
              </a:rPr>
              <a:t>2,240</a:t>
            </a:r>
            <a:endParaRPr lang="en-US" sz="5400" dirty="0"/>
          </a:p>
        </p:txBody>
      </p:sp>
      <p:sp>
        <p:nvSpPr>
          <p:cNvPr id="14" name="Text 12"/>
          <p:cNvSpPr/>
          <p:nvPr/>
        </p:nvSpPr>
        <p:spPr>
          <a:xfrm>
            <a:off x="7955280" y="2487168"/>
            <a:ext cx="2834640" cy="320040"/>
          </a:xfrm>
          <a:prstGeom prst="rect">
            <a:avLst/>
          </a:prstGeom>
          <a:noFill/>
          <a:ln/>
        </p:spPr>
        <p:txBody>
          <a:bodyPr wrap="square" lIns="0" tIns="0" rIns="0" bIns="0" rtlCol="0" anchor="ctr"/>
          <a:lstStyle/>
          <a:p>
            <a:pPr algn="ctr" indent="0" marL="0">
              <a:buNone/>
            </a:pPr>
            <a:r>
              <a:rPr lang="en-US" sz="1300" dirty="0">
                <a:solidFill>
                  <a:srgbClr val="9AAFC4"/>
                </a:solidFill>
                <a:latin typeface="Calibri" pitchFamily="34" charset="0"/>
                <a:ea typeface="Calibri" pitchFamily="34" charset="-122"/>
                <a:cs typeface="Calibri" pitchFamily="34" charset="-120"/>
              </a:rPr>
              <a:t>cells per sweep</a:t>
            </a:r>
            <a:endParaRPr lang="en-US" sz="1300" dirty="0"/>
          </a:p>
        </p:txBody>
      </p:sp>
      <p:sp>
        <p:nvSpPr>
          <p:cNvPr id="15" name="Text 13"/>
          <p:cNvSpPr/>
          <p:nvPr/>
        </p:nvSpPr>
        <p:spPr>
          <a:xfrm>
            <a:off x="685800" y="2971800"/>
            <a:ext cx="10881360" cy="320040"/>
          </a:xfrm>
          <a:prstGeom prst="rect">
            <a:avLst/>
          </a:prstGeom>
          <a:noFill/>
          <a:ln/>
        </p:spPr>
        <p:txBody>
          <a:bodyPr wrap="square" lIns="0" tIns="0" rIns="0" bIns="0" rtlCol="0" anchor="ctr"/>
          <a:lstStyle/>
          <a:p>
            <a:pPr algn="ctr" indent="0" marL="0">
              <a:buNone/>
            </a:pPr>
            <a:r>
              <a:rPr lang="en-US" sz="1100" dirty="0">
                <a:solidFill>
                  <a:srgbClr val="6E839A"/>
                </a:solidFill>
                <a:latin typeface="Courier New" pitchFamily="34" charset="0"/>
                <a:ea typeface="Courier New" pitchFamily="34" charset="-122"/>
                <a:cs typeface="Courier New" pitchFamily="34" charset="-120"/>
              </a:rPr>
              <a:t>5m … 1h … 1d … 3w grains  ·  global, per-region, per-app, per-OS … and composite scopes like geo_cell (region × device)</a:t>
            </a:r>
            <a:endParaRPr lang="en-US" sz="1100" dirty="0"/>
          </a:p>
        </p:txBody>
      </p:sp>
      <p:sp>
        <p:nvSpPr>
          <p:cNvPr id="16" name="Shape 14"/>
          <p:cNvSpPr/>
          <p:nvPr/>
        </p:nvSpPr>
        <p:spPr>
          <a:xfrm>
            <a:off x="548640" y="3611880"/>
            <a:ext cx="5440680" cy="1828800"/>
          </a:xfrm>
          <a:prstGeom prst="roundRect">
            <a:avLst>
              <a:gd name="adj" fmla="val 3500"/>
            </a:avLst>
          </a:prstGeom>
          <a:solidFill>
            <a:srgbClr val="18242F"/>
          </a:solidFill>
          <a:ln w="9525">
            <a:solidFill>
              <a:srgbClr val="E25B5B"/>
            </a:solidFill>
            <a:prstDash val="solid"/>
          </a:ln>
        </p:spPr>
      </p:sp>
      <p:sp>
        <p:nvSpPr>
          <p:cNvPr id="17" name="Text 15"/>
          <p:cNvSpPr/>
          <p:nvPr/>
        </p:nvSpPr>
        <p:spPr>
          <a:xfrm>
            <a:off x="822960" y="3767328"/>
            <a:ext cx="4846320" cy="320040"/>
          </a:xfrm>
          <a:prstGeom prst="rect">
            <a:avLst/>
          </a:prstGeom>
          <a:noFill/>
          <a:ln/>
        </p:spPr>
        <p:txBody>
          <a:bodyPr wrap="square" lIns="0" tIns="0" rIns="0" bIns="0" rtlCol="0" anchor="ctr"/>
          <a:lstStyle/>
          <a:p>
            <a:pPr indent="0" marL="0">
              <a:buNone/>
            </a:pPr>
            <a:r>
              <a:rPr lang="en-US" sz="1400" b="1" dirty="0">
                <a:solidFill>
                  <a:srgbClr val="E25B5B"/>
                </a:solidFill>
                <a:latin typeface="Calibri" pitchFamily="34" charset="0"/>
                <a:ea typeface="Calibri" pitchFamily="34" charset="-122"/>
                <a:cs typeface="Calibri" pitchFamily="34" charset="-120"/>
              </a:rPr>
              <a:t>Before this design</a:t>
            </a:r>
            <a:endParaRPr lang="en-US" sz="1400" dirty="0"/>
          </a:p>
        </p:txBody>
      </p:sp>
      <p:sp>
        <p:nvSpPr>
          <p:cNvPr id="18" name="Text 16"/>
          <p:cNvSpPr/>
          <p:nvPr/>
        </p:nvSpPr>
        <p:spPr>
          <a:xfrm>
            <a:off x="822960" y="4114800"/>
            <a:ext cx="4892040" cy="1188720"/>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948 scan ticks, 0 anomalies flagged. </a:t>
            </a:r>
            <a:pPr indent="0" marL="0">
              <a:buNone/>
            </a:pPr>
            <a:r>
              <a:rPr lang="en-US" sz="1250" dirty="0">
                <a:solidFill>
                  <a:srgbClr val="9AAFC4"/>
                </a:solidFill>
                <a:latin typeface="Calibri" pitchFamily="34" charset="0"/>
                <a:ea typeface="Calibri" pitchFamily="34" charset="-122"/>
                <a:cs typeface="Calibri" pitchFamily="34" charset="-120"/>
              </a:rPr>
              <a:t>Four metrics, one 1-hour window, global scope only — a detector that watches almost nothing detects almost nothing.</a:t>
            </a:r>
            <a:endParaRPr lang="en-US" sz="1250" dirty="0"/>
          </a:p>
        </p:txBody>
      </p:sp>
      <p:sp>
        <p:nvSpPr>
          <p:cNvPr id="19" name="Shape 17"/>
          <p:cNvSpPr/>
          <p:nvPr/>
        </p:nvSpPr>
        <p:spPr>
          <a:xfrm>
            <a:off x="6172200" y="3611880"/>
            <a:ext cx="5440680" cy="1828800"/>
          </a:xfrm>
          <a:prstGeom prst="roundRect">
            <a:avLst>
              <a:gd name="adj" fmla="val 3500"/>
            </a:avLst>
          </a:prstGeom>
          <a:solidFill>
            <a:srgbClr val="18242F"/>
          </a:solidFill>
          <a:ln w="9525">
            <a:solidFill>
              <a:srgbClr val="45C489"/>
            </a:solidFill>
            <a:prstDash val="solid"/>
          </a:ln>
        </p:spPr>
      </p:sp>
      <p:sp>
        <p:nvSpPr>
          <p:cNvPr id="20" name="Text 18"/>
          <p:cNvSpPr/>
          <p:nvPr/>
        </p:nvSpPr>
        <p:spPr>
          <a:xfrm>
            <a:off x="6446520" y="3767328"/>
            <a:ext cx="4846320" cy="320040"/>
          </a:xfrm>
          <a:prstGeom prst="rect">
            <a:avLst/>
          </a:prstGeom>
          <a:noFill/>
          <a:ln/>
        </p:spPr>
        <p:txBody>
          <a:bodyPr wrap="square" lIns="0" tIns="0" rIns="0" bIns="0" rtlCol="0" anchor="ctr"/>
          <a:lstStyle/>
          <a:p>
            <a:pPr indent="0" marL="0">
              <a:buNone/>
            </a:pPr>
            <a:r>
              <a:rPr lang="en-US" sz="1400" b="1" dirty="0">
                <a:solidFill>
                  <a:srgbClr val="45C489"/>
                </a:solidFill>
                <a:latin typeface="Calibri" pitchFamily="34" charset="0"/>
                <a:ea typeface="Calibri" pitchFamily="34" charset="-122"/>
                <a:cs typeface="Calibri" pitchFamily="34" charset="-120"/>
              </a:rPr>
              <a:t>Now, per sweep</a:t>
            </a:r>
            <a:endParaRPr lang="en-US" sz="1400" dirty="0"/>
          </a:p>
        </p:txBody>
      </p:sp>
      <p:sp>
        <p:nvSpPr>
          <p:cNvPr id="21" name="Text 19"/>
          <p:cNvSpPr/>
          <p:nvPr/>
        </p:nvSpPr>
        <p:spPr>
          <a:xfrm>
            <a:off x="6446520" y="4114800"/>
            <a:ext cx="4892040" cy="1188720"/>
          </a:xfrm>
          <a:prstGeom prst="rect">
            <a:avLst/>
          </a:prstGeom>
          <a:noFill/>
          <a:ln/>
        </p:spPr>
        <p:txBody>
          <a:bodyPr wrap="square" lIns="0" tIns="0" rIns="0" bIns="0" rtlCol="0" anchor="ctr"/>
          <a:lstStyle/>
          <a:p>
            <a:pPr indent="0" marL="0">
              <a:buNone/>
            </a:pPr>
            <a:r>
              <a:rPr lang="en-US" sz="1250" b="1" dirty="0">
                <a:solidFill>
                  <a:srgbClr val="F2F6FA"/>
                </a:solidFill>
                <a:latin typeface="Calibri" pitchFamily="34" charset="0"/>
                <a:ea typeface="Calibri" pitchFamily="34" charset="-122"/>
                <a:cs typeface="Calibri" pitchFamily="34" charset="-120"/>
              </a:rPr>
              <a:t>364 queries · 133,775 band evaluations · 7.6 s. </a:t>
            </a:r>
            <a:pPr indent="0" marL="0">
              <a:buNone/>
            </a:pPr>
            <a:r>
              <a:rPr lang="en-US" sz="1250" dirty="0">
                <a:solidFill>
                  <a:srgbClr val="9AAFC4"/>
                </a:solidFill>
                <a:latin typeface="Calibri" pitchFamily="34" charset="0"/>
                <a:ea typeface="Calibri" pitchFamily="34" charset="-122"/>
                <a:cs typeface="Calibri" pitchFamily="34" charset="-120"/>
              </a:rPr>
              <a:t>Two queries per (scope, grain) — not per entity — so covering 2,000 apps costs the same as covering 5 regions.</a:t>
            </a:r>
            <a:endParaRPr lang="en-US" sz="1250" dirty="0"/>
          </a:p>
        </p:txBody>
      </p:sp>
      <p:sp>
        <p:nvSpPr>
          <p:cNvPr id="22" name="Text 20"/>
          <p:cNvSpPr/>
          <p:nvPr/>
        </p:nvSpPr>
        <p:spPr>
          <a:xfrm>
            <a:off x="548640" y="5760720"/>
            <a:ext cx="11064240" cy="548640"/>
          </a:xfrm>
          <a:prstGeom prst="rect">
            <a:avLst/>
          </a:prstGeom>
          <a:noFill/>
          <a:ln/>
        </p:spPr>
        <p:txBody>
          <a:bodyPr wrap="square" lIns="0" tIns="0" rIns="0" bIns="0" rtlCol="0" anchor="ctr"/>
          <a:lstStyle/>
          <a:p>
            <a:pPr indent="0" marL="0">
              <a:buNone/>
            </a:pPr>
            <a:r>
              <a:rPr lang="en-US" sz="1300" i="1" dirty="0">
                <a:solidFill>
                  <a:srgbClr val="9AAFC4"/>
                </a:solidFill>
                <a:latin typeface="Calibri" pitchFamily="34" charset="0"/>
                <a:ea typeface="Calibri" pitchFamily="34" charset="-122"/>
                <a:cs typeface="Calibri" pitchFamily="34" charset="-120"/>
              </a:rPr>
              <a:t>Seasonality is respected before anything is flagged: every band is built same-weekday over trailing weeks — a flat average would false-alarm every single weekend.</a:t>
            </a:r>
            <a:endParaRPr lang="en-US" sz="1300" dirty="0"/>
          </a:p>
        </p:txBody>
      </p:sp>
      <p:sp>
        <p:nvSpPr>
          <p:cNvPr id="24" name="Text 21"/>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F2A93B"/>
                </a:solidFill>
                <a:latin typeface="Calibri" pitchFamily="34" charset="0"/>
                <a:ea typeface="Calibri" pitchFamily="34" charset="-122"/>
                <a:cs typeface="Calibri" pitchFamily="34" charset="-120"/>
              </a:rPr>
              <a:t>THE MONEY SLIDE</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Detection is easy. Not crying wolf is the problem we solved.</a:t>
            </a:r>
            <a:endParaRPr lang="en-US" sz="3000" dirty="0"/>
          </a:p>
        </p:txBody>
      </p:sp>
      <p:sp>
        <p:nvSpPr>
          <p:cNvPr id="4" name="Shape 2"/>
          <p:cNvSpPr/>
          <p:nvPr/>
        </p:nvSpPr>
        <p:spPr>
          <a:xfrm>
            <a:off x="548640" y="1691640"/>
            <a:ext cx="10881360" cy="868680"/>
          </a:xfrm>
          <a:prstGeom prst="roundRect">
            <a:avLst>
              <a:gd name="adj" fmla="val 7368"/>
            </a:avLst>
          </a:prstGeom>
          <a:solidFill>
            <a:srgbClr val="E25B5B">
              <a:alpha val="22000"/>
            </a:srgbClr>
          </a:solidFill>
          <a:ln w="15875">
            <a:solidFill>
              <a:srgbClr val="E25B5B"/>
            </a:solidFill>
            <a:prstDash val="solid"/>
          </a:ln>
        </p:spPr>
      </p:sp>
      <p:sp>
        <p:nvSpPr>
          <p:cNvPr id="5" name="Text 3"/>
          <p:cNvSpPr/>
          <p:nvPr/>
        </p:nvSpPr>
        <p:spPr>
          <a:xfrm>
            <a:off x="777240" y="1764792"/>
            <a:ext cx="1737360" cy="731520"/>
          </a:xfrm>
          <a:prstGeom prst="rect">
            <a:avLst/>
          </a:prstGeom>
          <a:noFill/>
          <a:ln/>
        </p:spPr>
        <p:txBody>
          <a:bodyPr wrap="square" lIns="0" tIns="0" rIns="0" bIns="0" rtlCol="0" anchor="ctr"/>
          <a:lstStyle/>
          <a:p>
            <a:pPr indent="0" marL="0">
              <a:buNone/>
            </a:pPr>
            <a:r>
              <a:rPr lang="en-US" sz="3000" b="1" dirty="0">
                <a:solidFill>
                  <a:srgbClr val="E25B5B"/>
                </a:solidFill>
                <a:latin typeface="Courier New" pitchFamily="34" charset="0"/>
                <a:ea typeface="Courier New" pitchFamily="34" charset="-122"/>
                <a:cs typeface="Courier New" pitchFamily="34" charset="-120"/>
              </a:rPr>
              <a:t>4,495</a:t>
            </a:r>
            <a:endParaRPr lang="en-US" sz="3000" dirty="0"/>
          </a:p>
        </p:txBody>
      </p:sp>
      <p:sp>
        <p:nvSpPr>
          <p:cNvPr id="6" name="Text 4"/>
          <p:cNvSpPr/>
          <p:nvPr/>
        </p:nvSpPr>
        <p:spPr>
          <a:xfrm>
            <a:off x="2560320" y="1764792"/>
            <a:ext cx="5989320" cy="731520"/>
          </a:xfrm>
          <a:prstGeom prst="rect">
            <a:avLst/>
          </a:prstGeom>
          <a:noFill/>
          <a:ln/>
        </p:spPr>
        <p:txBody>
          <a:bodyPr wrap="square" lIns="0" tIns="0" rIns="0" bIns="0" rtlCol="0" anchor="ctr"/>
          <a:lstStyle/>
          <a:p>
            <a:pPr indent="0" marL="0">
              <a:buNone/>
            </a:pPr>
            <a:r>
              <a:rPr lang="en-US" sz="1500" b="1" dirty="0">
                <a:solidFill>
                  <a:srgbClr val="F2F6FA"/>
                </a:solidFill>
                <a:latin typeface="Calibri" pitchFamily="34" charset="0"/>
                <a:ea typeface="Calibri" pitchFamily="34" charset="-122"/>
                <a:cs typeface="Calibri" pitchFamily="34" charset="-120"/>
              </a:rPr>
              <a:t>band breaches  </a:t>
            </a:r>
            <a:pPr indent="0" marL="0">
              <a:buNone/>
            </a:pPr>
            <a:r>
              <a:rPr lang="en-US" sz="1150" dirty="0">
                <a:solidFill>
                  <a:srgbClr val="9AAFC4"/>
                </a:solidFill>
                <a:latin typeface="Calibri" pitchFamily="34" charset="0"/>
                <a:ea typeface="Calibri" pitchFamily="34" charset="-122"/>
                <a:cs typeface="Calibri" pitchFamily="34" charset="-120"/>
              </a:rPr>
              <a:t>every cell whose value left its band</a:t>
            </a:r>
            <a:endParaRPr lang="en-US" sz="1500" dirty="0"/>
          </a:p>
        </p:txBody>
      </p:sp>
      <p:sp>
        <p:nvSpPr>
          <p:cNvPr id="7" name="Shape 5"/>
          <p:cNvSpPr/>
          <p:nvPr/>
        </p:nvSpPr>
        <p:spPr>
          <a:xfrm>
            <a:off x="548640" y="2770632"/>
            <a:ext cx="8229600" cy="868680"/>
          </a:xfrm>
          <a:prstGeom prst="roundRect">
            <a:avLst>
              <a:gd name="adj" fmla="val 7368"/>
            </a:avLst>
          </a:prstGeom>
          <a:solidFill>
            <a:srgbClr val="F2A93B">
              <a:alpha val="22000"/>
            </a:srgbClr>
          </a:solidFill>
          <a:ln w="15875">
            <a:solidFill>
              <a:srgbClr val="F2A93B"/>
            </a:solidFill>
            <a:prstDash val="solid"/>
          </a:ln>
        </p:spPr>
      </p:sp>
      <p:sp>
        <p:nvSpPr>
          <p:cNvPr id="8" name="Text 6"/>
          <p:cNvSpPr/>
          <p:nvPr/>
        </p:nvSpPr>
        <p:spPr>
          <a:xfrm>
            <a:off x="777240" y="2843784"/>
            <a:ext cx="1737360" cy="731520"/>
          </a:xfrm>
          <a:prstGeom prst="rect">
            <a:avLst/>
          </a:prstGeom>
          <a:noFill/>
          <a:ln/>
        </p:spPr>
        <p:txBody>
          <a:bodyPr wrap="square" lIns="0" tIns="0" rIns="0" bIns="0" rtlCol="0" anchor="ctr"/>
          <a:lstStyle/>
          <a:p>
            <a:pPr indent="0" marL="0">
              <a:buNone/>
            </a:pPr>
            <a:r>
              <a:rPr lang="en-US" sz="3000" b="1" dirty="0">
                <a:solidFill>
                  <a:srgbClr val="F2A93B"/>
                </a:solidFill>
                <a:latin typeface="Courier New" pitchFamily="34" charset="0"/>
                <a:ea typeface="Courier New" pitchFamily="34" charset="-122"/>
                <a:cs typeface="Courier New" pitchFamily="34" charset="-120"/>
              </a:rPr>
              <a:t>1,236</a:t>
            </a:r>
            <a:endParaRPr lang="en-US" sz="3000" dirty="0"/>
          </a:p>
        </p:txBody>
      </p:sp>
      <p:sp>
        <p:nvSpPr>
          <p:cNvPr id="9" name="Text 7"/>
          <p:cNvSpPr/>
          <p:nvPr/>
        </p:nvSpPr>
        <p:spPr>
          <a:xfrm>
            <a:off x="2560320" y="2843784"/>
            <a:ext cx="5989320" cy="731520"/>
          </a:xfrm>
          <a:prstGeom prst="rect">
            <a:avLst/>
          </a:prstGeom>
          <a:noFill/>
          <a:ln/>
        </p:spPr>
        <p:txBody>
          <a:bodyPr wrap="square" lIns="0" tIns="0" rIns="0" bIns="0" rtlCol="0" anchor="ctr"/>
          <a:lstStyle/>
          <a:p>
            <a:pPr indent="0" marL="0">
              <a:buNone/>
            </a:pPr>
            <a:r>
              <a:rPr lang="en-US" sz="1500" b="1" dirty="0">
                <a:solidFill>
                  <a:srgbClr val="F2F6FA"/>
                </a:solidFill>
                <a:latin typeface="Calibri" pitchFamily="34" charset="0"/>
                <a:ea typeface="Calibri" pitchFamily="34" charset="-122"/>
                <a:cs typeface="Calibri" pitchFamily="34" charset="-120"/>
              </a:rPr>
              <a:t>confirmed  </a:t>
            </a:r>
            <a:pPr indent="0" marL="0">
              <a:buNone/>
            </a:pPr>
            <a:r>
              <a:rPr lang="en-US" sz="1150" dirty="0">
                <a:solidFill>
                  <a:srgbClr val="9AAFC4"/>
                </a:solidFill>
                <a:latin typeface="Calibri" pitchFamily="34" charset="0"/>
                <a:ea typeface="Calibri" pitchFamily="34" charset="-122"/>
                <a:cs typeface="Calibri" pitchFamily="34" charset="-120"/>
              </a:rPr>
              <a:t>persistence + seasonality checks passed</a:t>
            </a:r>
            <a:endParaRPr lang="en-US" sz="1500" dirty="0"/>
          </a:p>
        </p:txBody>
      </p:sp>
      <p:sp>
        <p:nvSpPr>
          <p:cNvPr id="10" name="Shape 8"/>
          <p:cNvSpPr/>
          <p:nvPr/>
        </p:nvSpPr>
        <p:spPr>
          <a:xfrm>
            <a:off x="548640" y="3849624"/>
            <a:ext cx="5577840" cy="868680"/>
          </a:xfrm>
          <a:prstGeom prst="roundRect">
            <a:avLst>
              <a:gd name="adj" fmla="val 7368"/>
            </a:avLst>
          </a:prstGeom>
          <a:solidFill>
            <a:srgbClr val="58A6E8">
              <a:alpha val="22000"/>
            </a:srgbClr>
          </a:solidFill>
          <a:ln w="15875">
            <a:solidFill>
              <a:srgbClr val="58A6E8"/>
            </a:solidFill>
            <a:prstDash val="solid"/>
          </a:ln>
        </p:spPr>
      </p:sp>
      <p:sp>
        <p:nvSpPr>
          <p:cNvPr id="11" name="Text 9"/>
          <p:cNvSpPr/>
          <p:nvPr/>
        </p:nvSpPr>
        <p:spPr>
          <a:xfrm>
            <a:off x="777240" y="3922776"/>
            <a:ext cx="1737360" cy="731520"/>
          </a:xfrm>
          <a:prstGeom prst="rect">
            <a:avLst/>
          </a:prstGeom>
          <a:noFill/>
          <a:ln/>
        </p:spPr>
        <p:txBody>
          <a:bodyPr wrap="square" lIns="0" tIns="0" rIns="0" bIns="0" rtlCol="0" anchor="ctr"/>
          <a:lstStyle/>
          <a:p>
            <a:pPr indent="0" marL="0">
              <a:buNone/>
            </a:pPr>
            <a:r>
              <a:rPr lang="en-US" sz="3000" b="1" dirty="0">
                <a:solidFill>
                  <a:srgbClr val="58A6E8"/>
                </a:solidFill>
                <a:latin typeface="Courier New" pitchFamily="34" charset="0"/>
                <a:ea typeface="Courier New" pitchFamily="34" charset="-122"/>
                <a:cs typeface="Courier New" pitchFamily="34" charset="-120"/>
              </a:rPr>
              <a:t>289</a:t>
            </a:r>
            <a:endParaRPr lang="en-US" sz="3000" dirty="0"/>
          </a:p>
        </p:txBody>
      </p:sp>
      <p:sp>
        <p:nvSpPr>
          <p:cNvPr id="12" name="Text 10"/>
          <p:cNvSpPr/>
          <p:nvPr/>
        </p:nvSpPr>
        <p:spPr>
          <a:xfrm>
            <a:off x="2560320" y="3922776"/>
            <a:ext cx="5989320" cy="731520"/>
          </a:xfrm>
          <a:prstGeom prst="rect">
            <a:avLst/>
          </a:prstGeom>
          <a:noFill/>
          <a:ln/>
        </p:spPr>
        <p:txBody>
          <a:bodyPr wrap="square" lIns="0" tIns="0" rIns="0" bIns="0" rtlCol="0" anchor="ctr"/>
          <a:lstStyle/>
          <a:p>
            <a:pPr indent="0" marL="0">
              <a:buNone/>
            </a:pPr>
            <a:r>
              <a:rPr lang="en-US" sz="1500" b="1" dirty="0">
                <a:solidFill>
                  <a:srgbClr val="F2F6FA"/>
                </a:solidFill>
                <a:latin typeface="Calibri" pitchFamily="34" charset="0"/>
                <a:ea typeface="Calibri" pitchFamily="34" charset="-122"/>
                <a:cs typeface="Calibri" pitchFamily="34" charset="-120"/>
              </a:rPr>
              <a:t>incidents  </a:t>
            </a:r>
            <a:pPr indent="0" marL="0">
              <a:buNone/>
            </a:pPr>
            <a:r>
              <a:rPr lang="en-US" sz="1150" dirty="0">
                <a:solidFill>
                  <a:srgbClr val="9AAFC4"/>
                </a:solidFill>
                <a:latin typeface="Calibri" pitchFamily="34" charset="0"/>
                <a:ea typeface="Calibri" pitchFamily="34" charset="-122"/>
                <a:cs typeface="Calibri" pitchFamily="34" charset="-120"/>
              </a:rPr>
              <a:t>correlated breaches clustered into events</a:t>
            </a:r>
            <a:endParaRPr lang="en-US" sz="1500" dirty="0"/>
          </a:p>
        </p:txBody>
      </p:sp>
      <p:sp>
        <p:nvSpPr>
          <p:cNvPr id="13" name="Shape 11"/>
          <p:cNvSpPr/>
          <p:nvPr/>
        </p:nvSpPr>
        <p:spPr>
          <a:xfrm>
            <a:off x="548640" y="4928616"/>
            <a:ext cx="2926080" cy="868680"/>
          </a:xfrm>
          <a:prstGeom prst="roundRect">
            <a:avLst>
              <a:gd name="adj" fmla="val 7368"/>
            </a:avLst>
          </a:prstGeom>
          <a:solidFill>
            <a:srgbClr val="45C489">
              <a:alpha val="22000"/>
            </a:srgbClr>
          </a:solidFill>
          <a:ln w="15875">
            <a:solidFill>
              <a:srgbClr val="45C489"/>
            </a:solidFill>
            <a:prstDash val="solid"/>
          </a:ln>
        </p:spPr>
      </p:sp>
      <p:sp>
        <p:nvSpPr>
          <p:cNvPr id="14" name="Text 12"/>
          <p:cNvSpPr/>
          <p:nvPr/>
        </p:nvSpPr>
        <p:spPr>
          <a:xfrm>
            <a:off x="777240" y="5001768"/>
            <a:ext cx="1737360" cy="731520"/>
          </a:xfrm>
          <a:prstGeom prst="rect">
            <a:avLst/>
          </a:prstGeom>
          <a:noFill/>
          <a:ln/>
        </p:spPr>
        <p:txBody>
          <a:bodyPr wrap="square" lIns="0" tIns="0" rIns="0" bIns="0" rtlCol="0" anchor="ctr"/>
          <a:lstStyle/>
          <a:p>
            <a:pPr indent="0" marL="0">
              <a:buNone/>
            </a:pPr>
            <a:r>
              <a:rPr lang="en-US" sz="3000" b="1" dirty="0">
                <a:solidFill>
                  <a:srgbClr val="45C489"/>
                </a:solidFill>
                <a:latin typeface="Courier New" pitchFamily="34" charset="0"/>
                <a:ea typeface="Courier New" pitchFamily="34" charset="-122"/>
                <a:cs typeface="Courier New" pitchFamily="34" charset="-120"/>
              </a:rPr>
              <a:t>7</a:t>
            </a:r>
            <a:endParaRPr lang="en-US" sz="3000" dirty="0"/>
          </a:p>
        </p:txBody>
      </p:sp>
      <p:sp>
        <p:nvSpPr>
          <p:cNvPr id="15" name="Text 13"/>
          <p:cNvSpPr/>
          <p:nvPr/>
        </p:nvSpPr>
        <p:spPr>
          <a:xfrm>
            <a:off x="2560320" y="5001768"/>
            <a:ext cx="5989320" cy="731520"/>
          </a:xfrm>
          <a:prstGeom prst="rect">
            <a:avLst/>
          </a:prstGeom>
          <a:noFill/>
          <a:ln/>
        </p:spPr>
        <p:txBody>
          <a:bodyPr wrap="square" lIns="0" tIns="0" rIns="0" bIns="0" rtlCol="0" anchor="ctr"/>
          <a:lstStyle/>
          <a:p>
            <a:pPr indent="0" marL="0">
              <a:buNone/>
            </a:pPr>
            <a:r>
              <a:rPr lang="en-US" sz="1500" b="1" dirty="0">
                <a:solidFill>
                  <a:srgbClr val="F2F6FA"/>
                </a:solidFill>
                <a:latin typeface="Calibri" pitchFamily="34" charset="0"/>
                <a:ea typeface="Calibri" pitchFamily="34" charset="-122"/>
                <a:cs typeface="Calibri" pitchFamily="34" charset="-120"/>
              </a:rPr>
              <a:t>alertable  </a:t>
            </a:r>
            <a:pPr indent="0" marL="0">
              <a:buNone/>
            </a:pPr>
            <a:r>
              <a:rPr lang="en-US" sz="1150" dirty="0">
                <a:solidFill>
                  <a:srgbClr val="9AAFC4"/>
                </a:solidFill>
                <a:latin typeface="Calibri" pitchFamily="34" charset="0"/>
                <a:ea typeface="Calibri" pitchFamily="34" charset="-122"/>
                <a:cs typeface="Calibri" pitchFamily="34" charset="-120"/>
              </a:rPr>
              <a:t>cross the impact gate — worth a human’s time</a:t>
            </a:r>
            <a:endParaRPr lang="en-US" sz="1500" dirty="0"/>
          </a:p>
        </p:txBody>
      </p:sp>
      <p:sp>
        <p:nvSpPr>
          <p:cNvPr id="16" name="Text 14"/>
          <p:cNvSpPr/>
          <p:nvPr/>
        </p:nvSpPr>
        <p:spPr>
          <a:xfrm>
            <a:off x="8595360" y="3108960"/>
            <a:ext cx="3017520" cy="914400"/>
          </a:xfrm>
          <a:prstGeom prst="rect">
            <a:avLst/>
          </a:prstGeom>
          <a:noFill/>
          <a:ln/>
        </p:spPr>
        <p:txBody>
          <a:bodyPr wrap="square" lIns="0" tIns="0" rIns="0" bIns="0" rtlCol="0" anchor="ctr"/>
          <a:lstStyle/>
          <a:p>
            <a:pPr algn="ctr" indent="0" marL="0">
              <a:buNone/>
            </a:pPr>
            <a:r>
              <a:rPr lang="en-US" sz="4800" b="1" dirty="0">
                <a:solidFill>
                  <a:srgbClr val="F2F6FA"/>
                </a:solidFill>
                <a:latin typeface="Courier New" pitchFamily="34" charset="0"/>
                <a:ea typeface="Courier New" pitchFamily="34" charset="-122"/>
                <a:cs typeface="Courier New" pitchFamily="34" charset="-120"/>
              </a:rPr>
              <a:t>642×</a:t>
            </a:r>
            <a:endParaRPr lang="en-US" sz="4800" dirty="0"/>
          </a:p>
        </p:txBody>
      </p:sp>
      <p:sp>
        <p:nvSpPr>
          <p:cNvPr id="17" name="Text 15"/>
          <p:cNvSpPr/>
          <p:nvPr/>
        </p:nvSpPr>
        <p:spPr>
          <a:xfrm>
            <a:off x="8595360" y="4023360"/>
            <a:ext cx="3017520" cy="640080"/>
          </a:xfrm>
          <a:prstGeom prst="rect">
            <a:avLst/>
          </a:prstGeom>
          <a:noFill/>
          <a:ln/>
        </p:spPr>
        <p:txBody>
          <a:bodyPr wrap="square" lIns="0" tIns="0" rIns="0" bIns="0" rtlCol="0" anchor="ctr"/>
          <a:lstStyle/>
          <a:p>
            <a:pPr algn="ctr" indent="0" marL="0">
              <a:buNone/>
            </a:pPr>
            <a:r>
              <a:rPr lang="en-US" sz="1200" dirty="0">
                <a:solidFill>
                  <a:srgbClr val="9AAFC4"/>
                </a:solidFill>
                <a:latin typeface="Calibri" pitchFamily="34" charset="0"/>
                <a:ea typeface="Calibri" pitchFamily="34" charset="-122"/>
                <a:cs typeface="Calibri" pitchFamily="34" charset="-120"/>
              </a:rPr>
              <a:t>reduction, breach → alert</a:t>
            </a:r>
            <a:endParaRPr lang="en-US" sz="1200" dirty="0"/>
          </a:p>
          <a:p>
            <a:pPr algn="ctr" indent="0" marL="0">
              <a:buNone/>
            </a:pPr>
            <a:r>
              <a:rPr lang="en-US" sz="1200" dirty="0">
                <a:solidFill>
                  <a:srgbClr val="9AAFC4"/>
                </a:solidFill>
                <a:latin typeface="Calibri" pitchFamily="34" charset="0"/>
                <a:ea typeface="Calibri" pitchFamily="34" charset="-122"/>
                <a:cs typeface="Calibri" pitchFamily="34" charset="-120"/>
              </a:rPr>
              <a:t>(one sweep, as-of Jun 26)</a:t>
            </a:r>
            <a:endParaRPr lang="en-US" sz="1200" dirty="0"/>
          </a:p>
        </p:txBody>
      </p:sp>
      <p:sp>
        <p:nvSpPr>
          <p:cNvPr id="18" name="Shape 16"/>
          <p:cNvSpPr/>
          <p:nvPr/>
        </p:nvSpPr>
        <p:spPr>
          <a:xfrm>
            <a:off x="548640" y="5806440"/>
            <a:ext cx="11064240" cy="685800"/>
          </a:xfrm>
          <a:prstGeom prst="roundRect">
            <a:avLst>
              <a:gd name="adj" fmla="val 9333"/>
            </a:avLst>
          </a:prstGeom>
          <a:solidFill>
            <a:srgbClr val="1D2C3A"/>
          </a:solidFill>
          <a:ln w="9525">
            <a:solidFill>
              <a:srgbClr val="2A3A4D"/>
            </a:solidFill>
            <a:prstDash val="solid"/>
          </a:ln>
        </p:spPr>
      </p:sp>
      <p:sp>
        <p:nvSpPr>
          <p:cNvPr id="19" name="Text 17"/>
          <p:cNvSpPr/>
          <p:nvPr/>
        </p:nvSpPr>
        <p:spPr>
          <a:xfrm>
            <a:off x="822960" y="5806440"/>
            <a:ext cx="10515600" cy="685800"/>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Suppression is visible, never silent: </a:t>
            </a:r>
            <a:pPr indent="0" marL="0">
              <a:buNone/>
            </a:pPr>
            <a:r>
              <a:rPr lang="en-US" sz="1300" dirty="0">
                <a:solidFill>
                  <a:srgbClr val="9AAFC4"/>
                </a:solidFill>
                <a:latin typeface="Calibri" pitchFamily="34" charset="0"/>
                <a:ea typeface="Calibri" pitchFamily="34" charset="-122"/>
                <a:cs typeface="Calibri" pitchFamily="34" charset="-120"/>
              </a:rPr>
              <a:t>the ops home reports exactly how many findings were suppressed and why — a queue that hides its own filtering can’t be trusted either.</a:t>
            </a:r>
            <a:endParaRPr lang="en-US" sz="1300" dirty="0"/>
          </a:p>
        </p:txBody>
      </p:sp>
      <p:sp>
        <p:nvSpPr>
          <p:cNvPr id="21" name="Text 18"/>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F2A93B"/>
                </a:solidFill>
                <a:latin typeface="Calibri" pitchFamily="34" charset="0"/>
                <a:ea typeface="Calibri" pitchFamily="34" charset="-122"/>
                <a:cs typeface="Calibri" pitchFamily="34" charset="-120"/>
              </a:rPr>
              <a:t>DETECTION RESULTS</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Both planted incidents — caught on the earliest sweep that could see them</a:t>
            </a:r>
            <a:endParaRPr lang="en-US" sz="3000" dirty="0"/>
          </a:p>
        </p:txBody>
      </p:sp>
      <p:sp>
        <p:nvSpPr>
          <p:cNvPr id="4" name="Shape 2"/>
          <p:cNvSpPr/>
          <p:nvPr/>
        </p:nvSpPr>
        <p:spPr>
          <a:xfrm>
            <a:off x="548640" y="1508760"/>
            <a:ext cx="5440680" cy="4160520"/>
          </a:xfrm>
          <a:prstGeom prst="roundRect">
            <a:avLst>
              <a:gd name="adj" fmla="val 1538"/>
            </a:avLst>
          </a:prstGeom>
          <a:solidFill>
            <a:srgbClr val="18242F"/>
          </a:solidFill>
          <a:ln w="9525">
            <a:solidFill>
              <a:srgbClr val="2A3A4D"/>
            </a:solidFill>
            <a:prstDash val="solid"/>
          </a:ln>
        </p:spPr>
      </p:sp>
      <p:sp>
        <p:nvSpPr>
          <p:cNvPr id="5" name="Text 3"/>
          <p:cNvSpPr/>
          <p:nvPr/>
        </p:nvSpPr>
        <p:spPr>
          <a:xfrm>
            <a:off x="822960" y="1691640"/>
            <a:ext cx="4846320" cy="365760"/>
          </a:xfrm>
          <a:prstGeom prst="rect">
            <a:avLst/>
          </a:prstGeom>
          <a:noFill/>
          <a:ln/>
        </p:spPr>
        <p:txBody>
          <a:bodyPr wrap="square" lIns="0" tIns="0" rIns="0" bIns="0" rtlCol="0" anchor="ctr"/>
          <a:lstStyle/>
          <a:p>
            <a:pPr indent="0" marL="0">
              <a:buNone/>
            </a:pPr>
            <a:r>
              <a:rPr lang="en-US" sz="1800" b="1" dirty="0">
                <a:solidFill>
                  <a:srgbClr val="F2A93B"/>
                </a:solidFill>
                <a:latin typeface="Courier New" pitchFamily="34" charset="0"/>
                <a:ea typeface="Courier New" pitchFamily="34" charset="-122"/>
                <a:cs typeface="Courier New" pitchFamily="34" charset="-120"/>
              </a:rPr>
              <a:t>INC-0623</a:t>
            </a:r>
            <a:endParaRPr lang="en-US" sz="1800" dirty="0"/>
          </a:p>
        </p:txBody>
      </p:sp>
      <p:sp>
        <p:nvSpPr>
          <p:cNvPr id="6" name="Text 4"/>
          <p:cNvSpPr/>
          <p:nvPr/>
        </p:nvSpPr>
        <p:spPr>
          <a:xfrm>
            <a:off x="822960" y="2084832"/>
            <a:ext cx="4892040" cy="365760"/>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Android demand partner outage</a:t>
            </a:r>
            <a:endParaRPr lang="en-US" sz="1300" dirty="0"/>
          </a:p>
        </p:txBody>
      </p:sp>
      <p:sp>
        <p:nvSpPr>
          <p:cNvPr id="7" name="Text 5"/>
          <p:cNvSpPr/>
          <p:nvPr/>
        </p:nvSpPr>
        <p:spPr>
          <a:xfrm>
            <a:off x="822960" y="2606040"/>
            <a:ext cx="1691640" cy="411480"/>
          </a:xfrm>
          <a:prstGeom prst="rect">
            <a:avLst/>
          </a:prstGeom>
          <a:noFill/>
          <a:ln/>
        </p:spPr>
        <p:txBody>
          <a:bodyPr wrap="square" lIns="0" tIns="0" rIns="0" bIns="0" rtlCol="0" anchor="ctr"/>
          <a:lstStyle/>
          <a:p>
            <a:pPr indent="0" marL="0">
              <a:buNone/>
            </a:pPr>
            <a:r>
              <a:rPr lang="en-US" sz="1150" dirty="0">
                <a:solidFill>
                  <a:srgbClr val="6E839A"/>
                </a:solidFill>
                <a:latin typeface="Calibri" pitchFamily="34" charset="0"/>
                <a:ea typeface="Calibri" pitchFamily="34" charset="-122"/>
                <a:cs typeface="Calibri" pitchFamily="34" charset="-120"/>
              </a:rPr>
              <a:t>Detected</a:t>
            </a:r>
            <a:endParaRPr lang="en-US" sz="1150" dirty="0"/>
          </a:p>
        </p:txBody>
      </p:sp>
      <p:sp>
        <p:nvSpPr>
          <p:cNvPr id="8" name="Text 6"/>
          <p:cNvSpPr/>
          <p:nvPr/>
        </p:nvSpPr>
        <p:spPr>
          <a:xfrm>
            <a:off x="2514600" y="2606040"/>
            <a:ext cx="3246120" cy="411480"/>
          </a:xfrm>
          <a:prstGeom prst="rect">
            <a:avLst/>
          </a:prstGeom>
          <a:noFill/>
          <a:ln/>
        </p:spPr>
        <p:txBody>
          <a:bodyPr wrap="square" lIns="0" tIns="0" rIns="0" bIns="0" rtlCol="0" anchor="ctr"/>
          <a:lstStyle/>
          <a:p>
            <a:pPr indent="0" marL="0">
              <a:buNone/>
            </a:pPr>
            <a:r>
              <a:rPr lang="en-US" sz="1150" b="1" dirty="0">
                <a:solidFill>
                  <a:srgbClr val="F2F6FA"/>
                </a:solidFill>
                <a:latin typeface="Courier New" pitchFamily="34" charset="0"/>
                <a:ea typeface="Courier New" pitchFamily="34" charset="-122"/>
                <a:cs typeface="Courier New" pitchFamily="34" charset="-120"/>
              </a:rPr>
              <a:t>Jun 24 · [S4] os_family=Android</a:t>
            </a:r>
            <a:endParaRPr lang="en-US" sz="1150" dirty="0"/>
          </a:p>
        </p:txBody>
      </p:sp>
      <p:sp>
        <p:nvSpPr>
          <p:cNvPr id="9" name="Text 7"/>
          <p:cNvSpPr/>
          <p:nvPr/>
        </p:nvSpPr>
        <p:spPr>
          <a:xfrm>
            <a:off x="822960" y="3063240"/>
            <a:ext cx="1691640" cy="411480"/>
          </a:xfrm>
          <a:prstGeom prst="rect">
            <a:avLst/>
          </a:prstGeom>
          <a:noFill/>
          <a:ln/>
        </p:spPr>
        <p:txBody>
          <a:bodyPr wrap="square" lIns="0" tIns="0" rIns="0" bIns="0" rtlCol="0" anchor="ctr"/>
          <a:lstStyle/>
          <a:p>
            <a:pPr indent="0" marL="0">
              <a:buNone/>
            </a:pPr>
            <a:r>
              <a:rPr lang="en-US" sz="1150" dirty="0">
                <a:solidFill>
                  <a:srgbClr val="6E839A"/>
                </a:solidFill>
                <a:latin typeface="Calibri" pitchFamily="34" charset="0"/>
                <a:ea typeface="Calibri" pitchFamily="34" charset="-122"/>
                <a:cs typeface="Calibri" pitchFamily="34" charset="-120"/>
              </a:rPr>
              <a:t>Metric · grain</a:t>
            </a:r>
            <a:endParaRPr lang="en-US" sz="1150" dirty="0"/>
          </a:p>
        </p:txBody>
      </p:sp>
      <p:sp>
        <p:nvSpPr>
          <p:cNvPr id="10" name="Text 8"/>
          <p:cNvSpPr/>
          <p:nvPr/>
        </p:nvSpPr>
        <p:spPr>
          <a:xfrm>
            <a:off x="2514600" y="3063240"/>
            <a:ext cx="3246120" cy="411480"/>
          </a:xfrm>
          <a:prstGeom prst="rect">
            <a:avLst/>
          </a:prstGeom>
          <a:noFill/>
          <a:ln/>
        </p:spPr>
        <p:txBody>
          <a:bodyPr wrap="square" lIns="0" tIns="0" rIns="0" bIns="0" rtlCol="0" anchor="ctr"/>
          <a:lstStyle/>
          <a:p>
            <a:pPr indent="0" marL="0">
              <a:buNone/>
            </a:pPr>
            <a:r>
              <a:rPr lang="en-US" sz="1150" b="1" dirty="0">
                <a:solidFill>
                  <a:srgbClr val="F2F6FA"/>
                </a:solidFill>
                <a:latin typeface="Courier New" pitchFamily="34" charset="0"/>
                <a:ea typeface="Courier New" pitchFamily="34" charset="-122"/>
                <a:cs typeface="Courier New" pitchFamily="34" charset="-120"/>
              </a:rPr>
              <a:t>fill_rate · 1d</a:t>
            </a:r>
            <a:endParaRPr lang="en-US" sz="1150" dirty="0"/>
          </a:p>
        </p:txBody>
      </p:sp>
      <p:sp>
        <p:nvSpPr>
          <p:cNvPr id="11" name="Text 9"/>
          <p:cNvSpPr/>
          <p:nvPr/>
        </p:nvSpPr>
        <p:spPr>
          <a:xfrm>
            <a:off x="822960" y="3520440"/>
            <a:ext cx="1691640" cy="411480"/>
          </a:xfrm>
          <a:prstGeom prst="rect">
            <a:avLst/>
          </a:prstGeom>
          <a:noFill/>
          <a:ln/>
        </p:spPr>
        <p:txBody>
          <a:bodyPr wrap="square" lIns="0" tIns="0" rIns="0" bIns="0" rtlCol="0" anchor="ctr"/>
          <a:lstStyle/>
          <a:p>
            <a:pPr indent="0" marL="0">
              <a:buNone/>
            </a:pPr>
            <a:r>
              <a:rPr lang="en-US" sz="1150" dirty="0">
                <a:solidFill>
                  <a:srgbClr val="6E839A"/>
                </a:solidFill>
                <a:latin typeface="Calibri" pitchFamily="34" charset="0"/>
                <a:ea typeface="Calibri" pitchFamily="34" charset="-122"/>
                <a:cs typeface="Calibri" pitchFamily="34" charset="-120"/>
              </a:rPr>
              <a:t>Impact</a:t>
            </a:r>
            <a:endParaRPr lang="en-US" sz="1150" dirty="0"/>
          </a:p>
        </p:txBody>
      </p:sp>
      <p:sp>
        <p:nvSpPr>
          <p:cNvPr id="12" name="Text 10"/>
          <p:cNvSpPr/>
          <p:nvPr/>
        </p:nvSpPr>
        <p:spPr>
          <a:xfrm>
            <a:off x="2514600" y="3520440"/>
            <a:ext cx="3246120" cy="411480"/>
          </a:xfrm>
          <a:prstGeom prst="rect">
            <a:avLst/>
          </a:prstGeom>
          <a:noFill/>
          <a:ln/>
        </p:spPr>
        <p:txBody>
          <a:bodyPr wrap="square" lIns="0" tIns="0" rIns="0" bIns="0" rtlCol="0" anchor="ctr"/>
          <a:lstStyle/>
          <a:p>
            <a:pPr indent="0" marL="0">
              <a:buNone/>
            </a:pPr>
            <a:r>
              <a:rPr lang="en-US" sz="1150" b="1" dirty="0">
                <a:solidFill>
                  <a:srgbClr val="F2F6FA"/>
                </a:solidFill>
                <a:latin typeface="Courier New" pitchFamily="34" charset="0"/>
                <a:ea typeface="Courier New" pitchFamily="34" charset="-122"/>
                <a:cs typeface="Courier New" pitchFamily="34" charset="-120"/>
              </a:rPr>
              <a:t>$24.42/day → $48.84 over 2 windows</a:t>
            </a:r>
            <a:endParaRPr lang="en-US" sz="1150" dirty="0"/>
          </a:p>
        </p:txBody>
      </p:sp>
      <p:sp>
        <p:nvSpPr>
          <p:cNvPr id="13" name="Text 11"/>
          <p:cNvSpPr/>
          <p:nvPr/>
        </p:nvSpPr>
        <p:spPr>
          <a:xfrm>
            <a:off x="822960" y="3977640"/>
            <a:ext cx="1691640" cy="411480"/>
          </a:xfrm>
          <a:prstGeom prst="rect">
            <a:avLst/>
          </a:prstGeom>
          <a:noFill/>
          <a:ln/>
        </p:spPr>
        <p:txBody>
          <a:bodyPr wrap="square" lIns="0" tIns="0" rIns="0" bIns="0" rtlCol="0" anchor="ctr"/>
          <a:lstStyle/>
          <a:p>
            <a:pPr indent="0" marL="0">
              <a:buNone/>
            </a:pPr>
            <a:r>
              <a:rPr lang="en-US" sz="1150" dirty="0">
                <a:solidFill>
                  <a:srgbClr val="6E839A"/>
                </a:solidFill>
                <a:latin typeface="Calibri" pitchFamily="34" charset="0"/>
                <a:ea typeface="Calibri" pitchFamily="34" charset="-122"/>
                <a:cs typeface="Calibri" pitchFamily="34" charset="-120"/>
              </a:rPr>
              <a:t>Confidence</a:t>
            </a:r>
            <a:endParaRPr lang="en-US" sz="1150" dirty="0"/>
          </a:p>
        </p:txBody>
      </p:sp>
      <p:sp>
        <p:nvSpPr>
          <p:cNvPr id="14" name="Text 12"/>
          <p:cNvSpPr/>
          <p:nvPr/>
        </p:nvSpPr>
        <p:spPr>
          <a:xfrm>
            <a:off x="2514600" y="3977640"/>
            <a:ext cx="3246120" cy="411480"/>
          </a:xfrm>
          <a:prstGeom prst="rect">
            <a:avLst/>
          </a:prstGeom>
          <a:noFill/>
          <a:ln/>
        </p:spPr>
        <p:txBody>
          <a:bodyPr wrap="square" lIns="0" tIns="0" rIns="0" bIns="0" rtlCol="0" anchor="ctr"/>
          <a:lstStyle/>
          <a:p>
            <a:pPr indent="0" marL="0">
              <a:buNone/>
            </a:pPr>
            <a:r>
              <a:rPr lang="en-US" sz="1150" b="1" dirty="0">
                <a:solidFill>
                  <a:srgbClr val="F2F6FA"/>
                </a:solidFill>
                <a:latin typeface="Courier New" pitchFamily="34" charset="0"/>
                <a:ea typeface="Courier New" pitchFamily="34" charset="-122"/>
                <a:cs typeface="Courier New" pitchFamily="34" charset="-120"/>
              </a:rPr>
              <a:t>0.85 · owner: demand</a:t>
            </a:r>
            <a:endParaRPr lang="en-US" sz="1150" dirty="0"/>
          </a:p>
        </p:txBody>
      </p:sp>
      <p:sp>
        <p:nvSpPr>
          <p:cNvPr id="15" name="Text 13"/>
          <p:cNvSpPr/>
          <p:nvPr/>
        </p:nvSpPr>
        <p:spPr>
          <a:xfrm>
            <a:off x="822960" y="4434840"/>
            <a:ext cx="1691640" cy="411480"/>
          </a:xfrm>
          <a:prstGeom prst="rect">
            <a:avLst/>
          </a:prstGeom>
          <a:noFill/>
          <a:ln/>
        </p:spPr>
        <p:txBody>
          <a:bodyPr wrap="square" lIns="0" tIns="0" rIns="0" bIns="0" rtlCol="0" anchor="ctr"/>
          <a:lstStyle/>
          <a:p>
            <a:pPr indent="0" marL="0">
              <a:buNone/>
            </a:pPr>
            <a:r>
              <a:rPr lang="en-US" sz="1150" dirty="0">
                <a:solidFill>
                  <a:srgbClr val="6E839A"/>
                </a:solidFill>
                <a:latin typeface="Calibri" pitchFamily="34" charset="0"/>
                <a:ea typeface="Calibri" pitchFamily="34" charset="-122"/>
                <a:cs typeface="Calibri" pitchFamily="34" charset="-120"/>
              </a:rPr>
              <a:t>Queue position</a:t>
            </a:r>
            <a:endParaRPr lang="en-US" sz="1150" dirty="0"/>
          </a:p>
        </p:txBody>
      </p:sp>
      <p:sp>
        <p:nvSpPr>
          <p:cNvPr id="16" name="Text 14"/>
          <p:cNvSpPr/>
          <p:nvPr/>
        </p:nvSpPr>
        <p:spPr>
          <a:xfrm>
            <a:off x="2514600" y="4434840"/>
            <a:ext cx="3246120" cy="411480"/>
          </a:xfrm>
          <a:prstGeom prst="rect">
            <a:avLst/>
          </a:prstGeom>
          <a:noFill/>
          <a:ln/>
        </p:spPr>
        <p:txBody>
          <a:bodyPr wrap="square" lIns="0" tIns="0" rIns="0" bIns="0" rtlCol="0" anchor="ctr"/>
          <a:lstStyle/>
          <a:p>
            <a:pPr indent="0" marL="0">
              <a:buNone/>
            </a:pPr>
            <a:r>
              <a:rPr lang="en-US" sz="1150" b="1" dirty="0">
                <a:solidFill>
                  <a:srgbClr val="F2F6FA"/>
                </a:solidFill>
                <a:latin typeface="Courier New" pitchFamily="34" charset="0"/>
                <a:ea typeface="Courier New" pitchFamily="34" charset="-122"/>
                <a:cs typeface="Courier New" pitchFamily="34" charset="-120"/>
              </a:rPr>
              <a:t>ranked 1st of 7 alertable</a:t>
            </a:r>
            <a:endParaRPr lang="en-US" sz="1150" dirty="0"/>
          </a:p>
        </p:txBody>
      </p:sp>
      <p:sp>
        <p:nvSpPr>
          <p:cNvPr id="17" name="Shape 15"/>
          <p:cNvSpPr/>
          <p:nvPr/>
        </p:nvSpPr>
        <p:spPr>
          <a:xfrm>
            <a:off x="822960" y="4937760"/>
            <a:ext cx="4892040" cy="0"/>
          </a:xfrm>
          <a:prstGeom prst="line">
            <a:avLst/>
          </a:prstGeom>
          <a:noFill/>
          <a:ln w="9525">
            <a:solidFill>
              <a:srgbClr val="2A3A4D"/>
            </a:solidFill>
            <a:prstDash val="solid"/>
          </a:ln>
        </p:spPr>
      </p:sp>
      <p:sp>
        <p:nvSpPr>
          <p:cNvPr id="18" name="Text 16"/>
          <p:cNvSpPr/>
          <p:nvPr/>
        </p:nvSpPr>
        <p:spPr>
          <a:xfrm>
            <a:off x="822960" y="5029200"/>
            <a:ext cx="4892040" cy="594360"/>
          </a:xfrm>
          <a:prstGeom prst="rect">
            <a:avLst/>
          </a:prstGeom>
          <a:noFill/>
          <a:ln/>
        </p:spPr>
        <p:txBody>
          <a:bodyPr wrap="square" lIns="0" tIns="0" rIns="0" bIns="0" rtlCol="0" anchor="ctr"/>
          <a:lstStyle/>
          <a:p>
            <a:pPr indent="0" marL="0">
              <a:buNone/>
            </a:pPr>
            <a:r>
              <a:rPr lang="en-US" sz="1150" i="1" dirty="0">
                <a:solidFill>
                  <a:srgbClr val="45C489"/>
                </a:solidFill>
                <a:latin typeface="Calibri" pitchFamily="34" charset="0"/>
                <a:ea typeface="Calibri" pitchFamily="34" charset="-122"/>
                <a:cs typeface="Calibri" pitchFamily="34" charset="-120"/>
              </a:rPr>
              <a:t>“Only 1 of 2 os_family values moved — Android fell while its siblings held.”</a:t>
            </a:r>
            <a:endParaRPr lang="en-US" sz="1150" dirty="0"/>
          </a:p>
        </p:txBody>
      </p:sp>
      <p:sp>
        <p:nvSpPr>
          <p:cNvPr id="19" name="Shape 17"/>
          <p:cNvSpPr/>
          <p:nvPr/>
        </p:nvSpPr>
        <p:spPr>
          <a:xfrm>
            <a:off x="6172200" y="1508760"/>
            <a:ext cx="5440680" cy="4160520"/>
          </a:xfrm>
          <a:prstGeom prst="roundRect">
            <a:avLst>
              <a:gd name="adj" fmla="val 1538"/>
            </a:avLst>
          </a:prstGeom>
          <a:solidFill>
            <a:srgbClr val="18242F"/>
          </a:solidFill>
          <a:ln w="9525">
            <a:solidFill>
              <a:srgbClr val="2A3A4D"/>
            </a:solidFill>
            <a:prstDash val="solid"/>
          </a:ln>
        </p:spPr>
      </p:sp>
      <p:sp>
        <p:nvSpPr>
          <p:cNvPr id="20" name="Text 18"/>
          <p:cNvSpPr/>
          <p:nvPr/>
        </p:nvSpPr>
        <p:spPr>
          <a:xfrm>
            <a:off x="6446520" y="1691640"/>
            <a:ext cx="4846320" cy="365760"/>
          </a:xfrm>
          <a:prstGeom prst="rect">
            <a:avLst/>
          </a:prstGeom>
          <a:noFill/>
          <a:ln/>
        </p:spPr>
        <p:txBody>
          <a:bodyPr wrap="square" lIns="0" tIns="0" rIns="0" bIns="0" rtlCol="0" anchor="ctr"/>
          <a:lstStyle/>
          <a:p>
            <a:pPr indent="0" marL="0">
              <a:buNone/>
            </a:pPr>
            <a:r>
              <a:rPr lang="en-US" sz="1800" b="1" dirty="0">
                <a:solidFill>
                  <a:srgbClr val="F2A93B"/>
                </a:solidFill>
                <a:latin typeface="Courier New" pitchFamily="34" charset="0"/>
                <a:ea typeface="Courier New" pitchFamily="34" charset="-122"/>
                <a:cs typeface="Courier New" pitchFamily="34" charset="-120"/>
              </a:rPr>
              <a:t>INC-0628</a:t>
            </a:r>
            <a:endParaRPr lang="en-US" sz="1800" dirty="0"/>
          </a:p>
        </p:txBody>
      </p:sp>
      <p:sp>
        <p:nvSpPr>
          <p:cNvPr id="21" name="Text 19"/>
          <p:cNvSpPr/>
          <p:nvPr/>
        </p:nvSpPr>
        <p:spPr>
          <a:xfrm>
            <a:off x="6446520" y="2084832"/>
            <a:ext cx="4892040" cy="365760"/>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Targeted demand loss, iPhone 14</a:t>
            </a:r>
            <a:endParaRPr lang="en-US" sz="1300" dirty="0"/>
          </a:p>
        </p:txBody>
      </p:sp>
      <p:sp>
        <p:nvSpPr>
          <p:cNvPr id="22" name="Text 20"/>
          <p:cNvSpPr/>
          <p:nvPr/>
        </p:nvSpPr>
        <p:spPr>
          <a:xfrm>
            <a:off x="6446520" y="2606040"/>
            <a:ext cx="1691640" cy="411480"/>
          </a:xfrm>
          <a:prstGeom prst="rect">
            <a:avLst/>
          </a:prstGeom>
          <a:noFill/>
          <a:ln/>
        </p:spPr>
        <p:txBody>
          <a:bodyPr wrap="square" lIns="0" tIns="0" rIns="0" bIns="0" rtlCol="0" anchor="ctr"/>
          <a:lstStyle/>
          <a:p>
            <a:pPr indent="0" marL="0">
              <a:buNone/>
            </a:pPr>
            <a:r>
              <a:rPr lang="en-US" sz="1150" dirty="0">
                <a:solidFill>
                  <a:srgbClr val="6E839A"/>
                </a:solidFill>
                <a:latin typeface="Calibri" pitchFamily="34" charset="0"/>
                <a:ea typeface="Calibri" pitchFamily="34" charset="-122"/>
                <a:cs typeface="Calibri" pitchFamily="34" charset="-120"/>
              </a:rPr>
              <a:t>Detected</a:t>
            </a:r>
            <a:endParaRPr lang="en-US" sz="1150" dirty="0"/>
          </a:p>
        </p:txBody>
      </p:sp>
      <p:sp>
        <p:nvSpPr>
          <p:cNvPr id="23" name="Text 21"/>
          <p:cNvSpPr/>
          <p:nvPr/>
        </p:nvSpPr>
        <p:spPr>
          <a:xfrm>
            <a:off x="8138160" y="2606040"/>
            <a:ext cx="3246120" cy="411480"/>
          </a:xfrm>
          <a:prstGeom prst="rect">
            <a:avLst/>
          </a:prstGeom>
          <a:noFill/>
          <a:ln/>
        </p:spPr>
        <p:txBody>
          <a:bodyPr wrap="square" lIns="0" tIns="0" rIns="0" bIns="0" rtlCol="0" anchor="ctr"/>
          <a:lstStyle/>
          <a:p>
            <a:pPr indent="0" marL="0">
              <a:buNone/>
            </a:pPr>
            <a:r>
              <a:rPr lang="en-US" sz="1150" b="1" dirty="0">
                <a:solidFill>
                  <a:srgbClr val="F2F6FA"/>
                </a:solidFill>
                <a:latin typeface="Courier New" pitchFamily="34" charset="0"/>
                <a:ea typeface="Courier New" pitchFamily="34" charset="-122"/>
                <a:cs typeface="Courier New" pitchFamily="34" charset="-120"/>
              </a:rPr>
              <a:t>Jun 29 · [S6] os_version=iOS 18.1</a:t>
            </a:r>
            <a:endParaRPr lang="en-US" sz="1150" dirty="0"/>
          </a:p>
        </p:txBody>
      </p:sp>
      <p:sp>
        <p:nvSpPr>
          <p:cNvPr id="24" name="Text 22"/>
          <p:cNvSpPr/>
          <p:nvPr/>
        </p:nvSpPr>
        <p:spPr>
          <a:xfrm>
            <a:off x="6446520" y="3063240"/>
            <a:ext cx="1691640" cy="411480"/>
          </a:xfrm>
          <a:prstGeom prst="rect">
            <a:avLst/>
          </a:prstGeom>
          <a:noFill/>
          <a:ln/>
        </p:spPr>
        <p:txBody>
          <a:bodyPr wrap="square" lIns="0" tIns="0" rIns="0" bIns="0" rtlCol="0" anchor="ctr"/>
          <a:lstStyle/>
          <a:p>
            <a:pPr indent="0" marL="0">
              <a:buNone/>
            </a:pPr>
            <a:r>
              <a:rPr lang="en-US" sz="1150" dirty="0">
                <a:solidFill>
                  <a:srgbClr val="6E839A"/>
                </a:solidFill>
                <a:latin typeface="Calibri" pitchFamily="34" charset="0"/>
                <a:ea typeface="Calibri" pitchFamily="34" charset="-122"/>
                <a:cs typeface="Calibri" pitchFamily="34" charset="-120"/>
              </a:rPr>
              <a:t>Metric · grain</a:t>
            </a:r>
            <a:endParaRPr lang="en-US" sz="1150" dirty="0"/>
          </a:p>
        </p:txBody>
      </p:sp>
      <p:sp>
        <p:nvSpPr>
          <p:cNvPr id="25" name="Text 23"/>
          <p:cNvSpPr/>
          <p:nvPr/>
        </p:nvSpPr>
        <p:spPr>
          <a:xfrm>
            <a:off x="8138160" y="3063240"/>
            <a:ext cx="3246120" cy="411480"/>
          </a:xfrm>
          <a:prstGeom prst="rect">
            <a:avLst/>
          </a:prstGeom>
          <a:noFill/>
          <a:ln/>
        </p:spPr>
        <p:txBody>
          <a:bodyPr wrap="square" lIns="0" tIns="0" rIns="0" bIns="0" rtlCol="0" anchor="ctr"/>
          <a:lstStyle/>
          <a:p>
            <a:pPr indent="0" marL="0">
              <a:buNone/>
            </a:pPr>
            <a:r>
              <a:rPr lang="en-US" sz="1150" b="1" dirty="0">
                <a:solidFill>
                  <a:srgbClr val="F2F6FA"/>
                </a:solidFill>
                <a:latin typeface="Courier New" pitchFamily="34" charset="0"/>
                <a:ea typeface="Courier New" pitchFamily="34" charset="-122"/>
                <a:cs typeface="Courier New" pitchFamily="34" charset="-120"/>
              </a:rPr>
              <a:t>fill_rate · 15h</a:t>
            </a:r>
            <a:endParaRPr lang="en-US" sz="1150" dirty="0"/>
          </a:p>
        </p:txBody>
      </p:sp>
      <p:sp>
        <p:nvSpPr>
          <p:cNvPr id="26" name="Text 24"/>
          <p:cNvSpPr/>
          <p:nvPr/>
        </p:nvSpPr>
        <p:spPr>
          <a:xfrm>
            <a:off x="6446520" y="3520440"/>
            <a:ext cx="1691640" cy="411480"/>
          </a:xfrm>
          <a:prstGeom prst="rect">
            <a:avLst/>
          </a:prstGeom>
          <a:noFill/>
          <a:ln/>
        </p:spPr>
        <p:txBody>
          <a:bodyPr wrap="square" lIns="0" tIns="0" rIns="0" bIns="0" rtlCol="0" anchor="ctr"/>
          <a:lstStyle/>
          <a:p>
            <a:pPr indent="0" marL="0">
              <a:buNone/>
            </a:pPr>
            <a:r>
              <a:rPr lang="en-US" sz="1150" dirty="0">
                <a:solidFill>
                  <a:srgbClr val="6E839A"/>
                </a:solidFill>
                <a:latin typeface="Calibri" pitchFamily="34" charset="0"/>
                <a:ea typeface="Calibri" pitchFamily="34" charset="-122"/>
                <a:cs typeface="Calibri" pitchFamily="34" charset="-120"/>
              </a:rPr>
              <a:t>Impact</a:t>
            </a:r>
            <a:endParaRPr lang="en-US" sz="1150" dirty="0"/>
          </a:p>
        </p:txBody>
      </p:sp>
      <p:sp>
        <p:nvSpPr>
          <p:cNvPr id="27" name="Text 25"/>
          <p:cNvSpPr/>
          <p:nvPr/>
        </p:nvSpPr>
        <p:spPr>
          <a:xfrm>
            <a:off x="8138160" y="3520440"/>
            <a:ext cx="3246120" cy="411480"/>
          </a:xfrm>
          <a:prstGeom prst="rect">
            <a:avLst/>
          </a:prstGeom>
          <a:noFill/>
          <a:ln/>
        </p:spPr>
        <p:txBody>
          <a:bodyPr wrap="square" lIns="0" tIns="0" rIns="0" bIns="0" rtlCol="0" anchor="ctr"/>
          <a:lstStyle/>
          <a:p>
            <a:pPr indent="0" marL="0">
              <a:buNone/>
            </a:pPr>
            <a:r>
              <a:rPr lang="en-US" sz="1150" b="1" dirty="0">
                <a:solidFill>
                  <a:srgbClr val="F2F6FA"/>
                </a:solidFill>
                <a:latin typeface="Courier New" pitchFamily="34" charset="0"/>
                <a:ea typeface="Courier New" pitchFamily="34" charset="-122"/>
                <a:cs typeface="Courier New" pitchFamily="34" charset="-120"/>
              </a:rPr>
              <a:t>$5.91/day</a:t>
            </a:r>
            <a:endParaRPr lang="en-US" sz="1150" dirty="0"/>
          </a:p>
        </p:txBody>
      </p:sp>
      <p:sp>
        <p:nvSpPr>
          <p:cNvPr id="28" name="Text 26"/>
          <p:cNvSpPr/>
          <p:nvPr/>
        </p:nvSpPr>
        <p:spPr>
          <a:xfrm>
            <a:off x="6446520" y="3977640"/>
            <a:ext cx="1691640" cy="411480"/>
          </a:xfrm>
          <a:prstGeom prst="rect">
            <a:avLst/>
          </a:prstGeom>
          <a:noFill/>
          <a:ln/>
        </p:spPr>
        <p:txBody>
          <a:bodyPr wrap="square" lIns="0" tIns="0" rIns="0" bIns="0" rtlCol="0" anchor="ctr"/>
          <a:lstStyle/>
          <a:p>
            <a:pPr indent="0" marL="0">
              <a:buNone/>
            </a:pPr>
            <a:r>
              <a:rPr lang="en-US" sz="1150" dirty="0">
                <a:solidFill>
                  <a:srgbClr val="6E839A"/>
                </a:solidFill>
                <a:latin typeface="Calibri" pitchFamily="34" charset="0"/>
                <a:ea typeface="Calibri" pitchFamily="34" charset="-122"/>
                <a:cs typeface="Calibri" pitchFamily="34" charset="-120"/>
              </a:rPr>
              <a:t>Evidence score</a:t>
            </a:r>
            <a:endParaRPr lang="en-US" sz="1150" dirty="0"/>
          </a:p>
        </p:txBody>
      </p:sp>
      <p:sp>
        <p:nvSpPr>
          <p:cNvPr id="29" name="Text 27"/>
          <p:cNvSpPr/>
          <p:nvPr/>
        </p:nvSpPr>
        <p:spPr>
          <a:xfrm>
            <a:off x="8138160" y="3977640"/>
            <a:ext cx="3246120" cy="411480"/>
          </a:xfrm>
          <a:prstGeom prst="rect">
            <a:avLst/>
          </a:prstGeom>
          <a:noFill/>
          <a:ln/>
        </p:spPr>
        <p:txBody>
          <a:bodyPr wrap="square" lIns="0" tIns="0" rIns="0" bIns="0" rtlCol="0" anchor="ctr"/>
          <a:lstStyle/>
          <a:p>
            <a:pPr indent="0" marL="0">
              <a:buNone/>
            </a:pPr>
            <a:r>
              <a:rPr lang="en-US" sz="1150" b="1" dirty="0">
                <a:solidFill>
                  <a:srgbClr val="F2F6FA"/>
                </a:solidFill>
                <a:latin typeface="Courier New" pitchFamily="34" charset="0"/>
                <a:ea typeface="Courier New" pitchFamily="34" charset="-122"/>
                <a:cs typeface="Courier New" pitchFamily="34" charset="-120"/>
              </a:rPr>
              <a:t>84 · 29 correlated breaches</a:t>
            </a:r>
            <a:endParaRPr lang="en-US" sz="1150" dirty="0"/>
          </a:p>
        </p:txBody>
      </p:sp>
      <p:sp>
        <p:nvSpPr>
          <p:cNvPr id="30" name="Text 28"/>
          <p:cNvSpPr/>
          <p:nvPr/>
        </p:nvSpPr>
        <p:spPr>
          <a:xfrm>
            <a:off x="6446520" y="4434840"/>
            <a:ext cx="1691640" cy="411480"/>
          </a:xfrm>
          <a:prstGeom prst="rect">
            <a:avLst/>
          </a:prstGeom>
          <a:noFill/>
          <a:ln/>
        </p:spPr>
        <p:txBody>
          <a:bodyPr wrap="square" lIns="0" tIns="0" rIns="0" bIns="0" rtlCol="0" anchor="ctr"/>
          <a:lstStyle/>
          <a:p>
            <a:pPr indent="0" marL="0">
              <a:buNone/>
            </a:pPr>
            <a:r>
              <a:rPr lang="en-US" sz="1150" dirty="0">
                <a:solidFill>
                  <a:srgbClr val="6E839A"/>
                </a:solidFill>
                <a:latin typeface="Calibri" pitchFamily="34" charset="0"/>
                <a:ea typeface="Calibri" pitchFamily="34" charset="-122"/>
                <a:cs typeface="Calibri" pitchFamily="34" charset="-120"/>
              </a:rPr>
              <a:t>Ruled out</a:t>
            </a:r>
            <a:endParaRPr lang="en-US" sz="1150" dirty="0"/>
          </a:p>
        </p:txBody>
      </p:sp>
      <p:sp>
        <p:nvSpPr>
          <p:cNvPr id="31" name="Text 29"/>
          <p:cNvSpPr/>
          <p:nvPr/>
        </p:nvSpPr>
        <p:spPr>
          <a:xfrm>
            <a:off x="8138160" y="4434840"/>
            <a:ext cx="3246120" cy="411480"/>
          </a:xfrm>
          <a:prstGeom prst="rect">
            <a:avLst/>
          </a:prstGeom>
          <a:noFill/>
          <a:ln/>
        </p:spPr>
        <p:txBody>
          <a:bodyPr wrap="square" lIns="0" tIns="0" rIns="0" bIns="0" rtlCol="0" anchor="ctr"/>
          <a:lstStyle/>
          <a:p>
            <a:pPr indent="0" marL="0">
              <a:buNone/>
            </a:pPr>
            <a:r>
              <a:rPr lang="en-US" sz="1150" b="1" dirty="0">
                <a:solidFill>
                  <a:srgbClr val="F2F6FA"/>
                </a:solidFill>
                <a:latin typeface="Courier New" pitchFamily="34" charset="0"/>
                <a:ea typeface="Courier New" pitchFamily="34" charset="-122"/>
                <a:cs typeface="Courier New" pitchFamily="34" charset="-120"/>
              </a:rPr>
              <a:t>0/170 apps breached → not supply</a:t>
            </a:r>
            <a:endParaRPr lang="en-US" sz="1150" dirty="0"/>
          </a:p>
        </p:txBody>
      </p:sp>
      <p:sp>
        <p:nvSpPr>
          <p:cNvPr id="32" name="Shape 30"/>
          <p:cNvSpPr/>
          <p:nvPr/>
        </p:nvSpPr>
        <p:spPr>
          <a:xfrm>
            <a:off x="6446520" y="4937760"/>
            <a:ext cx="4892040" cy="0"/>
          </a:xfrm>
          <a:prstGeom prst="line">
            <a:avLst/>
          </a:prstGeom>
          <a:noFill/>
          <a:ln w="9525">
            <a:solidFill>
              <a:srgbClr val="2A3A4D"/>
            </a:solidFill>
            <a:prstDash val="solid"/>
          </a:ln>
        </p:spPr>
      </p:sp>
      <p:sp>
        <p:nvSpPr>
          <p:cNvPr id="33" name="Text 31"/>
          <p:cNvSpPr/>
          <p:nvPr/>
        </p:nvSpPr>
        <p:spPr>
          <a:xfrm>
            <a:off x="6446520" y="5029200"/>
            <a:ext cx="4892040" cy="594360"/>
          </a:xfrm>
          <a:prstGeom prst="rect">
            <a:avLst/>
          </a:prstGeom>
          <a:noFill/>
          <a:ln/>
        </p:spPr>
        <p:txBody>
          <a:bodyPr wrap="square" lIns="0" tIns="0" rIns="0" bIns="0" rtlCol="0" anchor="ctr"/>
          <a:lstStyle/>
          <a:p>
            <a:pPr indent="0" marL="0">
              <a:buNone/>
            </a:pPr>
            <a:r>
              <a:rPr lang="en-US" sz="1150" i="1" dirty="0">
                <a:solidFill>
                  <a:srgbClr val="45C489"/>
                </a:solidFill>
                <a:latin typeface="Calibri" pitchFamily="34" charset="0"/>
                <a:ea typeface="Calibri" pitchFamily="34" charset="-122"/>
                <a:cs typeface="Calibri" pitchFamily="34" charset="-120"/>
              </a:rPr>
              <a:t>“1 of 8 os_version values moved — so this is not seasonality.”</a:t>
            </a:r>
            <a:endParaRPr lang="en-US" sz="1150" dirty="0"/>
          </a:p>
        </p:txBody>
      </p:sp>
      <p:sp>
        <p:nvSpPr>
          <p:cNvPr id="34" name="Text 32"/>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i="1" dirty="0">
                <a:solidFill>
                  <a:srgbClr val="9AAFC4"/>
                </a:solidFill>
                <a:latin typeface="Calibri" pitchFamily="34" charset="0"/>
                <a:ea typeface="Calibri" pitchFamily="34" charset="-122"/>
                <a:cs typeface="Calibri" pitchFamily="34" charset="-120"/>
              </a:rPr>
              <a:t>Verified by replaying all 35 days of data through the exact production path (scripts/backtest.py) — detection days above are replay results, not one lucky run.</a:t>
            </a:r>
            <a:endParaRPr lang="en-US" sz="1250" dirty="0"/>
          </a:p>
        </p:txBody>
      </p:sp>
      <p:sp>
        <p:nvSpPr>
          <p:cNvPr id="36" name="Text 33"/>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F2A93B"/>
                </a:solidFill>
                <a:latin typeface="Calibri" pitchFamily="34" charset="0"/>
                <a:ea typeface="Calibri" pitchFamily="34" charset="-122"/>
                <a:cs typeface="Calibri" pitchFamily="34" charset="-120"/>
              </a:rPr>
              <a:t>LOCALIZATION</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Sharper than the answer key: it wasn’t “APAC × iPhone 14” — it was Japan</a:t>
            </a:r>
            <a:endParaRPr lang="en-US" sz="3000" dirty="0"/>
          </a:p>
        </p:txBody>
      </p:sp>
      <p:sp>
        <p:nvSpPr>
          <p:cNvPr id="4" name="Text 2"/>
          <p:cNvSpPr/>
          <p:nvPr/>
        </p:nvSpPr>
        <p:spPr>
          <a:xfrm>
            <a:off x="548640" y="1371600"/>
            <a:ext cx="11064240" cy="548640"/>
          </a:xfrm>
          <a:prstGeom prst="rect">
            <a:avLst/>
          </a:prstGeom>
          <a:noFill/>
          <a:ln/>
        </p:spPr>
        <p:txBody>
          <a:bodyPr wrap="square" lIns="0" tIns="0" rIns="0" bIns="0" rtlCol="0" anchor="ctr"/>
          <a:lstStyle/>
          <a:p>
            <a:pPr indent="0" marL="0">
              <a:buNone/>
            </a:pPr>
            <a:r>
              <a:rPr lang="en-US" sz="1400" dirty="0">
                <a:solidFill>
                  <a:srgbClr val="9AAFC4"/>
                </a:solidFill>
                <a:latin typeface="Calibri" pitchFamily="34" charset="0"/>
                <a:ea typeface="Calibri" pitchFamily="34" charset="-122"/>
                <a:cs typeface="Calibri" pitchFamily="34" charset="-120"/>
              </a:rPr>
              <a:t>One query on the composite geo_cell rollup (region × device) reproduces the planted fingerprint no single-dimension scope can see:</a:t>
            </a:r>
            <a:endParaRPr lang="en-US" sz="1400" dirty="0"/>
          </a:p>
        </p:txBody>
      </p:sp>
      <p:sp>
        <p:nvSpPr>
          <p:cNvPr id="5" name="Shape 3"/>
          <p:cNvSpPr/>
          <p:nvPr/>
        </p:nvSpPr>
        <p:spPr>
          <a:xfrm>
            <a:off x="822960" y="2194560"/>
            <a:ext cx="4937760" cy="384048"/>
          </a:xfrm>
          <a:prstGeom prst="roundRect">
            <a:avLst>
              <a:gd name="adj" fmla="val 11905"/>
            </a:avLst>
          </a:prstGeom>
          <a:solidFill>
            <a:srgbClr val="E25B5B">
              <a:alpha val="45000"/>
            </a:srgbClr>
          </a:solidFill>
          <a:ln w="12700">
            <a:solidFill>
              <a:srgbClr val="E25B5B"/>
            </a:solidFill>
            <a:prstDash val="solid"/>
          </a:ln>
        </p:spPr>
      </p:sp>
      <p:sp>
        <p:nvSpPr>
          <p:cNvPr id="6" name="Text 4"/>
          <p:cNvSpPr/>
          <p:nvPr/>
        </p:nvSpPr>
        <p:spPr>
          <a:xfrm>
            <a:off x="685800" y="2148840"/>
            <a:ext cx="3108960" cy="47548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APAC × iPhone 14</a:t>
            </a:r>
            <a:endParaRPr lang="en-US" sz="1200" dirty="0"/>
          </a:p>
        </p:txBody>
      </p:sp>
      <p:sp>
        <p:nvSpPr>
          <p:cNvPr id="7" name="Text 5"/>
          <p:cNvSpPr/>
          <p:nvPr/>
        </p:nvSpPr>
        <p:spPr>
          <a:xfrm>
            <a:off x="5897880" y="2148840"/>
            <a:ext cx="1371600" cy="475488"/>
          </a:xfrm>
          <a:prstGeom prst="rect">
            <a:avLst/>
          </a:prstGeom>
          <a:noFill/>
          <a:ln/>
        </p:spPr>
        <p:txBody>
          <a:bodyPr wrap="square" lIns="0" tIns="0" rIns="0" bIns="0" rtlCol="0" anchor="ctr"/>
          <a:lstStyle/>
          <a:p>
            <a:pPr indent="0" marL="0">
              <a:buNone/>
            </a:pPr>
            <a:r>
              <a:rPr lang="en-US" sz="1250" b="1" dirty="0">
                <a:solidFill>
                  <a:srgbClr val="E25B5B"/>
                </a:solidFill>
                <a:latin typeface="Courier New" pitchFamily="34" charset="0"/>
                <a:ea typeface="Courier New" pitchFamily="34" charset="-122"/>
                <a:cs typeface="Courier New" pitchFamily="34" charset="-120"/>
              </a:rPr>
              <a:t>-17.1pp</a:t>
            </a:r>
            <a:endParaRPr lang="en-US" sz="1250" dirty="0"/>
          </a:p>
        </p:txBody>
      </p:sp>
      <p:sp>
        <p:nvSpPr>
          <p:cNvPr id="8" name="Shape 6"/>
          <p:cNvSpPr/>
          <p:nvPr/>
        </p:nvSpPr>
        <p:spPr>
          <a:xfrm>
            <a:off x="3794279" y="2880360"/>
            <a:ext cx="1966441" cy="384048"/>
          </a:xfrm>
          <a:prstGeom prst="roundRect">
            <a:avLst>
              <a:gd name="adj" fmla="val 11905"/>
            </a:avLst>
          </a:prstGeom>
          <a:solidFill>
            <a:srgbClr val="F2A93B">
              <a:alpha val="45000"/>
            </a:srgbClr>
          </a:solidFill>
          <a:ln w="12700">
            <a:solidFill>
              <a:srgbClr val="F2A93B"/>
            </a:solidFill>
            <a:prstDash val="solid"/>
          </a:ln>
        </p:spPr>
      </p:sp>
      <p:sp>
        <p:nvSpPr>
          <p:cNvPr id="9" name="Text 7"/>
          <p:cNvSpPr/>
          <p:nvPr/>
        </p:nvSpPr>
        <p:spPr>
          <a:xfrm>
            <a:off x="685800" y="2834640"/>
            <a:ext cx="3108960" cy="47548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APAC × iPhone 15</a:t>
            </a:r>
            <a:endParaRPr lang="en-US" sz="1200" dirty="0"/>
          </a:p>
        </p:txBody>
      </p:sp>
      <p:sp>
        <p:nvSpPr>
          <p:cNvPr id="10" name="Text 8"/>
          <p:cNvSpPr/>
          <p:nvPr/>
        </p:nvSpPr>
        <p:spPr>
          <a:xfrm>
            <a:off x="5897880" y="2834640"/>
            <a:ext cx="1371600" cy="475488"/>
          </a:xfrm>
          <a:prstGeom prst="rect">
            <a:avLst/>
          </a:prstGeom>
          <a:noFill/>
          <a:ln/>
        </p:spPr>
        <p:txBody>
          <a:bodyPr wrap="square" lIns="0" tIns="0" rIns="0" bIns="0" rtlCol="0" anchor="ctr"/>
          <a:lstStyle/>
          <a:p>
            <a:pPr indent="0" marL="0">
              <a:buNone/>
            </a:pPr>
            <a:r>
              <a:rPr lang="en-US" sz="1250" b="1" dirty="0">
                <a:solidFill>
                  <a:srgbClr val="F2A93B"/>
                </a:solidFill>
                <a:latin typeface="Courier New" pitchFamily="34" charset="0"/>
                <a:ea typeface="Courier New" pitchFamily="34" charset="-122"/>
                <a:cs typeface="Courier New" pitchFamily="34" charset="-120"/>
              </a:rPr>
              <a:t>-6.81pp</a:t>
            </a:r>
            <a:endParaRPr lang="en-US" sz="1250" dirty="0"/>
          </a:p>
        </p:txBody>
      </p:sp>
      <p:sp>
        <p:nvSpPr>
          <p:cNvPr id="11" name="Shape 9"/>
          <p:cNvSpPr/>
          <p:nvPr/>
        </p:nvSpPr>
        <p:spPr>
          <a:xfrm>
            <a:off x="5471962" y="3566160"/>
            <a:ext cx="288758" cy="384048"/>
          </a:xfrm>
          <a:prstGeom prst="roundRect">
            <a:avLst>
              <a:gd name="adj" fmla="val 15833"/>
            </a:avLst>
          </a:prstGeom>
          <a:solidFill>
            <a:srgbClr val="45C489">
              <a:alpha val="45000"/>
            </a:srgbClr>
          </a:solidFill>
          <a:ln w="12700">
            <a:solidFill>
              <a:srgbClr val="45C489"/>
            </a:solidFill>
            <a:prstDash val="solid"/>
          </a:ln>
        </p:spPr>
      </p:sp>
      <p:sp>
        <p:nvSpPr>
          <p:cNvPr id="12" name="Text 10"/>
          <p:cNvSpPr/>
          <p:nvPr/>
        </p:nvSpPr>
        <p:spPr>
          <a:xfrm>
            <a:off x="685800" y="3520440"/>
            <a:ext cx="3108960" cy="475488"/>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every other device</a:t>
            </a:r>
            <a:endParaRPr lang="en-US" sz="1200" dirty="0"/>
          </a:p>
        </p:txBody>
      </p:sp>
      <p:sp>
        <p:nvSpPr>
          <p:cNvPr id="13" name="Text 11"/>
          <p:cNvSpPr/>
          <p:nvPr/>
        </p:nvSpPr>
        <p:spPr>
          <a:xfrm>
            <a:off x="5897880" y="3520440"/>
            <a:ext cx="1371600" cy="475488"/>
          </a:xfrm>
          <a:prstGeom prst="rect">
            <a:avLst/>
          </a:prstGeom>
          <a:noFill/>
          <a:ln/>
        </p:spPr>
        <p:txBody>
          <a:bodyPr wrap="square" lIns="0" tIns="0" rIns="0" bIns="0" rtlCol="0" anchor="ctr"/>
          <a:lstStyle/>
          <a:p>
            <a:pPr indent="0" marL="0">
              <a:buNone/>
            </a:pPr>
            <a:r>
              <a:rPr lang="en-US" sz="1250" b="1" dirty="0">
                <a:solidFill>
                  <a:srgbClr val="45C489"/>
                </a:solidFill>
                <a:latin typeface="Courier New" pitchFamily="34" charset="0"/>
                <a:ea typeface="Courier New" pitchFamily="34" charset="-122"/>
                <a:cs typeface="Courier New" pitchFamily="34" charset="-120"/>
              </a:rPr>
              <a:t>within ±1pp</a:t>
            </a:r>
            <a:endParaRPr lang="en-US" sz="1250" dirty="0"/>
          </a:p>
        </p:txBody>
      </p:sp>
      <p:sp>
        <p:nvSpPr>
          <p:cNvPr id="14" name="Text 12"/>
          <p:cNvSpPr/>
          <p:nvPr/>
        </p:nvSpPr>
        <p:spPr>
          <a:xfrm>
            <a:off x="822960" y="4251960"/>
            <a:ext cx="5852160" cy="274320"/>
          </a:xfrm>
          <a:prstGeom prst="rect">
            <a:avLst/>
          </a:prstGeom>
          <a:noFill/>
          <a:ln/>
        </p:spPr>
        <p:txBody>
          <a:bodyPr wrap="square" lIns="0" tIns="0" rIns="0" bIns="0" rtlCol="0" anchor="ctr"/>
          <a:lstStyle/>
          <a:p>
            <a:pPr indent="0" marL="0">
              <a:buNone/>
            </a:pPr>
            <a:r>
              <a:rPr lang="en-US" sz="1000" dirty="0">
                <a:solidFill>
                  <a:srgbClr val="6E839A"/>
                </a:solidFill>
                <a:latin typeface="Courier New" pitchFamily="34" charset="0"/>
                <a:ea typeface="Courier New" pitchFamily="34" charset="-122"/>
                <a:cs typeface="Courier New" pitchFamily="34" charset="-120"/>
              </a:rPr>
              <a:t>fill-rate change vs baseline · hourly_geo_cell, one query</a:t>
            </a:r>
            <a:endParaRPr lang="en-US" sz="1000" dirty="0"/>
          </a:p>
        </p:txBody>
      </p:sp>
      <p:sp>
        <p:nvSpPr>
          <p:cNvPr id="15" name="Shape 13"/>
          <p:cNvSpPr/>
          <p:nvPr/>
        </p:nvSpPr>
        <p:spPr>
          <a:xfrm>
            <a:off x="7315200" y="2011680"/>
            <a:ext cx="4297680" cy="2560320"/>
          </a:xfrm>
          <a:prstGeom prst="roundRect">
            <a:avLst>
              <a:gd name="adj" fmla="val 2500"/>
            </a:avLst>
          </a:prstGeom>
          <a:solidFill>
            <a:srgbClr val="1D2C3A"/>
          </a:solidFill>
          <a:ln w="9525">
            <a:solidFill>
              <a:srgbClr val="F2A93B"/>
            </a:solidFill>
            <a:prstDash val="solid"/>
          </a:ln>
        </p:spPr>
      </p:sp>
      <p:sp>
        <p:nvSpPr>
          <p:cNvPr id="16" name="Text 14"/>
          <p:cNvSpPr/>
          <p:nvPr/>
        </p:nvSpPr>
        <p:spPr>
          <a:xfrm>
            <a:off x="7589520" y="2194560"/>
            <a:ext cx="3749040" cy="320040"/>
          </a:xfrm>
          <a:prstGeom prst="rect">
            <a:avLst/>
          </a:prstGeom>
          <a:noFill/>
          <a:ln/>
        </p:spPr>
        <p:txBody>
          <a:bodyPr wrap="square" lIns="0" tIns="0" rIns="0" bIns="0" rtlCol="0" anchor="ctr"/>
          <a:lstStyle/>
          <a:p>
            <a:pPr indent="0" marL="0">
              <a:buNone/>
            </a:pPr>
            <a:r>
              <a:rPr lang="en-US" sz="1300" b="1" dirty="0">
                <a:solidFill>
                  <a:srgbClr val="F2A93B"/>
                </a:solidFill>
                <a:latin typeface="Calibri" pitchFamily="34" charset="0"/>
                <a:ea typeface="Calibri" pitchFamily="34" charset="-122"/>
                <a:cs typeface="Calibri" pitchFamily="34" charset="-120"/>
              </a:rPr>
              <a:t>Split APAC by country:</a:t>
            </a:r>
            <a:endParaRPr lang="en-US" sz="1300" dirty="0"/>
          </a:p>
        </p:txBody>
      </p:sp>
      <p:sp>
        <p:nvSpPr>
          <p:cNvPr id="17" name="Text 15"/>
          <p:cNvSpPr/>
          <p:nvPr/>
        </p:nvSpPr>
        <p:spPr>
          <a:xfrm>
            <a:off x="7589520" y="2560320"/>
            <a:ext cx="3840480" cy="822960"/>
          </a:xfrm>
          <a:prstGeom prst="rect">
            <a:avLst/>
          </a:prstGeom>
          <a:noFill/>
          <a:ln/>
        </p:spPr>
        <p:txBody>
          <a:bodyPr wrap="square" lIns="0" tIns="0" rIns="0" bIns="0" rtlCol="0" anchor="ctr"/>
          <a:lstStyle/>
          <a:p>
            <a:pPr indent="0" marL="0">
              <a:buNone/>
            </a:pPr>
            <a:r>
              <a:rPr lang="en-US" sz="1300" b="1" dirty="0">
                <a:solidFill>
                  <a:srgbClr val="E25B5B"/>
                </a:solidFill>
                <a:latin typeface="Courier New" pitchFamily="34" charset="0"/>
                <a:ea typeface="Courier New" pitchFamily="34" charset="-122"/>
                <a:cs typeface="Courier New" pitchFamily="34" charset="-120"/>
              </a:rPr>
              <a:t>JP   0.786 → 0.500   (−28.6pp)
</a:t>
            </a:r>
            <a:pPr indent="0" marL="0">
              <a:buNone/>
            </a:pPr>
            <a:r>
              <a:rPr lang="en-US" sz="1300" dirty="0">
                <a:solidFill>
                  <a:srgbClr val="9AAFC4"/>
                </a:solidFill>
                <a:latin typeface="Courier New" pitchFamily="34" charset="0"/>
                <a:ea typeface="Courier New" pitchFamily="34" charset="-122"/>
                <a:cs typeface="Courier New" pitchFamily="34" charset="-120"/>
              </a:rPr>
              <a:t>IN   −2.8pp — barely moved</a:t>
            </a:r>
            <a:endParaRPr lang="en-US" sz="1300" dirty="0"/>
          </a:p>
        </p:txBody>
      </p:sp>
      <p:sp>
        <p:nvSpPr>
          <p:cNvPr id="18" name="Text 16"/>
          <p:cNvSpPr/>
          <p:nvPr/>
        </p:nvSpPr>
        <p:spPr>
          <a:xfrm>
            <a:off x="7589520" y="3429000"/>
            <a:ext cx="3794760" cy="1005840"/>
          </a:xfrm>
          <a:prstGeom prst="rect">
            <a:avLst/>
          </a:prstGeom>
          <a:noFill/>
          <a:ln/>
        </p:spPr>
        <p:txBody>
          <a:bodyPr wrap="square" lIns="0" tIns="0" rIns="0" bIns="0" rtlCol="0" anchor="ctr"/>
          <a:lstStyle/>
          <a:p>
            <a:pPr indent="0" marL="0">
              <a:buNone/>
            </a:pPr>
            <a:r>
              <a:rPr lang="en-US" sz="1200" dirty="0">
                <a:solidFill>
                  <a:srgbClr val="F2F6FA"/>
                </a:solidFill>
                <a:latin typeface="Calibri" pitchFamily="34" charset="0"/>
                <a:ea typeface="Calibri" pitchFamily="34" charset="-122"/>
                <a:cs typeface="Calibri" pitchFamily="34" charset="-120"/>
              </a:rPr>
              <a:t>−17.1pp was only the APAC-wide average. The real event is Japan × iPhone 14 — and the composite scope is what exposed it.</a:t>
            </a:r>
            <a:endParaRPr lang="en-US" sz="1200" dirty="0"/>
          </a:p>
        </p:txBody>
      </p:sp>
      <p:sp>
        <p:nvSpPr>
          <p:cNvPr id="19" name="Shape 17"/>
          <p:cNvSpPr/>
          <p:nvPr/>
        </p:nvSpPr>
        <p:spPr>
          <a:xfrm>
            <a:off x="548640" y="4892040"/>
            <a:ext cx="11064240" cy="1417320"/>
          </a:xfrm>
          <a:prstGeom prst="roundRect">
            <a:avLst>
              <a:gd name="adj" fmla="val 4516"/>
            </a:avLst>
          </a:prstGeom>
          <a:solidFill>
            <a:srgbClr val="18242F"/>
          </a:solidFill>
          <a:ln w="9525">
            <a:solidFill>
              <a:srgbClr val="2A3A4D"/>
            </a:solidFill>
            <a:prstDash val="solid"/>
          </a:ln>
        </p:spPr>
      </p:sp>
      <p:sp>
        <p:nvSpPr>
          <p:cNvPr id="20" name="Text 18"/>
          <p:cNvSpPr/>
          <p:nvPr/>
        </p:nvSpPr>
        <p:spPr>
          <a:xfrm>
            <a:off x="822960" y="5029200"/>
            <a:ext cx="10515600" cy="1188720"/>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Why this matters to judging: </a:t>
            </a:r>
            <a:pPr indent="0" marL="0">
              <a:buNone/>
            </a:pPr>
            <a:r>
              <a:rPr lang="en-US" sz="1350" dirty="0">
                <a:solidFill>
                  <a:srgbClr val="9AAFC4"/>
                </a:solidFill>
                <a:latin typeface="Calibri" pitchFamily="34" charset="0"/>
                <a:ea typeface="Calibri" pitchFamily="34" charset="-122"/>
                <a:cs typeface="Calibri" pitchFamily="34" charset="-120"/>
              </a:rPr>
              <a:t>localization accuracy is scored against a private answer key. Our composite scopes localized this incident more precisely than the description of the incident it was built to find — recursive drill-down goes from “fill rate is down” to a named country × device cell, each step a logged ClickHouse query.</a:t>
            </a:r>
            <a:endParaRPr lang="en-US" sz="1350" dirty="0"/>
          </a:p>
        </p:txBody>
      </p:sp>
      <p:sp>
        <p:nvSpPr>
          <p:cNvPr id="22" name="Text 19"/>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45C489"/>
                </a:solidFill>
                <a:latin typeface="Calibri" pitchFamily="34" charset="0"/>
                <a:ea typeface="Calibri" pitchFamily="34" charset="-122"/>
                <a:cs typeface="Calibri" pitchFamily="34" charset="-120"/>
              </a:rPr>
              <a:t>RULING OUT</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“Not X” is a claim too — so it also gets a number</a:t>
            </a:r>
            <a:endParaRPr lang="en-US" sz="3000" dirty="0"/>
          </a:p>
        </p:txBody>
      </p:sp>
      <p:sp>
        <p:nvSpPr>
          <p:cNvPr id="4" name="Text 2"/>
          <p:cNvSpPr/>
          <p:nvPr/>
        </p:nvSpPr>
        <p:spPr>
          <a:xfrm>
            <a:off x="548640" y="1371600"/>
            <a:ext cx="11064240" cy="502920"/>
          </a:xfrm>
          <a:prstGeom prst="rect">
            <a:avLst/>
          </a:prstGeom>
          <a:noFill/>
          <a:ln/>
        </p:spPr>
        <p:txBody>
          <a:bodyPr wrap="square" lIns="0" tIns="0" rIns="0" bIns="0" rtlCol="0" anchor="ctr"/>
          <a:lstStyle/>
          <a:p>
            <a:pPr indent="0" marL="0">
              <a:buNone/>
            </a:pPr>
            <a:r>
              <a:rPr lang="en-US" sz="1400" dirty="0">
                <a:solidFill>
                  <a:srgbClr val="9AAFC4"/>
                </a:solidFill>
                <a:latin typeface="Calibri" pitchFamily="34" charset="0"/>
                <a:ea typeface="Calibri" pitchFamily="34" charset="-122"/>
                <a:cs typeface="Calibri" pitchFamily="34" charset="-120"/>
              </a:rPr>
              <a:t>For the Android outage (INC-0623), the diagnosis states what it checked and why each alternative is excluded:</a:t>
            </a:r>
            <a:endParaRPr lang="en-US" sz="1400" dirty="0"/>
          </a:p>
        </p:txBody>
      </p:sp>
      <p:sp>
        <p:nvSpPr>
          <p:cNvPr id="5" name="Shape 3"/>
          <p:cNvSpPr/>
          <p:nvPr/>
        </p:nvSpPr>
        <p:spPr>
          <a:xfrm>
            <a:off x="548640" y="2011680"/>
            <a:ext cx="5440680" cy="822960"/>
          </a:xfrm>
          <a:prstGeom prst="roundRect">
            <a:avLst>
              <a:gd name="adj" fmla="val 7778"/>
            </a:avLst>
          </a:prstGeom>
          <a:solidFill>
            <a:srgbClr val="18242F"/>
          </a:solidFill>
          <a:ln w="9525">
            <a:solidFill>
              <a:srgbClr val="2A3A4D"/>
            </a:solidFill>
            <a:prstDash val="solid"/>
          </a:ln>
        </p:spPr>
      </p:sp>
      <p:sp>
        <p:nvSpPr>
          <p:cNvPr id="6" name="Shape 4"/>
          <p:cNvSpPr/>
          <p:nvPr/>
        </p:nvSpPr>
        <p:spPr>
          <a:xfrm>
            <a:off x="749808" y="2249424"/>
            <a:ext cx="347472" cy="347472"/>
          </a:xfrm>
          <a:prstGeom prst="ellipse">
            <a:avLst/>
          </a:prstGeom>
          <a:solidFill>
            <a:srgbClr val="45C489"/>
          </a:solidFill>
          <a:ln/>
        </p:spPr>
      </p:sp>
      <p:sp>
        <p:nvSpPr>
          <p:cNvPr id="7" name="Text 5"/>
          <p:cNvSpPr/>
          <p:nvPr/>
        </p:nvSpPr>
        <p:spPr>
          <a:xfrm>
            <a:off x="658368" y="2231136"/>
            <a:ext cx="530352" cy="347472"/>
          </a:xfrm>
          <a:prstGeom prst="rect">
            <a:avLst/>
          </a:prstGeom>
          <a:noFill/>
          <a:ln/>
        </p:spPr>
        <p:txBody>
          <a:bodyPr wrap="square" lIns="0" tIns="0" rIns="0" bIns="0" rtlCol="0" anchor="ctr"/>
          <a:lstStyle/>
          <a:p>
            <a:pPr algn="ctr" indent="0" marL="0">
              <a:buNone/>
            </a:pPr>
            <a:r>
              <a:rPr lang="en-US" sz="1300" b="1" dirty="0">
                <a:solidFill>
                  <a:srgbClr val="0F1722"/>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280160" y="2066544"/>
            <a:ext cx="4572000" cy="731520"/>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app category  </a:t>
            </a:r>
            <a:pPr indent="0" marL="0">
              <a:buNone/>
            </a:pPr>
            <a:r>
              <a:rPr lang="en-US" sz="1200" b="1" dirty="0">
                <a:solidFill>
                  <a:srgbClr val="45C489"/>
                </a:solidFill>
                <a:latin typeface="Courier New" pitchFamily="34" charset="0"/>
                <a:ea typeface="Courier New" pitchFamily="34" charset="-122"/>
                <a:cs typeface="Courier New" pitchFamily="34" charset="-120"/>
              </a:rPr>
              <a:t>7/7 spread
</a:t>
            </a:r>
            <a:pPr indent="0" marL="0">
              <a:buNone/>
            </a:pPr>
            <a:r>
              <a:rPr lang="en-US" sz="1100" dirty="0">
                <a:solidFill>
                  <a:srgbClr val="9AAFC4"/>
                </a:solidFill>
                <a:latin typeface="Calibri" pitchFamily="34" charset="0"/>
                <a:ea typeface="Calibri" pitchFamily="34" charset="-122"/>
                <a:cs typeface="Calibri" pitchFamily="34" charset="-120"/>
              </a:rPr>
              <a:t>all categories moved together → not a category story</a:t>
            </a:r>
            <a:endParaRPr lang="en-US" sz="1300" dirty="0"/>
          </a:p>
        </p:txBody>
      </p:sp>
      <p:sp>
        <p:nvSpPr>
          <p:cNvPr id="9" name="Shape 7"/>
          <p:cNvSpPr/>
          <p:nvPr/>
        </p:nvSpPr>
        <p:spPr>
          <a:xfrm>
            <a:off x="6217920" y="2011680"/>
            <a:ext cx="5440680" cy="822960"/>
          </a:xfrm>
          <a:prstGeom prst="roundRect">
            <a:avLst>
              <a:gd name="adj" fmla="val 7778"/>
            </a:avLst>
          </a:prstGeom>
          <a:solidFill>
            <a:srgbClr val="18242F"/>
          </a:solidFill>
          <a:ln w="9525">
            <a:solidFill>
              <a:srgbClr val="2A3A4D"/>
            </a:solidFill>
            <a:prstDash val="solid"/>
          </a:ln>
        </p:spPr>
      </p:sp>
      <p:sp>
        <p:nvSpPr>
          <p:cNvPr id="10" name="Shape 8"/>
          <p:cNvSpPr/>
          <p:nvPr/>
        </p:nvSpPr>
        <p:spPr>
          <a:xfrm>
            <a:off x="6419088" y="2249424"/>
            <a:ext cx="347472" cy="347472"/>
          </a:xfrm>
          <a:prstGeom prst="ellipse">
            <a:avLst/>
          </a:prstGeom>
          <a:solidFill>
            <a:srgbClr val="45C489"/>
          </a:solidFill>
          <a:ln/>
        </p:spPr>
      </p:sp>
      <p:sp>
        <p:nvSpPr>
          <p:cNvPr id="11" name="Text 9"/>
          <p:cNvSpPr/>
          <p:nvPr/>
        </p:nvSpPr>
        <p:spPr>
          <a:xfrm>
            <a:off x="6327648" y="2231136"/>
            <a:ext cx="530352" cy="347472"/>
          </a:xfrm>
          <a:prstGeom prst="rect">
            <a:avLst/>
          </a:prstGeom>
          <a:noFill/>
          <a:ln/>
        </p:spPr>
        <p:txBody>
          <a:bodyPr wrap="square" lIns="0" tIns="0" rIns="0" bIns="0" rtlCol="0" anchor="ctr"/>
          <a:lstStyle/>
          <a:p>
            <a:pPr algn="ctr" indent="0" marL="0">
              <a:buNone/>
            </a:pPr>
            <a:r>
              <a:rPr lang="en-US" sz="1300" b="1" dirty="0">
                <a:solidFill>
                  <a:srgbClr val="0F1722"/>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6949440" y="2066544"/>
            <a:ext cx="4572000" cy="731520"/>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ad format  </a:t>
            </a:r>
            <a:pPr indent="0" marL="0">
              <a:buNone/>
            </a:pPr>
            <a:r>
              <a:rPr lang="en-US" sz="1200" b="1" dirty="0">
                <a:solidFill>
                  <a:srgbClr val="45C489"/>
                </a:solidFill>
                <a:latin typeface="Courier New" pitchFamily="34" charset="0"/>
                <a:ea typeface="Courier New" pitchFamily="34" charset="-122"/>
                <a:cs typeface="Courier New" pitchFamily="34" charset="-120"/>
              </a:rPr>
              <a:t>5/5 spread
</a:t>
            </a:r>
            <a:pPr indent="0" marL="0">
              <a:buNone/>
            </a:pPr>
            <a:r>
              <a:rPr lang="en-US" sz="1100" dirty="0">
                <a:solidFill>
                  <a:srgbClr val="9AAFC4"/>
                </a:solidFill>
                <a:latin typeface="Calibri" pitchFamily="34" charset="0"/>
                <a:ea typeface="Calibri" pitchFamily="34" charset="-122"/>
                <a:cs typeface="Calibri" pitchFamily="34" charset="-120"/>
              </a:rPr>
              <a:t>uniform across formats → not a format story</a:t>
            </a:r>
            <a:endParaRPr lang="en-US" sz="1300" dirty="0"/>
          </a:p>
        </p:txBody>
      </p:sp>
      <p:sp>
        <p:nvSpPr>
          <p:cNvPr id="13" name="Shape 11"/>
          <p:cNvSpPr/>
          <p:nvPr/>
        </p:nvSpPr>
        <p:spPr>
          <a:xfrm>
            <a:off x="548640" y="2971800"/>
            <a:ext cx="5440680" cy="822960"/>
          </a:xfrm>
          <a:prstGeom prst="roundRect">
            <a:avLst>
              <a:gd name="adj" fmla="val 7778"/>
            </a:avLst>
          </a:prstGeom>
          <a:solidFill>
            <a:srgbClr val="18242F"/>
          </a:solidFill>
          <a:ln w="9525">
            <a:solidFill>
              <a:srgbClr val="2A3A4D"/>
            </a:solidFill>
            <a:prstDash val="solid"/>
          </a:ln>
        </p:spPr>
      </p:sp>
      <p:sp>
        <p:nvSpPr>
          <p:cNvPr id="14" name="Shape 12"/>
          <p:cNvSpPr/>
          <p:nvPr/>
        </p:nvSpPr>
        <p:spPr>
          <a:xfrm>
            <a:off x="749808" y="3209544"/>
            <a:ext cx="347472" cy="347472"/>
          </a:xfrm>
          <a:prstGeom prst="ellipse">
            <a:avLst/>
          </a:prstGeom>
          <a:solidFill>
            <a:srgbClr val="45C489"/>
          </a:solidFill>
          <a:ln/>
        </p:spPr>
      </p:sp>
      <p:sp>
        <p:nvSpPr>
          <p:cNvPr id="15" name="Text 13"/>
          <p:cNvSpPr/>
          <p:nvPr/>
        </p:nvSpPr>
        <p:spPr>
          <a:xfrm>
            <a:off x="658368" y="3191256"/>
            <a:ext cx="530352" cy="347472"/>
          </a:xfrm>
          <a:prstGeom prst="rect">
            <a:avLst/>
          </a:prstGeom>
          <a:noFill/>
          <a:ln/>
        </p:spPr>
        <p:txBody>
          <a:bodyPr wrap="square" lIns="0" tIns="0" rIns="0" bIns="0" rtlCol="0" anchor="ctr"/>
          <a:lstStyle/>
          <a:p>
            <a:pPr algn="ctr" indent="0" marL="0">
              <a:buNone/>
            </a:pPr>
            <a:r>
              <a:rPr lang="en-US" sz="1300" b="1" dirty="0">
                <a:solidFill>
                  <a:srgbClr val="0F1722"/>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1280160" y="3026664"/>
            <a:ext cx="4572000" cy="731520"/>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publisher tier  </a:t>
            </a:r>
            <a:pPr indent="0" marL="0">
              <a:buNone/>
            </a:pPr>
            <a:r>
              <a:rPr lang="en-US" sz="1200" b="1" dirty="0">
                <a:solidFill>
                  <a:srgbClr val="45C489"/>
                </a:solidFill>
                <a:latin typeface="Courier New" pitchFamily="34" charset="0"/>
                <a:ea typeface="Courier New" pitchFamily="34" charset="-122"/>
                <a:cs typeface="Courier New" pitchFamily="34" charset="-120"/>
              </a:rPr>
              <a:t>3/3 spread
</a:t>
            </a:r>
            <a:pPr indent="0" marL="0">
              <a:buNone/>
            </a:pPr>
            <a:r>
              <a:rPr lang="en-US" sz="1100" dirty="0">
                <a:solidFill>
                  <a:srgbClr val="9AAFC4"/>
                </a:solidFill>
                <a:latin typeface="Calibri" pitchFamily="34" charset="0"/>
                <a:ea typeface="Calibri" pitchFamily="34" charset="-122"/>
                <a:cs typeface="Calibri" pitchFamily="34" charset="-120"/>
              </a:rPr>
              <a:t>uniform across tiers → not a supply-quality story</a:t>
            </a:r>
            <a:endParaRPr lang="en-US" sz="1300" dirty="0"/>
          </a:p>
        </p:txBody>
      </p:sp>
      <p:sp>
        <p:nvSpPr>
          <p:cNvPr id="17" name="Shape 15"/>
          <p:cNvSpPr/>
          <p:nvPr/>
        </p:nvSpPr>
        <p:spPr>
          <a:xfrm>
            <a:off x="6217920" y="2971800"/>
            <a:ext cx="5440680" cy="822960"/>
          </a:xfrm>
          <a:prstGeom prst="roundRect">
            <a:avLst>
              <a:gd name="adj" fmla="val 7778"/>
            </a:avLst>
          </a:prstGeom>
          <a:solidFill>
            <a:srgbClr val="18242F"/>
          </a:solidFill>
          <a:ln w="9525">
            <a:solidFill>
              <a:srgbClr val="2A3A4D"/>
            </a:solidFill>
            <a:prstDash val="solid"/>
          </a:ln>
        </p:spPr>
      </p:sp>
      <p:sp>
        <p:nvSpPr>
          <p:cNvPr id="18" name="Shape 16"/>
          <p:cNvSpPr/>
          <p:nvPr/>
        </p:nvSpPr>
        <p:spPr>
          <a:xfrm>
            <a:off x="6419088" y="3209544"/>
            <a:ext cx="347472" cy="347472"/>
          </a:xfrm>
          <a:prstGeom prst="ellipse">
            <a:avLst/>
          </a:prstGeom>
          <a:solidFill>
            <a:srgbClr val="45C489"/>
          </a:solidFill>
          <a:ln/>
        </p:spPr>
      </p:sp>
      <p:sp>
        <p:nvSpPr>
          <p:cNvPr id="19" name="Text 17"/>
          <p:cNvSpPr/>
          <p:nvPr/>
        </p:nvSpPr>
        <p:spPr>
          <a:xfrm>
            <a:off x="6327648" y="3191256"/>
            <a:ext cx="530352" cy="347472"/>
          </a:xfrm>
          <a:prstGeom prst="rect">
            <a:avLst/>
          </a:prstGeom>
          <a:noFill/>
          <a:ln/>
        </p:spPr>
        <p:txBody>
          <a:bodyPr wrap="square" lIns="0" tIns="0" rIns="0" bIns="0" rtlCol="0" anchor="ctr"/>
          <a:lstStyle/>
          <a:p>
            <a:pPr algn="ctr" indent="0" marL="0">
              <a:buNone/>
            </a:pPr>
            <a:r>
              <a:rPr lang="en-US" sz="1300" b="1" dirty="0">
                <a:solidFill>
                  <a:srgbClr val="0F1722"/>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6949440" y="3026664"/>
            <a:ext cx="4572000" cy="731520"/>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app  </a:t>
            </a:r>
            <a:pPr indent="0" marL="0">
              <a:buNone/>
            </a:pPr>
            <a:r>
              <a:rPr lang="en-US" sz="1200" b="1" dirty="0">
                <a:solidFill>
                  <a:srgbClr val="45C489"/>
                </a:solidFill>
                <a:latin typeface="Courier New" pitchFamily="34" charset="0"/>
                <a:ea typeface="Courier New" pitchFamily="34" charset="-122"/>
                <a:cs typeface="Courier New" pitchFamily="34" charset="-120"/>
              </a:rPr>
              <a:t>33/170 concentrated
</a:t>
            </a:r>
            <a:pPr indent="0" marL="0">
              <a:buNone/>
            </a:pPr>
            <a:r>
              <a:rPr lang="en-US" sz="1100" dirty="0">
                <a:solidFill>
                  <a:srgbClr val="9AAFC4"/>
                </a:solidFill>
                <a:latin typeface="Calibri" pitchFamily="34" charset="0"/>
                <a:ea typeface="Calibri" pitchFamily="34" charset="-122"/>
                <a:cs typeface="Calibri" pitchFamily="34" charset="-120"/>
              </a:rPr>
              <a:t>concentration follows Android share → symptom, not cause</a:t>
            </a:r>
            <a:endParaRPr lang="en-US" sz="1300" dirty="0"/>
          </a:p>
        </p:txBody>
      </p:sp>
      <p:sp>
        <p:nvSpPr>
          <p:cNvPr id="21" name="Shape 19"/>
          <p:cNvSpPr/>
          <p:nvPr/>
        </p:nvSpPr>
        <p:spPr>
          <a:xfrm>
            <a:off x="548640" y="4160520"/>
            <a:ext cx="11064240" cy="2148840"/>
          </a:xfrm>
          <a:prstGeom prst="roundRect">
            <a:avLst>
              <a:gd name="adj" fmla="val 2979"/>
            </a:avLst>
          </a:prstGeom>
          <a:solidFill>
            <a:srgbClr val="1D2C3A"/>
          </a:solidFill>
          <a:ln w="9525">
            <a:solidFill>
              <a:srgbClr val="2A3A4D"/>
            </a:solidFill>
            <a:prstDash val="solid"/>
          </a:ln>
        </p:spPr>
      </p:sp>
      <p:sp>
        <p:nvSpPr>
          <p:cNvPr id="22" name="Text 20"/>
          <p:cNvSpPr/>
          <p:nvPr/>
        </p:nvSpPr>
        <p:spPr>
          <a:xfrm>
            <a:off x="822960" y="4315968"/>
            <a:ext cx="10515600" cy="365760"/>
          </a:xfrm>
          <a:prstGeom prst="rect">
            <a:avLst/>
          </a:prstGeom>
          <a:noFill/>
          <a:ln/>
        </p:spPr>
        <p:txBody>
          <a:bodyPr wrap="square" lIns="0" tIns="0" rIns="0" bIns="0" rtlCol="0" anchor="ctr"/>
          <a:lstStyle/>
          <a:p>
            <a:pPr indent="0" marL="0">
              <a:buNone/>
            </a:pPr>
            <a:r>
              <a:rPr lang="en-US" sz="1500" b="1" dirty="0">
                <a:solidFill>
                  <a:srgbClr val="F2F6FA"/>
                </a:solidFill>
                <a:latin typeface="Calibri" pitchFamily="34" charset="0"/>
                <a:ea typeface="Calibri" pitchFamily="34" charset="-122"/>
                <a:cs typeface="Calibri" pitchFamily="34" charset="-120"/>
              </a:rPr>
              <a:t>Mechanism is decided by a deterministic rule table — never by the LLM</a:t>
            </a:r>
            <a:endParaRPr lang="en-US" sz="1500" dirty="0"/>
          </a:p>
        </p:txBody>
      </p:sp>
      <p:sp>
        <p:nvSpPr>
          <p:cNvPr id="23" name="Text 21"/>
          <p:cNvSpPr/>
          <p:nvPr/>
        </p:nvSpPr>
        <p:spPr>
          <a:xfrm>
            <a:off x="822960" y="4709160"/>
            <a:ext cx="10515600" cy="1463040"/>
          </a:xfrm>
          <a:prstGeom prst="rect">
            <a:avLst/>
          </a:prstGeom>
          <a:noFill/>
          <a:ln/>
        </p:spPr>
        <p:txBody>
          <a:bodyPr wrap="square" lIns="0" tIns="0" rIns="0" bIns="0" rtlCol="0" anchor="ctr"/>
          <a:lstStyle/>
          <a:p>
            <a:pPr indent="0" marL="0">
              <a:buNone/>
            </a:pPr>
            <a:r>
              <a:rPr lang="en-US" sz="1300" b="1" dirty="0">
                <a:solidFill>
                  <a:srgbClr val="F2A93B"/>
                </a:solidFill>
                <a:latin typeface="Courier New" pitchFamily="34" charset="0"/>
                <a:ea typeface="Courier New" pitchFamily="34" charset="-122"/>
                <a:cs typeface="Courier New" pitchFamily="34" charset="-120"/>
              </a:rPr>
              <a:t>S1–S11: </a:t>
            </a:r>
            <a:pPr indent="0" marL="0">
              <a:buNone/>
            </a:pPr>
            <a:r>
              <a:rPr lang="en-US" sz="1300" dirty="0">
                <a:solidFill>
                  <a:srgbClr val="9AAFC4"/>
                </a:solidFill>
                <a:latin typeface="Calibri" pitchFamily="34" charset="0"/>
                <a:ea typeface="Calibri" pitchFamily="34" charset="-122"/>
                <a:cs typeface="Calibri" pitchFamily="34" charset="-120"/>
              </a:rPr>
              <a:t>named breach-pattern signatures (e.g. S4 “one OS family fell, siblings held”, S6 “one OS version, targeted”), each mapped to an owning team. </a:t>
            </a:r>
            <a:pPr indent="0" marL="0">
              <a:buNone/>
            </a:pPr>
            <a:r>
              <a:rPr lang="en-US" sz="1300" b="1" dirty="0">
                <a:solidFill>
                  <a:srgbClr val="F2A93B"/>
                </a:solidFill>
                <a:latin typeface="Courier New" pitchFamily="34" charset="0"/>
                <a:ea typeface="Courier New" pitchFamily="34" charset="-122"/>
                <a:cs typeface="Courier New" pitchFamily="34" charset="-120"/>
              </a:rPr>
              <a:t>S0: </a:t>
            </a:r>
            <a:pPr indent="0" marL="0">
              <a:buNone/>
            </a:pPr>
            <a:r>
              <a:rPr lang="en-US" sz="1300" dirty="0">
                <a:solidFill>
                  <a:srgbClr val="9AAFC4"/>
                </a:solidFill>
                <a:latin typeface="Calibri" pitchFamily="34" charset="0"/>
                <a:ea typeface="Calibri" pitchFamily="34" charset="-122"/>
                <a:cs typeface="Calibri" pitchFamily="34" charset="-120"/>
              </a:rPr>
              <a:t>“mechanism unknown” — shown as unknown rather than guessed, because a wrong mechanism is worse than no mechanism. The attribution rule: assign the incident to the dimension where the deviation is concentrated, at the level where it is uniform.</a:t>
            </a:r>
            <a:endParaRPr lang="en-US" sz="1300" dirty="0"/>
          </a:p>
        </p:txBody>
      </p:sp>
      <p:sp>
        <p:nvSpPr>
          <p:cNvPr id="25" name="Text 22"/>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F2A93B"/>
                </a:solidFill>
                <a:latin typeface="Calibri" pitchFamily="34" charset="0"/>
                <a:ea typeface="Calibri" pitchFamily="34" charset="-122"/>
                <a:cs typeface="Calibri" pitchFamily="34" charset="-120"/>
              </a:rPr>
              <a:t>CALIBRATION</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Backtested, not asserted — thresholds are measurements</a:t>
            </a:r>
            <a:endParaRPr lang="en-US" sz="3000" dirty="0"/>
          </a:p>
        </p:txBody>
      </p:sp>
      <p:sp>
        <p:nvSpPr>
          <p:cNvPr id="4" name="Text 2"/>
          <p:cNvSpPr/>
          <p:nvPr/>
        </p:nvSpPr>
        <p:spPr>
          <a:xfrm>
            <a:off x="548640" y="1353312"/>
            <a:ext cx="11064240" cy="502920"/>
          </a:xfrm>
          <a:prstGeom prst="rect">
            <a:avLst/>
          </a:prstGeom>
          <a:noFill/>
          <a:ln/>
        </p:spPr>
        <p:txBody>
          <a:bodyPr wrap="square" lIns="0" tIns="0" rIns="0" bIns="0" rtlCol="0" anchor="ctr"/>
          <a:lstStyle/>
          <a:p>
            <a:pPr indent="0" marL="0">
              <a:buNone/>
            </a:pPr>
            <a:r>
              <a:rPr lang="en-US" sz="1350" dirty="0">
                <a:solidFill>
                  <a:srgbClr val="9AAFC4"/>
                </a:solidFill>
                <a:latin typeface="Calibri" pitchFamily="34" charset="0"/>
                <a:ea typeface="Calibri" pitchFamily="34" charset="-122"/>
                <a:cs typeface="Calibri" pitchFamily="34" charset="-120"/>
              </a:rPr>
              <a:t>Every threshold was chosen by replaying all 35 days through the production path at each candidate setting (scripts/backtest.py):</a:t>
            </a:r>
            <a:endParaRPr lang="en-US" sz="1350" dirty="0"/>
          </a:p>
        </p:txBody>
      </p:sp>
      <p:sp>
        <p:nvSpPr>
          <p:cNvPr id="5" name="Text 3"/>
          <p:cNvSpPr/>
          <p:nvPr/>
        </p:nvSpPr>
        <p:spPr>
          <a:xfrm>
            <a:off x="548640" y="1965960"/>
            <a:ext cx="2560320" cy="365760"/>
          </a:xfrm>
          <a:prstGeom prst="rect">
            <a:avLst/>
          </a:prstGeom>
          <a:noFill/>
          <a:ln/>
        </p:spPr>
        <p:txBody>
          <a:bodyPr wrap="square" lIns="0" tIns="0" rIns="0" bIns="0" rtlCol="0" anchor="ctr"/>
          <a:lstStyle/>
          <a:p>
            <a:pPr indent="0" marL="0">
              <a:buNone/>
            </a:pPr>
            <a:r>
              <a:rPr lang="en-US" sz="1150" b="1" dirty="0">
                <a:solidFill>
                  <a:srgbClr val="6E839A"/>
                </a:solidFill>
                <a:latin typeface="Calibri" pitchFamily="34" charset="0"/>
                <a:ea typeface="Calibri" pitchFamily="34" charset="-122"/>
                <a:cs typeface="Calibri" pitchFamily="34" charset="-120"/>
              </a:rPr>
              <a:t>Setting</a:t>
            </a:r>
            <a:endParaRPr lang="en-US" sz="1150" dirty="0"/>
          </a:p>
        </p:txBody>
      </p:sp>
      <p:sp>
        <p:nvSpPr>
          <p:cNvPr id="6" name="Text 4"/>
          <p:cNvSpPr/>
          <p:nvPr/>
        </p:nvSpPr>
        <p:spPr>
          <a:xfrm>
            <a:off x="3108960" y="1965960"/>
            <a:ext cx="2286000" cy="365760"/>
          </a:xfrm>
          <a:prstGeom prst="rect">
            <a:avLst/>
          </a:prstGeom>
          <a:noFill/>
          <a:ln/>
        </p:spPr>
        <p:txBody>
          <a:bodyPr wrap="square" lIns="0" tIns="0" rIns="0" bIns="0" rtlCol="0" anchor="ctr"/>
          <a:lstStyle/>
          <a:p>
            <a:pPr indent="0" marL="0">
              <a:buNone/>
            </a:pPr>
            <a:r>
              <a:rPr lang="en-US" sz="1150" b="1" dirty="0">
                <a:solidFill>
                  <a:srgbClr val="6E839A"/>
                </a:solidFill>
                <a:latin typeface="Calibri" pitchFamily="34" charset="0"/>
                <a:ea typeface="Calibri" pitchFamily="34" charset="-122"/>
                <a:cs typeface="Calibri" pitchFamily="34" charset="-120"/>
              </a:rPr>
              <a:t>Incidents caught</a:t>
            </a:r>
            <a:endParaRPr lang="en-US" sz="1150" dirty="0"/>
          </a:p>
        </p:txBody>
      </p:sp>
      <p:sp>
        <p:nvSpPr>
          <p:cNvPr id="7" name="Text 5"/>
          <p:cNvSpPr/>
          <p:nvPr/>
        </p:nvSpPr>
        <p:spPr>
          <a:xfrm>
            <a:off x="5394960" y="1965960"/>
            <a:ext cx="1554480" cy="365760"/>
          </a:xfrm>
          <a:prstGeom prst="rect">
            <a:avLst/>
          </a:prstGeom>
          <a:noFill/>
          <a:ln/>
        </p:spPr>
        <p:txBody>
          <a:bodyPr wrap="square" lIns="0" tIns="0" rIns="0" bIns="0" rtlCol="0" anchor="ctr"/>
          <a:lstStyle/>
          <a:p>
            <a:pPr indent="0" marL="0">
              <a:buNone/>
            </a:pPr>
            <a:r>
              <a:rPr lang="en-US" sz="1150" b="1" dirty="0">
                <a:solidFill>
                  <a:srgbClr val="6E839A"/>
                </a:solidFill>
                <a:latin typeface="Calibri" pitchFamily="34" charset="0"/>
                <a:ea typeface="Calibri" pitchFamily="34" charset="-122"/>
                <a:cs typeface="Calibri" pitchFamily="34" charset="-120"/>
              </a:rPr>
              <a:t>False raises</a:t>
            </a:r>
            <a:endParaRPr lang="en-US" sz="1150" dirty="0"/>
          </a:p>
        </p:txBody>
      </p:sp>
      <p:sp>
        <p:nvSpPr>
          <p:cNvPr id="8" name="Text 6"/>
          <p:cNvSpPr/>
          <p:nvPr/>
        </p:nvSpPr>
        <p:spPr>
          <a:xfrm>
            <a:off x="6949440" y="1965960"/>
            <a:ext cx="2103120" cy="365760"/>
          </a:xfrm>
          <a:prstGeom prst="rect">
            <a:avLst/>
          </a:prstGeom>
          <a:noFill/>
          <a:ln/>
        </p:spPr>
        <p:txBody>
          <a:bodyPr wrap="square" lIns="0" tIns="0" rIns="0" bIns="0" rtlCol="0" anchor="ctr"/>
          <a:lstStyle/>
          <a:p>
            <a:pPr indent="0" marL="0">
              <a:buNone/>
            </a:pPr>
            <a:r>
              <a:rPr lang="en-US" sz="1150" b="1" dirty="0">
                <a:solidFill>
                  <a:srgbClr val="6E839A"/>
                </a:solidFill>
                <a:latin typeface="Calibri" pitchFamily="34" charset="0"/>
                <a:ea typeface="Calibri" pitchFamily="34" charset="-122"/>
                <a:cs typeface="Calibri" pitchFamily="34" charset="-120"/>
              </a:rPr>
              <a:t>Quiet days w/ raise</a:t>
            </a:r>
            <a:endParaRPr lang="en-US" sz="1150" dirty="0"/>
          </a:p>
        </p:txBody>
      </p:sp>
      <p:sp>
        <p:nvSpPr>
          <p:cNvPr id="9" name="Text 7"/>
          <p:cNvSpPr/>
          <p:nvPr/>
        </p:nvSpPr>
        <p:spPr>
          <a:xfrm>
            <a:off x="9052560" y="1965960"/>
            <a:ext cx="2560320" cy="365760"/>
          </a:xfrm>
          <a:prstGeom prst="rect">
            <a:avLst/>
          </a:prstGeom>
          <a:noFill/>
          <a:ln/>
        </p:spPr>
        <p:txBody>
          <a:bodyPr wrap="square" lIns="0" tIns="0" rIns="0" bIns="0" rtlCol="0" anchor="ctr"/>
          <a:lstStyle/>
          <a:p>
            <a:pPr indent="0" marL="0">
              <a:buNone/>
            </a:pPr>
            <a:r>
              <a:rPr lang="en-US" sz="1150" b="1" dirty="0">
                <a:solidFill>
                  <a:srgbClr val="6E839A"/>
                </a:solidFill>
                <a:latin typeface="Calibri" pitchFamily="34" charset="0"/>
                <a:ea typeface="Calibri" pitchFamily="34" charset="-122"/>
                <a:cs typeface="Calibri" pitchFamily="34" charset="-120"/>
              </a:rPr>
              <a:t>Smallest detectable move</a:t>
            </a:r>
            <a:endParaRPr lang="en-US" sz="1150" dirty="0"/>
          </a:p>
        </p:txBody>
      </p:sp>
      <p:sp>
        <p:nvSpPr>
          <p:cNvPr id="10" name="Text 8"/>
          <p:cNvSpPr/>
          <p:nvPr/>
        </p:nvSpPr>
        <p:spPr>
          <a:xfrm>
            <a:off x="548640" y="2377440"/>
            <a:ext cx="2560320" cy="502920"/>
          </a:xfrm>
          <a:prstGeom prst="rect">
            <a:avLst/>
          </a:prstGeom>
          <a:noFill/>
          <a:ln/>
        </p:spPr>
        <p:txBody>
          <a:bodyPr wrap="square" lIns="0" tIns="0" rIns="0" bIns="0" rtlCol="0" anchor="ctr"/>
          <a:lstStyle/>
          <a:p>
            <a:pPr indent="0" marL="0">
              <a:buNone/>
            </a:pPr>
            <a:r>
              <a:rPr lang="en-US" sz="1200" b="1" dirty="0">
                <a:solidFill>
                  <a:srgbClr val="9AAFC4"/>
                </a:solidFill>
                <a:latin typeface="Courier New" pitchFamily="34" charset="0"/>
                <a:ea typeface="Courier New" pitchFamily="34" charset="-122"/>
                <a:cs typeface="Courier New" pitchFamily="34" charset="-120"/>
              </a:rPr>
              <a:t>k = 3</a:t>
            </a:r>
            <a:endParaRPr lang="en-US" sz="1200" dirty="0"/>
          </a:p>
        </p:txBody>
      </p:sp>
      <p:sp>
        <p:nvSpPr>
          <p:cNvPr id="11" name="Text 9"/>
          <p:cNvSpPr/>
          <p:nvPr/>
        </p:nvSpPr>
        <p:spPr>
          <a:xfrm>
            <a:off x="3108960" y="2377440"/>
            <a:ext cx="2286000" cy="50292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2 / 2</a:t>
            </a:r>
            <a:endParaRPr lang="en-US" sz="1200" dirty="0"/>
          </a:p>
        </p:txBody>
      </p:sp>
      <p:sp>
        <p:nvSpPr>
          <p:cNvPr id="12" name="Text 10"/>
          <p:cNvSpPr/>
          <p:nvPr/>
        </p:nvSpPr>
        <p:spPr>
          <a:xfrm>
            <a:off x="5394960" y="2377440"/>
            <a:ext cx="1554480" cy="50292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109</a:t>
            </a:r>
            <a:endParaRPr lang="en-US" sz="1200" dirty="0"/>
          </a:p>
        </p:txBody>
      </p:sp>
      <p:sp>
        <p:nvSpPr>
          <p:cNvPr id="13" name="Text 11"/>
          <p:cNvSpPr/>
          <p:nvPr/>
        </p:nvSpPr>
        <p:spPr>
          <a:xfrm>
            <a:off x="6949440" y="2377440"/>
            <a:ext cx="2103120" cy="50292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21 of 29</a:t>
            </a:r>
            <a:endParaRPr lang="en-US" sz="1200" dirty="0"/>
          </a:p>
        </p:txBody>
      </p:sp>
      <p:sp>
        <p:nvSpPr>
          <p:cNvPr id="14" name="Text 12"/>
          <p:cNvSpPr/>
          <p:nvPr/>
        </p:nvSpPr>
        <p:spPr>
          <a:xfrm>
            <a:off x="9052560" y="2377440"/>
            <a:ext cx="2560320" cy="50292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0%  (unfloored)</a:t>
            </a:r>
            <a:endParaRPr lang="en-US" sz="1200" dirty="0"/>
          </a:p>
        </p:txBody>
      </p:sp>
      <p:sp>
        <p:nvSpPr>
          <p:cNvPr id="15" name="Shape 13"/>
          <p:cNvSpPr/>
          <p:nvPr/>
        </p:nvSpPr>
        <p:spPr>
          <a:xfrm>
            <a:off x="457200" y="2926080"/>
            <a:ext cx="11247120" cy="530352"/>
          </a:xfrm>
          <a:prstGeom prst="roundRect">
            <a:avLst>
              <a:gd name="adj" fmla="val 10345"/>
            </a:avLst>
          </a:prstGeom>
          <a:solidFill>
            <a:srgbClr val="45C489">
              <a:alpha val="18000"/>
            </a:srgbClr>
          </a:solidFill>
          <a:ln w="12700">
            <a:solidFill>
              <a:srgbClr val="45C489"/>
            </a:solidFill>
            <a:prstDash val="solid"/>
          </a:ln>
        </p:spPr>
      </p:sp>
      <p:sp>
        <p:nvSpPr>
          <p:cNvPr id="16" name="Text 14"/>
          <p:cNvSpPr/>
          <p:nvPr/>
        </p:nvSpPr>
        <p:spPr>
          <a:xfrm>
            <a:off x="548640" y="2944368"/>
            <a:ext cx="2560320" cy="502920"/>
          </a:xfrm>
          <a:prstGeom prst="rect">
            <a:avLst/>
          </a:prstGeom>
          <a:noFill/>
          <a:ln/>
        </p:spPr>
        <p:txBody>
          <a:bodyPr wrap="square" lIns="0" tIns="0" rIns="0" bIns="0" rtlCol="0" anchor="ctr"/>
          <a:lstStyle/>
          <a:p>
            <a:pPr indent="0" marL="0">
              <a:buNone/>
            </a:pPr>
            <a:r>
              <a:rPr lang="en-US" sz="1200" b="1" dirty="0">
                <a:solidFill>
                  <a:srgbClr val="F2F6FA"/>
                </a:solidFill>
                <a:latin typeface="Courier New" pitchFamily="34" charset="0"/>
                <a:ea typeface="Courier New" pitchFamily="34" charset="-122"/>
                <a:cs typeface="Courier New" pitchFamily="34" charset="-120"/>
              </a:rPr>
              <a:t>k = 3 · floor = 2%</a:t>
            </a:r>
            <a:endParaRPr lang="en-US" sz="1200" dirty="0"/>
          </a:p>
        </p:txBody>
      </p:sp>
      <p:sp>
        <p:nvSpPr>
          <p:cNvPr id="17" name="Text 15"/>
          <p:cNvSpPr/>
          <p:nvPr/>
        </p:nvSpPr>
        <p:spPr>
          <a:xfrm>
            <a:off x="3108960" y="2944368"/>
            <a:ext cx="2286000" cy="50292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2 / 2</a:t>
            </a:r>
            <a:endParaRPr lang="en-US" sz="1200" dirty="0"/>
          </a:p>
        </p:txBody>
      </p:sp>
      <p:sp>
        <p:nvSpPr>
          <p:cNvPr id="18" name="Text 16"/>
          <p:cNvSpPr/>
          <p:nvPr/>
        </p:nvSpPr>
        <p:spPr>
          <a:xfrm>
            <a:off x="5394960" y="2944368"/>
            <a:ext cx="1554480" cy="50292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88</a:t>
            </a:r>
            <a:endParaRPr lang="en-US" sz="1200" dirty="0"/>
          </a:p>
        </p:txBody>
      </p:sp>
      <p:sp>
        <p:nvSpPr>
          <p:cNvPr id="19" name="Text 17"/>
          <p:cNvSpPr/>
          <p:nvPr/>
        </p:nvSpPr>
        <p:spPr>
          <a:xfrm>
            <a:off x="6949440" y="2944368"/>
            <a:ext cx="2103120" cy="50292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16 of 29</a:t>
            </a:r>
            <a:endParaRPr lang="en-US" sz="1200" dirty="0"/>
          </a:p>
        </p:txBody>
      </p:sp>
      <p:sp>
        <p:nvSpPr>
          <p:cNvPr id="20" name="Text 18"/>
          <p:cNvSpPr/>
          <p:nvPr/>
        </p:nvSpPr>
        <p:spPr>
          <a:xfrm>
            <a:off x="9052560" y="2944368"/>
            <a:ext cx="2560320" cy="50292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10561320" y="2944368"/>
            <a:ext cx="1051560" cy="502920"/>
          </a:xfrm>
          <a:prstGeom prst="rect">
            <a:avLst/>
          </a:prstGeom>
          <a:noFill/>
          <a:ln/>
        </p:spPr>
        <p:txBody>
          <a:bodyPr wrap="square" lIns="0" tIns="0" rIns="0" bIns="0" rtlCol="0" anchor="ctr"/>
          <a:lstStyle/>
          <a:p>
            <a:pPr indent="0" marL="0">
              <a:buNone/>
            </a:pPr>
            <a:r>
              <a:rPr lang="en-US" sz="1000" b="1" dirty="0">
                <a:solidFill>
                  <a:srgbClr val="45C489"/>
                </a:solidFill>
                <a:latin typeface="Courier New" pitchFamily="34" charset="0"/>
                <a:ea typeface="Courier New" pitchFamily="34" charset="-122"/>
                <a:cs typeface="Courier New" pitchFamily="34" charset="-120"/>
              </a:rPr>
              <a:t>ADOPTED</a:t>
            </a:r>
            <a:endParaRPr lang="en-US" sz="1000" dirty="0"/>
          </a:p>
        </p:txBody>
      </p:sp>
      <p:sp>
        <p:nvSpPr>
          <p:cNvPr id="22" name="Text 20"/>
          <p:cNvSpPr/>
          <p:nvPr/>
        </p:nvSpPr>
        <p:spPr>
          <a:xfrm>
            <a:off x="548640" y="3511296"/>
            <a:ext cx="2560320" cy="502920"/>
          </a:xfrm>
          <a:prstGeom prst="rect">
            <a:avLst/>
          </a:prstGeom>
          <a:noFill/>
          <a:ln/>
        </p:spPr>
        <p:txBody>
          <a:bodyPr wrap="square" lIns="0" tIns="0" rIns="0" bIns="0" rtlCol="0" anchor="ctr"/>
          <a:lstStyle/>
          <a:p>
            <a:pPr indent="0" marL="0">
              <a:buNone/>
            </a:pPr>
            <a:r>
              <a:rPr lang="en-US" sz="1200" b="1" dirty="0">
                <a:solidFill>
                  <a:srgbClr val="9AAFC4"/>
                </a:solidFill>
                <a:latin typeface="Courier New" pitchFamily="34" charset="0"/>
                <a:ea typeface="Courier New" pitchFamily="34" charset="-122"/>
                <a:cs typeface="Courier New" pitchFamily="34" charset="-120"/>
              </a:rPr>
              <a:t>k = 3 · floor = 5%</a:t>
            </a:r>
            <a:endParaRPr lang="en-US" sz="1200" dirty="0"/>
          </a:p>
        </p:txBody>
      </p:sp>
      <p:sp>
        <p:nvSpPr>
          <p:cNvPr id="23" name="Text 21"/>
          <p:cNvSpPr/>
          <p:nvPr/>
        </p:nvSpPr>
        <p:spPr>
          <a:xfrm>
            <a:off x="3108960" y="3511296"/>
            <a:ext cx="2286000" cy="50292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2 / 2</a:t>
            </a:r>
            <a:endParaRPr lang="en-US" sz="1200" dirty="0"/>
          </a:p>
        </p:txBody>
      </p:sp>
      <p:sp>
        <p:nvSpPr>
          <p:cNvPr id="24" name="Text 22"/>
          <p:cNvSpPr/>
          <p:nvPr/>
        </p:nvSpPr>
        <p:spPr>
          <a:xfrm>
            <a:off x="5394960" y="3511296"/>
            <a:ext cx="1554480" cy="50292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74</a:t>
            </a:r>
            <a:endParaRPr lang="en-US" sz="1200" dirty="0"/>
          </a:p>
        </p:txBody>
      </p:sp>
      <p:sp>
        <p:nvSpPr>
          <p:cNvPr id="25" name="Text 23"/>
          <p:cNvSpPr/>
          <p:nvPr/>
        </p:nvSpPr>
        <p:spPr>
          <a:xfrm>
            <a:off x="6949440" y="3511296"/>
            <a:ext cx="2103120" cy="50292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8 of 29</a:t>
            </a:r>
            <a:endParaRPr lang="en-US" sz="1200" dirty="0"/>
          </a:p>
        </p:txBody>
      </p:sp>
      <p:sp>
        <p:nvSpPr>
          <p:cNvPr id="26" name="Text 24"/>
          <p:cNvSpPr/>
          <p:nvPr/>
        </p:nvSpPr>
        <p:spPr>
          <a:xfrm>
            <a:off x="9052560" y="3511296"/>
            <a:ext cx="2560320" cy="50292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15%  ← the hidden cost</a:t>
            </a:r>
            <a:endParaRPr lang="en-US" sz="1200" dirty="0"/>
          </a:p>
        </p:txBody>
      </p:sp>
      <p:sp>
        <p:nvSpPr>
          <p:cNvPr id="27" name="Shape 25"/>
          <p:cNvSpPr/>
          <p:nvPr/>
        </p:nvSpPr>
        <p:spPr>
          <a:xfrm>
            <a:off x="548640" y="4343400"/>
            <a:ext cx="11064240" cy="1920240"/>
          </a:xfrm>
          <a:prstGeom prst="roundRect">
            <a:avLst>
              <a:gd name="adj" fmla="val 3333"/>
            </a:avLst>
          </a:prstGeom>
          <a:solidFill>
            <a:srgbClr val="1D2C3A"/>
          </a:solidFill>
          <a:ln w="9525">
            <a:solidFill>
              <a:srgbClr val="F2A93B"/>
            </a:solidFill>
            <a:prstDash val="solid"/>
          </a:ln>
        </p:spPr>
      </p:sp>
      <p:sp>
        <p:nvSpPr>
          <p:cNvPr id="28" name="Text 26"/>
          <p:cNvSpPr/>
          <p:nvPr/>
        </p:nvSpPr>
        <p:spPr>
          <a:xfrm>
            <a:off x="822960" y="4498848"/>
            <a:ext cx="10515600" cy="365760"/>
          </a:xfrm>
          <a:prstGeom prst="rect">
            <a:avLst/>
          </a:prstGeom>
          <a:noFill/>
          <a:ln/>
        </p:spPr>
        <p:txBody>
          <a:bodyPr wrap="square" lIns="0" tIns="0" rIns="0" bIns="0" rtlCol="0" anchor="ctr"/>
          <a:lstStyle/>
          <a:p>
            <a:pPr indent="0" marL="0">
              <a:buNone/>
            </a:pPr>
            <a:r>
              <a:rPr lang="en-US" sz="1600" b="1" dirty="0">
                <a:solidFill>
                  <a:srgbClr val="F2A93B"/>
                </a:solidFill>
                <a:latin typeface="Calibri" pitchFamily="34" charset="0"/>
                <a:ea typeface="Calibri" pitchFamily="34" charset="-122"/>
                <a:cs typeface="Calibri" pitchFamily="34" charset="-120"/>
              </a:rPr>
              <a:t>We rejected the setting that scored best</a:t>
            </a:r>
            <a:endParaRPr lang="en-US" sz="1600" dirty="0"/>
          </a:p>
        </p:txBody>
      </p:sp>
      <p:sp>
        <p:nvSpPr>
          <p:cNvPr id="29" name="Text 27"/>
          <p:cNvSpPr/>
          <p:nvPr/>
        </p:nvSpPr>
        <p:spPr>
          <a:xfrm>
            <a:off x="822960" y="4864608"/>
            <a:ext cx="10515600" cy="1325880"/>
          </a:xfrm>
          <a:prstGeom prst="rect">
            <a:avLst/>
          </a:prstGeom>
          <a:noFill/>
          <a:ln/>
        </p:spPr>
        <p:txBody>
          <a:bodyPr wrap="square" lIns="0" tIns="0" rIns="0" bIns="0" rtlCol="0" anchor="ctr"/>
          <a:lstStyle/>
          <a:p>
            <a:pPr indent="0" marL="0">
              <a:buNone/>
            </a:pPr>
            <a:r>
              <a:rPr lang="en-US" sz="1200" dirty="0">
                <a:solidFill>
                  <a:srgbClr val="9AAFC4"/>
                </a:solidFill>
                <a:latin typeface="Calibri" pitchFamily="34" charset="0"/>
                <a:ea typeface="Calibri" pitchFamily="34" charset="-122"/>
                <a:cs typeface="Calibri" pitchFamily="34" charset="-120"/>
              </a:rPr>
              <a:t>The 5% floor raises fewest false alarms — but a spread floor widens the band, so k × floor is the smallest move that can ever breach: it silently raises the detection threshold from 6% to 15%. Both planted incidents are ~20% moves, so the replay prices that blindness at exactly zero. </a:t>
            </a:r>
            <a:pPr indent="0" marL="0">
              <a:buNone/>
            </a:pPr>
            <a:r>
              <a:rPr lang="en-US" sz="1200" b="1" i="1" dirty="0">
                <a:solidFill>
                  <a:srgbClr val="F2F6FA"/>
                </a:solidFill>
                <a:latin typeface="Calibri" pitchFamily="34" charset="0"/>
                <a:ea typeface="Calibri" pitchFamily="34" charset="-122"/>
                <a:cs typeface="Calibri" pitchFamily="34" charset="-120"/>
              </a:rPr>
              <a:t>“A table that cannot price a cost will always recommend paying it.”</a:t>
            </a:r>
            <a:pPr indent="0" marL="0">
              <a:buNone/>
            </a:pPr>
            <a:r>
              <a:rPr lang="en-US" sz="1200" dirty="0">
                <a:solidFill>
                  <a:srgbClr val="9AAFC4"/>
                </a:solidFill>
                <a:latin typeface="Calibri" pitchFamily="34" charset="0"/>
                <a:ea typeface="Calibri" pitchFamily="34" charset="-122"/>
                <a:cs typeface="Calibri" pitchFamily="34" charset="-120"/>
              </a:rPr>
              <a:t>  We added a smallest-detectable-move column and adopted 2% — the setting whose false-alarm reduction is bought with a sensitivity loss the evidence can actually bound. (k = 2.0 was also measured, not skipped: one day produced 98,342 breaches — a third of all cells. Rejected.)</a:t>
            </a:r>
            <a:endParaRPr lang="en-US" sz="1200" dirty="0"/>
          </a:p>
        </p:txBody>
      </p:sp>
      <p:sp>
        <p:nvSpPr>
          <p:cNvPr id="31" name="Text 28"/>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E25B5B"/>
                </a:solidFill>
                <a:latin typeface="Calibri" pitchFamily="34" charset="0"/>
                <a:ea typeface="Calibri" pitchFamily="34" charset="-122"/>
                <a:cs typeface="Calibri" pitchFamily="34" charset="-120"/>
              </a:rPr>
              <a:t>TRUST, EARNED THE HARD WAY</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Every guardrail in the code is a measured defect, not a precaution</a:t>
            </a:r>
            <a:endParaRPr lang="en-US" sz="3000" dirty="0"/>
          </a:p>
        </p:txBody>
      </p:sp>
      <p:sp>
        <p:nvSpPr>
          <p:cNvPr id="4" name="Shape 2"/>
          <p:cNvSpPr/>
          <p:nvPr/>
        </p:nvSpPr>
        <p:spPr>
          <a:xfrm>
            <a:off x="548640" y="1508760"/>
            <a:ext cx="3611880" cy="4343400"/>
          </a:xfrm>
          <a:prstGeom prst="roundRect">
            <a:avLst>
              <a:gd name="adj" fmla="val 1772"/>
            </a:avLst>
          </a:prstGeom>
          <a:solidFill>
            <a:srgbClr val="18242F"/>
          </a:solidFill>
          <a:ln w="9525">
            <a:solidFill>
              <a:srgbClr val="2A3A4D"/>
            </a:solidFill>
            <a:prstDash val="solid"/>
          </a:ln>
        </p:spPr>
      </p:sp>
      <p:sp>
        <p:nvSpPr>
          <p:cNvPr id="5" name="Text 3"/>
          <p:cNvSpPr/>
          <p:nvPr/>
        </p:nvSpPr>
        <p:spPr>
          <a:xfrm>
            <a:off x="777240" y="1691640"/>
            <a:ext cx="3154680" cy="640080"/>
          </a:xfrm>
          <a:prstGeom prst="rect">
            <a:avLst/>
          </a:prstGeom>
          <a:noFill/>
          <a:ln/>
        </p:spPr>
        <p:txBody>
          <a:bodyPr wrap="square" lIns="0" tIns="0" rIns="0" bIns="0" rtlCol="0" anchor="ctr"/>
          <a:lstStyle/>
          <a:p>
            <a:pPr indent="0" marL="0">
              <a:buNone/>
            </a:pPr>
            <a:r>
              <a:rPr lang="en-US" sz="3200" b="1" dirty="0">
                <a:solidFill>
                  <a:srgbClr val="E25B5B"/>
                </a:solidFill>
                <a:latin typeface="Courier New" pitchFamily="34" charset="0"/>
                <a:ea typeface="Courier New" pitchFamily="34" charset="-122"/>
                <a:cs typeface="Courier New" pitchFamily="34" charset="-120"/>
              </a:rPr>
              <a:t>$39.73</a:t>
            </a:r>
            <a:endParaRPr lang="en-US" sz="3200" dirty="0"/>
          </a:p>
        </p:txBody>
      </p:sp>
      <p:sp>
        <p:nvSpPr>
          <p:cNvPr id="6" name="Text 4"/>
          <p:cNvSpPr/>
          <p:nvPr/>
        </p:nvSpPr>
        <p:spPr>
          <a:xfrm>
            <a:off x="777240" y="2331720"/>
            <a:ext cx="3200400" cy="365760"/>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the phantom dollar figure</a:t>
            </a:r>
            <a:endParaRPr lang="en-US" sz="1300" dirty="0"/>
          </a:p>
        </p:txBody>
      </p:sp>
      <p:sp>
        <p:nvSpPr>
          <p:cNvPr id="7" name="Text 5"/>
          <p:cNvSpPr/>
          <p:nvPr/>
        </p:nvSpPr>
        <p:spPr>
          <a:xfrm>
            <a:off x="777240" y="2743200"/>
            <a:ext cx="3200400" cy="1828800"/>
          </a:xfrm>
          <a:prstGeom prst="rect">
            <a:avLst/>
          </a:prstGeom>
          <a:noFill/>
          <a:ln/>
        </p:spPr>
        <p:txBody>
          <a:bodyPr wrap="square" lIns="0" tIns="0" rIns="0" bIns="0" rtlCol="0" anchor="ctr"/>
          <a:lstStyle/>
          <a:p>
            <a:pPr indent="0" marL="0">
              <a:buNone/>
            </a:pPr>
            <a:r>
              <a:rPr lang="en-US" sz="1100" dirty="0">
                <a:solidFill>
                  <a:srgbClr val="9AAFC4"/>
                </a:solidFill>
                <a:latin typeface="Calibri" pitchFamily="34" charset="0"/>
                <a:ea typeface="Calibri" pitchFamily="34" charset="-122"/>
                <a:cs typeface="Calibri" pitchFamily="34" charset="-120"/>
              </a:rPr>
              <a:t>Missing clicks were priced at revenue-per-click — but in this dataset revenue accrues on impressions (rev/impression is identical across CPM, CPC, CPI). A figure the data does not contain ranked #1 in the queue, above a real $24.42/day outage.</a:t>
            </a:r>
            <a:endParaRPr lang="en-US" sz="1100" dirty="0"/>
          </a:p>
        </p:txBody>
      </p:sp>
      <p:sp>
        <p:nvSpPr>
          <p:cNvPr id="8" name="Text 6"/>
          <p:cNvSpPr/>
          <p:nvPr/>
        </p:nvSpPr>
        <p:spPr>
          <a:xfrm>
            <a:off x="777240" y="4709160"/>
            <a:ext cx="3200400" cy="1005840"/>
          </a:xfrm>
          <a:prstGeom prst="rect">
            <a:avLst/>
          </a:prstGeom>
          <a:noFill/>
          <a:ln/>
        </p:spPr>
        <p:txBody>
          <a:bodyPr wrap="square" lIns="0" tIns="0" rIns="0" bIns="0" rtlCol="0" anchor="ctr"/>
          <a:lstStyle/>
          <a:p>
            <a:pPr indent="0" marL="0">
              <a:buNone/>
            </a:pPr>
            <a:r>
              <a:rPr lang="en-US" sz="1050" i="1" dirty="0">
                <a:solidFill>
                  <a:srgbClr val="E25B5B"/>
                </a:solidFill>
                <a:latin typeface="Calibri" pitchFamily="34" charset="0"/>
                <a:ea typeface="Calibri" pitchFamily="34" charset="-122"/>
                <a:cs typeface="Calibri" pitchFamily="34" charset="-120"/>
              </a:rPr>
              <a:t>Fix: engagement metrics book $0 exposure unless the dataset is click-monetised — a config flag, verified before flipping.</a:t>
            </a:r>
            <a:endParaRPr lang="en-US" sz="1050" dirty="0"/>
          </a:p>
        </p:txBody>
      </p:sp>
      <p:sp>
        <p:nvSpPr>
          <p:cNvPr id="9" name="Shape 7"/>
          <p:cNvSpPr/>
          <p:nvPr/>
        </p:nvSpPr>
        <p:spPr>
          <a:xfrm>
            <a:off x="4370832" y="1508760"/>
            <a:ext cx="3611880" cy="4343400"/>
          </a:xfrm>
          <a:prstGeom prst="roundRect">
            <a:avLst>
              <a:gd name="adj" fmla="val 1772"/>
            </a:avLst>
          </a:prstGeom>
          <a:solidFill>
            <a:srgbClr val="18242F"/>
          </a:solidFill>
          <a:ln w="9525">
            <a:solidFill>
              <a:srgbClr val="2A3A4D"/>
            </a:solidFill>
            <a:prstDash val="solid"/>
          </a:ln>
        </p:spPr>
      </p:sp>
      <p:sp>
        <p:nvSpPr>
          <p:cNvPr id="10" name="Text 8"/>
          <p:cNvSpPr/>
          <p:nvPr/>
        </p:nvSpPr>
        <p:spPr>
          <a:xfrm>
            <a:off x="4599432" y="1691640"/>
            <a:ext cx="3154680" cy="640080"/>
          </a:xfrm>
          <a:prstGeom prst="rect">
            <a:avLst/>
          </a:prstGeom>
          <a:noFill/>
          <a:ln/>
        </p:spPr>
        <p:txBody>
          <a:bodyPr wrap="square" lIns="0" tIns="0" rIns="0" bIns="0" rtlCol="0" anchor="ctr"/>
          <a:lstStyle/>
          <a:p>
            <a:pPr indent="0" marL="0">
              <a:buNone/>
            </a:pPr>
            <a:r>
              <a:rPr lang="en-US" sz="3200" b="1" dirty="0">
                <a:solidFill>
                  <a:srgbClr val="F2A93B"/>
                </a:solidFill>
                <a:latin typeface="Courier New" pitchFamily="34" charset="0"/>
                <a:ea typeface="Courier New" pitchFamily="34" charset="-122"/>
                <a:cs typeface="Courier New" pitchFamily="34" charset="-120"/>
              </a:rPr>
              <a:t>67,360</a:t>
            </a:r>
            <a:endParaRPr lang="en-US" sz="3200" dirty="0"/>
          </a:p>
        </p:txBody>
      </p:sp>
      <p:sp>
        <p:nvSpPr>
          <p:cNvPr id="11" name="Text 9"/>
          <p:cNvSpPr/>
          <p:nvPr/>
        </p:nvSpPr>
        <p:spPr>
          <a:xfrm>
            <a:off x="4599432" y="2331720"/>
            <a:ext cx="3200400" cy="365760"/>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phantom breaches in one day</a:t>
            </a:r>
            <a:endParaRPr lang="en-US" sz="1300" dirty="0"/>
          </a:p>
        </p:txBody>
      </p:sp>
      <p:sp>
        <p:nvSpPr>
          <p:cNvPr id="12" name="Text 10"/>
          <p:cNvSpPr/>
          <p:nvPr/>
        </p:nvSpPr>
        <p:spPr>
          <a:xfrm>
            <a:off x="4599432" y="2743200"/>
            <a:ext cx="3200400" cy="1828800"/>
          </a:xfrm>
          <a:prstGeom prst="rect">
            <a:avLst/>
          </a:prstGeom>
          <a:noFill/>
          <a:ln/>
        </p:spPr>
        <p:txBody>
          <a:bodyPr wrap="square" lIns="0" tIns="0" rIns="0" bIns="0" rtlCol="0" anchor="ctr"/>
          <a:lstStyle/>
          <a:p>
            <a:pPr indent="0" marL="0">
              <a:buNone/>
            </a:pPr>
            <a:r>
              <a:rPr lang="en-US" sz="1100" dirty="0">
                <a:solidFill>
                  <a:srgbClr val="9AAFC4"/>
                </a:solidFill>
                <a:latin typeface="Calibri" pitchFamily="34" charset="0"/>
                <a:ea typeface="Calibri" pitchFamily="34" charset="-122"/>
                <a:cs typeface="Calibri" pitchFamily="34" charset="-120"/>
              </a:rPr>
              <a:t>Evaluation windows reaching back before the data’s own start are only partly populated — the sum is short by the missing history and reads as a collapse. Every one of them said “below”. The fine grains produced 201 that day.</a:t>
            </a:r>
            <a:endParaRPr lang="en-US" sz="1100" dirty="0"/>
          </a:p>
        </p:txBody>
      </p:sp>
      <p:sp>
        <p:nvSpPr>
          <p:cNvPr id="13" name="Text 11"/>
          <p:cNvSpPr/>
          <p:nvPr/>
        </p:nvSpPr>
        <p:spPr>
          <a:xfrm>
            <a:off x="4599432" y="4709160"/>
            <a:ext cx="3200400" cy="1005840"/>
          </a:xfrm>
          <a:prstGeom prst="rect">
            <a:avLst/>
          </a:prstGeom>
          <a:noFill/>
          <a:ln/>
        </p:spPr>
        <p:txBody>
          <a:bodyPr wrap="square" lIns="0" tIns="0" rIns="0" bIns="0" rtlCol="0" anchor="ctr"/>
          <a:lstStyle/>
          <a:p>
            <a:pPr indent="0" marL="0">
              <a:buNone/>
            </a:pPr>
            <a:r>
              <a:rPr lang="en-US" sz="1050" i="1" dirty="0">
                <a:solidFill>
                  <a:srgbClr val="F2A93B"/>
                </a:solidFill>
                <a:latin typeface="Calibri" pitchFamily="34" charset="0"/>
                <a:ea typeface="Calibri" pitchFamily="34" charset="-122"/>
                <a:cs typeface="Calibri" pitchFamily="34" charset="-120"/>
              </a:rPr>
              <a:t>Fix: test the window’s position, not its length — counted as skipped_incomplete_window, never silently dropped.</a:t>
            </a:r>
            <a:endParaRPr lang="en-US" sz="1050" dirty="0"/>
          </a:p>
        </p:txBody>
      </p:sp>
      <p:sp>
        <p:nvSpPr>
          <p:cNvPr id="14" name="Shape 12"/>
          <p:cNvSpPr/>
          <p:nvPr/>
        </p:nvSpPr>
        <p:spPr>
          <a:xfrm>
            <a:off x="8193024" y="1508760"/>
            <a:ext cx="3611880" cy="4343400"/>
          </a:xfrm>
          <a:prstGeom prst="roundRect">
            <a:avLst>
              <a:gd name="adj" fmla="val 1772"/>
            </a:avLst>
          </a:prstGeom>
          <a:solidFill>
            <a:srgbClr val="18242F"/>
          </a:solidFill>
          <a:ln w="9525">
            <a:solidFill>
              <a:srgbClr val="2A3A4D"/>
            </a:solidFill>
            <a:prstDash val="solid"/>
          </a:ln>
        </p:spPr>
      </p:sp>
      <p:sp>
        <p:nvSpPr>
          <p:cNvPr id="15" name="Text 13"/>
          <p:cNvSpPr/>
          <p:nvPr/>
        </p:nvSpPr>
        <p:spPr>
          <a:xfrm>
            <a:off x="8421624" y="1691640"/>
            <a:ext cx="3154680" cy="640080"/>
          </a:xfrm>
          <a:prstGeom prst="rect">
            <a:avLst/>
          </a:prstGeom>
          <a:noFill/>
          <a:ln/>
        </p:spPr>
        <p:txBody>
          <a:bodyPr wrap="square" lIns="0" tIns="0" rIns="0" bIns="0" rtlCol="0" anchor="ctr"/>
          <a:lstStyle/>
          <a:p>
            <a:pPr indent="0" marL="0">
              <a:buNone/>
            </a:pPr>
            <a:r>
              <a:rPr lang="en-US" sz="3200" b="1" dirty="0">
                <a:solidFill>
                  <a:srgbClr val="58A6E8"/>
                </a:solidFill>
                <a:latin typeface="Courier New" pitchFamily="34" charset="0"/>
                <a:ea typeface="Courier New" pitchFamily="34" charset="-122"/>
                <a:cs typeface="Courier New" pitchFamily="34" charset="-120"/>
              </a:rPr>
              <a:t>60×</a:t>
            </a:r>
            <a:endParaRPr lang="en-US" sz="3200" dirty="0"/>
          </a:p>
        </p:txBody>
      </p:sp>
      <p:sp>
        <p:nvSpPr>
          <p:cNvPr id="16" name="Text 14"/>
          <p:cNvSpPr/>
          <p:nvPr/>
        </p:nvSpPr>
        <p:spPr>
          <a:xfrm>
            <a:off x="8421624" y="2331720"/>
            <a:ext cx="3200400" cy="365760"/>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overstatement of incident dollars</a:t>
            </a:r>
            <a:endParaRPr lang="en-US" sz="1300" dirty="0"/>
          </a:p>
        </p:txBody>
      </p:sp>
      <p:sp>
        <p:nvSpPr>
          <p:cNvPr id="17" name="Text 15"/>
          <p:cNvSpPr/>
          <p:nvPr/>
        </p:nvSpPr>
        <p:spPr>
          <a:xfrm>
            <a:off x="8421624" y="2743200"/>
            <a:ext cx="3200400" cy="1828800"/>
          </a:xfrm>
          <a:prstGeom prst="rect">
            <a:avLst/>
          </a:prstGeom>
          <a:noFill/>
          <a:ln/>
        </p:spPr>
        <p:txBody>
          <a:bodyPr wrap="square" lIns="0" tIns="0" rIns="0" bIns="0" rtlCol="0" anchor="ctr"/>
          <a:lstStyle/>
          <a:p>
            <a:pPr indent="0" marL="0">
              <a:buNone/>
            </a:pPr>
            <a:r>
              <a:rPr lang="en-US" sz="1100" dirty="0">
                <a:solidFill>
                  <a:srgbClr val="9AAFC4"/>
                </a:solidFill>
                <a:latin typeface="Calibri" pitchFamily="34" charset="0"/>
                <a:ea typeface="Calibri" pitchFamily="34" charset="-122"/>
                <a:cs typeface="Calibri" pitchFamily="34" charset="-120"/>
              </a:rPr>
              <a:t>Summing an incident’s member breaches counts one shortfall once per scope × grain: $1,680 claimed against a real $24.54 breach — and the error grew as coverage improved.</a:t>
            </a:r>
            <a:endParaRPr lang="en-US" sz="1100" dirty="0"/>
          </a:p>
        </p:txBody>
      </p:sp>
      <p:sp>
        <p:nvSpPr>
          <p:cNvPr id="18" name="Text 16"/>
          <p:cNvSpPr/>
          <p:nvPr/>
        </p:nvSpPr>
        <p:spPr>
          <a:xfrm>
            <a:off x="8421624" y="4709160"/>
            <a:ext cx="3200400" cy="1005840"/>
          </a:xfrm>
          <a:prstGeom prst="rect">
            <a:avLst/>
          </a:prstGeom>
          <a:noFill/>
          <a:ln/>
        </p:spPr>
        <p:txBody>
          <a:bodyPr wrap="square" lIns="0" tIns="0" rIns="0" bIns="0" rtlCol="0" anchor="ctr"/>
          <a:lstStyle/>
          <a:p>
            <a:pPr indent="0" marL="0">
              <a:buNone/>
            </a:pPr>
            <a:r>
              <a:rPr lang="en-US" sz="1050" i="1" dirty="0">
                <a:solidFill>
                  <a:srgbClr val="58A6E8"/>
                </a:solidFill>
                <a:latin typeface="Calibri" pitchFamily="34" charset="0"/>
                <a:ea typeface="Calibri" pitchFamily="34" charset="-122"/>
                <a:cs typeface="Calibri" pitchFamily="34" charset="-120"/>
              </a:rPr>
              <a:t>Fix: incident dollars are additive only by construction — same root scope, same metric, same grain, consecutive windows.</a:t>
            </a:r>
            <a:endParaRPr lang="en-US" sz="1050" dirty="0"/>
          </a:p>
        </p:txBody>
      </p:sp>
      <p:sp>
        <p:nvSpPr>
          <p:cNvPr id="19" name="Text 17"/>
          <p:cNvSpPr/>
          <p:nvPr/>
        </p:nvSpPr>
        <p:spPr>
          <a:xfrm>
            <a:off x="548640" y="6035040"/>
            <a:ext cx="11064240" cy="548640"/>
          </a:xfrm>
          <a:prstGeom prst="rect">
            <a:avLst/>
          </a:prstGeom>
          <a:noFill/>
          <a:ln/>
        </p:spPr>
        <p:txBody>
          <a:bodyPr wrap="square" lIns="0" tIns="0" rIns="0" bIns="0" rtlCol="0" anchor="ctr"/>
          <a:lstStyle/>
          <a:p>
            <a:pPr indent="0" marL="0">
              <a:buNone/>
            </a:pPr>
            <a:r>
              <a:rPr lang="en-US" sz="1250" i="1" dirty="0">
                <a:solidFill>
                  <a:srgbClr val="9AAFC4"/>
                </a:solidFill>
                <a:latin typeface="Calibri" pitchFamily="34" charset="0"/>
                <a:ea typeface="Calibri" pitchFamily="34" charset="-122"/>
                <a:cs typeface="Calibri" pitchFamily="34" charset="-120"/>
              </a:rPr>
              <a:t>All three were found by replaying the full dataset through the system (scripts/backtest.py) — not by reading the code. The invariants are now documented so re-breaking them can’t be silent.</a:t>
            </a:r>
            <a:endParaRPr lang="en-US" sz="1250" dirty="0"/>
          </a:p>
        </p:txBody>
      </p:sp>
      <p:sp>
        <p:nvSpPr>
          <p:cNvPr id="21" name="Text 18"/>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45C489"/>
                </a:solidFill>
                <a:latin typeface="Calibri" pitchFamily="34" charset="0"/>
                <a:ea typeface="Calibri" pitchFamily="34" charset="-122"/>
                <a:cs typeface="Calibri" pitchFamily="34" charset="-120"/>
              </a:rPr>
              <a:t>TRACEABILITY · LANGFUSE</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“No trace, no credit” — so every trace is real-time and complete</a:t>
            </a:r>
            <a:endParaRPr lang="en-US" sz="3000" dirty="0"/>
          </a:p>
        </p:txBody>
      </p:sp>
      <p:sp>
        <p:nvSpPr>
          <p:cNvPr id="4" name="Shape 2"/>
          <p:cNvSpPr/>
          <p:nvPr/>
        </p:nvSpPr>
        <p:spPr>
          <a:xfrm>
            <a:off x="548640" y="1508760"/>
            <a:ext cx="5806440" cy="4480560"/>
          </a:xfrm>
          <a:prstGeom prst="roundRect">
            <a:avLst>
              <a:gd name="adj" fmla="val 1429"/>
            </a:avLst>
          </a:prstGeom>
          <a:solidFill>
            <a:srgbClr val="18242F"/>
          </a:solidFill>
          <a:ln w="9525">
            <a:solidFill>
              <a:srgbClr val="2A3A4D"/>
            </a:solidFill>
            <a:prstDash val="solid"/>
          </a:ln>
        </p:spPr>
      </p:sp>
      <p:sp>
        <p:nvSpPr>
          <p:cNvPr id="5" name="Text 3"/>
          <p:cNvSpPr/>
          <p:nvPr/>
        </p:nvSpPr>
        <p:spPr>
          <a:xfrm>
            <a:off x="822960" y="1664208"/>
            <a:ext cx="5303520" cy="320040"/>
          </a:xfrm>
          <a:prstGeom prst="rect">
            <a:avLst/>
          </a:prstGeom>
          <a:noFill/>
          <a:ln/>
        </p:spPr>
        <p:txBody>
          <a:bodyPr wrap="square" lIns="0" tIns="0" rIns="0" bIns="0" rtlCol="0" anchor="ctr"/>
          <a:lstStyle/>
          <a:p>
            <a:pPr indent="0" marL="0">
              <a:buNone/>
            </a:pPr>
            <a:r>
              <a:rPr lang="en-US" sz="1200" b="1" dirty="0">
                <a:solidFill>
                  <a:srgbClr val="F2F6FA"/>
                </a:solidFill>
                <a:latin typeface="Courier New" pitchFamily="34" charset="0"/>
                <a:ea typeface="Courier New" pitchFamily="34" charset="-122"/>
                <a:cs typeface="Courier New" pitchFamily="34" charset="-120"/>
              </a:rPr>
              <a:t>investigation · INC-0623  (Langfuse trace)</a:t>
            </a:r>
            <a:endParaRPr lang="en-US" sz="1200" dirty="0"/>
          </a:p>
        </p:txBody>
      </p:sp>
      <p:sp>
        <p:nvSpPr>
          <p:cNvPr id="6" name="Shape 4"/>
          <p:cNvSpPr/>
          <p:nvPr/>
        </p:nvSpPr>
        <p:spPr>
          <a:xfrm>
            <a:off x="868680" y="2103120"/>
            <a:ext cx="5166360" cy="438912"/>
          </a:xfrm>
          <a:prstGeom prst="roundRect">
            <a:avLst>
              <a:gd name="adj" fmla="val 10417"/>
            </a:avLst>
          </a:prstGeom>
          <a:solidFill>
            <a:srgbClr val="58A6E8">
              <a:alpha val="16000"/>
            </a:srgbClr>
          </a:solidFill>
          <a:ln w="9525">
            <a:solidFill>
              <a:srgbClr val="58A6E8"/>
            </a:solidFill>
            <a:prstDash val="solid"/>
          </a:ln>
        </p:spPr>
      </p:sp>
      <p:sp>
        <p:nvSpPr>
          <p:cNvPr id="7" name="Text 5"/>
          <p:cNvSpPr/>
          <p:nvPr/>
        </p:nvSpPr>
        <p:spPr>
          <a:xfrm>
            <a:off x="1005840" y="2103120"/>
            <a:ext cx="3840480" cy="438912"/>
          </a:xfrm>
          <a:prstGeom prst="rect">
            <a:avLst/>
          </a:prstGeom>
          <a:noFill/>
          <a:ln/>
        </p:spPr>
        <p:txBody>
          <a:bodyPr wrap="square" lIns="0" tIns="0" rIns="0" bIns="0" rtlCol="0" anchor="ctr"/>
          <a:lstStyle/>
          <a:p>
            <a:pPr indent="0" marL="0">
              <a:buNone/>
            </a:pPr>
            <a:r>
              <a:rPr lang="en-US" sz="1050" dirty="0">
                <a:solidFill>
                  <a:srgbClr val="F2F6FA"/>
                </a:solidFill>
                <a:latin typeface="Courier New" pitchFamily="34" charset="0"/>
                <a:ea typeface="Courier New" pitchFamily="34" charset="-122"/>
                <a:cs typeface="Courier New" pitchFamily="34" charset="-120"/>
              </a:rPr>
              <a:t>baseline:hourly_overall</a:t>
            </a:r>
            <a:endParaRPr lang="en-US" sz="1050" dirty="0"/>
          </a:p>
        </p:txBody>
      </p:sp>
      <p:sp>
        <p:nvSpPr>
          <p:cNvPr id="8" name="Text 6"/>
          <p:cNvSpPr/>
          <p:nvPr/>
        </p:nvSpPr>
        <p:spPr>
          <a:xfrm>
            <a:off x="4434840" y="2103120"/>
            <a:ext cx="1417320" cy="438912"/>
          </a:xfrm>
          <a:prstGeom prst="rect">
            <a:avLst/>
          </a:prstGeom>
          <a:noFill/>
          <a:ln/>
        </p:spPr>
        <p:txBody>
          <a:bodyPr wrap="square" lIns="0" tIns="0" rIns="0" bIns="0" rtlCol="0" anchor="ctr"/>
          <a:lstStyle/>
          <a:p>
            <a:pPr algn="r" indent="0" marL="0">
              <a:buNone/>
            </a:pPr>
            <a:r>
              <a:rPr lang="en-US" sz="900" dirty="0">
                <a:solidFill>
                  <a:srgbClr val="9AAFC4"/>
                </a:solidFill>
                <a:latin typeface="Courier New" pitchFamily="34" charset="0"/>
                <a:ea typeface="Courier New" pitchFamily="34" charset="-122"/>
                <a:cs typeface="Courier New" pitchFamily="34" charset="-120"/>
              </a:rPr>
              <a:t>39 ms</a:t>
            </a:r>
            <a:endParaRPr lang="en-US" sz="900" dirty="0"/>
          </a:p>
        </p:txBody>
      </p:sp>
      <p:sp>
        <p:nvSpPr>
          <p:cNvPr id="9" name="Shape 7"/>
          <p:cNvSpPr/>
          <p:nvPr/>
        </p:nvSpPr>
        <p:spPr>
          <a:xfrm>
            <a:off x="868680" y="2633472"/>
            <a:ext cx="5166360" cy="438912"/>
          </a:xfrm>
          <a:prstGeom prst="roundRect">
            <a:avLst>
              <a:gd name="adj" fmla="val 10417"/>
            </a:avLst>
          </a:prstGeom>
          <a:solidFill>
            <a:srgbClr val="58A6E8">
              <a:alpha val="16000"/>
            </a:srgbClr>
          </a:solidFill>
          <a:ln w="9525">
            <a:solidFill>
              <a:srgbClr val="58A6E8"/>
            </a:solidFill>
            <a:prstDash val="solid"/>
          </a:ln>
        </p:spPr>
      </p:sp>
      <p:sp>
        <p:nvSpPr>
          <p:cNvPr id="10" name="Text 8"/>
          <p:cNvSpPr/>
          <p:nvPr/>
        </p:nvSpPr>
        <p:spPr>
          <a:xfrm>
            <a:off x="1005840" y="2633472"/>
            <a:ext cx="3840480" cy="438912"/>
          </a:xfrm>
          <a:prstGeom prst="rect">
            <a:avLst/>
          </a:prstGeom>
          <a:noFill/>
          <a:ln/>
        </p:spPr>
        <p:txBody>
          <a:bodyPr wrap="square" lIns="0" tIns="0" rIns="0" bIns="0" rtlCol="0" anchor="ctr"/>
          <a:lstStyle/>
          <a:p>
            <a:pPr indent="0" marL="0">
              <a:buNone/>
            </a:pPr>
            <a:r>
              <a:rPr lang="en-US" sz="1050" dirty="0">
                <a:solidFill>
                  <a:srgbClr val="F2F6FA"/>
                </a:solidFill>
                <a:latin typeface="Courier New" pitchFamily="34" charset="0"/>
                <a:ea typeface="Courier New" pitchFamily="34" charset="-122"/>
                <a:cs typeface="Courier New" pitchFamily="34" charset="-120"/>
              </a:rPr>
              <a:t>decompose:revenue_identity</a:t>
            </a:r>
            <a:endParaRPr lang="en-US" sz="1050" dirty="0"/>
          </a:p>
        </p:txBody>
      </p:sp>
      <p:sp>
        <p:nvSpPr>
          <p:cNvPr id="11" name="Text 9"/>
          <p:cNvSpPr/>
          <p:nvPr/>
        </p:nvSpPr>
        <p:spPr>
          <a:xfrm>
            <a:off x="4434840" y="2633472"/>
            <a:ext cx="1417320" cy="438912"/>
          </a:xfrm>
          <a:prstGeom prst="rect">
            <a:avLst/>
          </a:prstGeom>
          <a:noFill/>
          <a:ln/>
        </p:spPr>
        <p:txBody>
          <a:bodyPr wrap="square" lIns="0" tIns="0" rIns="0" bIns="0" rtlCol="0" anchor="ctr"/>
          <a:lstStyle/>
          <a:p>
            <a:pPr algn="r" indent="0" marL="0">
              <a:buNone/>
            </a:pPr>
            <a:r>
              <a:rPr lang="en-US" sz="900" dirty="0">
                <a:solidFill>
                  <a:srgbClr val="9AAFC4"/>
                </a:solidFill>
                <a:latin typeface="Courier New" pitchFamily="34" charset="0"/>
                <a:ea typeface="Courier New" pitchFamily="34" charset="-122"/>
                <a:cs typeface="Courier New" pitchFamily="34" charset="-120"/>
              </a:rPr>
              <a:t>incl.</a:t>
            </a:r>
            <a:endParaRPr lang="en-US" sz="900" dirty="0"/>
          </a:p>
        </p:txBody>
      </p:sp>
      <p:sp>
        <p:nvSpPr>
          <p:cNvPr id="12" name="Shape 10"/>
          <p:cNvSpPr/>
          <p:nvPr/>
        </p:nvSpPr>
        <p:spPr>
          <a:xfrm>
            <a:off x="868680" y="3163824"/>
            <a:ext cx="5166360" cy="438912"/>
          </a:xfrm>
          <a:prstGeom prst="roundRect">
            <a:avLst>
              <a:gd name="adj" fmla="val 10417"/>
            </a:avLst>
          </a:prstGeom>
          <a:solidFill>
            <a:srgbClr val="58A6E8">
              <a:alpha val="16000"/>
            </a:srgbClr>
          </a:solidFill>
          <a:ln w="9525">
            <a:solidFill>
              <a:srgbClr val="58A6E8"/>
            </a:solidFill>
            <a:prstDash val="solid"/>
          </a:ln>
        </p:spPr>
      </p:sp>
      <p:sp>
        <p:nvSpPr>
          <p:cNvPr id="13" name="Text 11"/>
          <p:cNvSpPr/>
          <p:nvPr/>
        </p:nvSpPr>
        <p:spPr>
          <a:xfrm>
            <a:off x="1005840" y="3163824"/>
            <a:ext cx="3840480" cy="438912"/>
          </a:xfrm>
          <a:prstGeom prst="rect">
            <a:avLst/>
          </a:prstGeom>
          <a:noFill/>
          <a:ln/>
        </p:spPr>
        <p:txBody>
          <a:bodyPr wrap="square" lIns="0" tIns="0" rIns="0" bIns="0" rtlCol="0" anchor="ctr"/>
          <a:lstStyle/>
          <a:p>
            <a:pPr indent="0" marL="0">
              <a:buNone/>
            </a:pPr>
            <a:r>
              <a:rPr lang="en-US" sz="1050" dirty="0">
                <a:solidFill>
                  <a:srgbClr val="F2F6FA"/>
                </a:solidFill>
                <a:latin typeface="Courier New" pitchFamily="34" charset="0"/>
                <a:ea typeface="Courier New" pitchFamily="34" charset="-122"/>
                <a:cs typeface="Courier New" pitchFamily="34" charset="-120"/>
              </a:rPr>
              <a:t>rank:hourly_by_region · _by_os · _by_format …</a:t>
            </a:r>
            <a:endParaRPr lang="en-US" sz="1050" dirty="0"/>
          </a:p>
        </p:txBody>
      </p:sp>
      <p:sp>
        <p:nvSpPr>
          <p:cNvPr id="14" name="Text 12"/>
          <p:cNvSpPr/>
          <p:nvPr/>
        </p:nvSpPr>
        <p:spPr>
          <a:xfrm>
            <a:off x="4434840" y="3163824"/>
            <a:ext cx="1417320" cy="438912"/>
          </a:xfrm>
          <a:prstGeom prst="rect">
            <a:avLst/>
          </a:prstGeom>
          <a:noFill/>
          <a:ln/>
        </p:spPr>
        <p:txBody>
          <a:bodyPr wrap="square" lIns="0" tIns="0" rIns="0" bIns="0" rtlCol="0" anchor="ctr"/>
          <a:lstStyle/>
          <a:p>
            <a:pPr algn="r" indent="0" marL="0">
              <a:buNone/>
            </a:pPr>
            <a:r>
              <a:rPr lang="en-US" sz="900" dirty="0">
                <a:solidFill>
                  <a:srgbClr val="9AAFC4"/>
                </a:solidFill>
                <a:latin typeface="Courier New" pitchFamily="34" charset="0"/>
                <a:ea typeface="Courier New" pitchFamily="34" charset="-122"/>
                <a:cs typeface="Courier New" pitchFamily="34" charset="-120"/>
              </a:rPr>
              <a:t>438 ms ‖ parallel</a:t>
            </a:r>
            <a:endParaRPr lang="en-US" sz="900" dirty="0"/>
          </a:p>
        </p:txBody>
      </p:sp>
      <p:sp>
        <p:nvSpPr>
          <p:cNvPr id="15" name="Shape 13"/>
          <p:cNvSpPr/>
          <p:nvPr/>
        </p:nvSpPr>
        <p:spPr>
          <a:xfrm>
            <a:off x="1234440" y="3694176"/>
            <a:ext cx="4800600" cy="438912"/>
          </a:xfrm>
          <a:prstGeom prst="roundRect">
            <a:avLst>
              <a:gd name="adj" fmla="val 10417"/>
            </a:avLst>
          </a:prstGeom>
          <a:solidFill>
            <a:srgbClr val="58A6E8">
              <a:alpha val="16000"/>
            </a:srgbClr>
          </a:solidFill>
          <a:ln w="9525">
            <a:solidFill>
              <a:srgbClr val="58A6E8"/>
            </a:solidFill>
            <a:prstDash val="solid"/>
          </a:ln>
        </p:spPr>
      </p:sp>
      <p:sp>
        <p:nvSpPr>
          <p:cNvPr id="16" name="Text 14"/>
          <p:cNvSpPr/>
          <p:nvPr/>
        </p:nvSpPr>
        <p:spPr>
          <a:xfrm>
            <a:off x="1371600" y="3694176"/>
            <a:ext cx="3840480" cy="438912"/>
          </a:xfrm>
          <a:prstGeom prst="rect">
            <a:avLst/>
          </a:prstGeom>
          <a:noFill/>
          <a:ln/>
        </p:spPr>
        <p:txBody>
          <a:bodyPr wrap="square" lIns="0" tIns="0" rIns="0" bIns="0" rtlCol="0" anchor="ctr"/>
          <a:lstStyle/>
          <a:p>
            <a:pPr indent="0" marL="0">
              <a:buNone/>
            </a:pPr>
            <a:r>
              <a:rPr lang="en-US" sz="1050" dirty="0">
                <a:solidFill>
                  <a:srgbClr val="F2F6FA"/>
                </a:solidFill>
                <a:latin typeface="Courier New" pitchFamily="34" charset="0"/>
                <a:ea typeface="Courier New" pitchFamily="34" charset="-122"/>
                <a:cs typeface="Courier New" pitchFamily="34" charset="-120"/>
              </a:rPr>
              <a:t>drilldown:os_family=Android → os_version</a:t>
            </a:r>
            <a:endParaRPr lang="en-US" sz="1050" dirty="0"/>
          </a:p>
        </p:txBody>
      </p:sp>
      <p:sp>
        <p:nvSpPr>
          <p:cNvPr id="17" name="Text 15"/>
          <p:cNvSpPr/>
          <p:nvPr/>
        </p:nvSpPr>
        <p:spPr>
          <a:xfrm>
            <a:off x="4434840" y="3694176"/>
            <a:ext cx="1417320" cy="438912"/>
          </a:xfrm>
          <a:prstGeom prst="rect">
            <a:avLst/>
          </a:prstGeom>
          <a:noFill/>
          <a:ln/>
        </p:spPr>
        <p:txBody>
          <a:bodyPr wrap="square" lIns="0" tIns="0" rIns="0" bIns="0" rtlCol="0" anchor="ctr"/>
          <a:lstStyle/>
          <a:p>
            <a:pPr algn="r" indent="0" marL="0">
              <a:buNone/>
            </a:pPr>
            <a:r>
              <a:rPr lang="en-US" sz="900" dirty="0">
                <a:solidFill>
                  <a:srgbClr val="9AAFC4"/>
                </a:solidFill>
                <a:latin typeface="Courier New" pitchFamily="34" charset="0"/>
                <a:ea typeface="Courier New" pitchFamily="34" charset="-122"/>
                <a:cs typeface="Courier New" pitchFamily="34" charset="-120"/>
              </a:rPr>
              <a:t>296 ms</a:t>
            </a:r>
            <a:endParaRPr lang="en-US" sz="900" dirty="0"/>
          </a:p>
        </p:txBody>
      </p:sp>
      <p:sp>
        <p:nvSpPr>
          <p:cNvPr id="18" name="Shape 16"/>
          <p:cNvSpPr/>
          <p:nvPr/>
        </p:nvSpPr>
        <p:spPr>
          <a:xfrm>
            <a:off x="1600200" y="4224528"/>
            <a:ext cx="4434840" cy="438912"/>
          </a:xfrm>
          <a:prstGeom prst="roundRect">
            <a:avLst>
              <a:gd name="adj" fmla="val 10417"/>
            </a:avLst>
          </a:prstGeom>
          <a:solidFill>
            <a:srgbClr val="58A6E8">
              <a:alpha val="16000"/>
            </a:srgbClr>
          </a:solidFill>
          <a:ln w="9525">
            <a:solidFill>
              <a:srgbClr val="58A6E8"/>
            </a:solidFill>
            <a:prstDash val="solid"/>
          </a:ln>
        </p:spPr>
      </p:sp>
      <p:sp>
        <p:nvSpPr>
          <p:cNvPr id="19" name="Text 17"/>
          <p:cNvSpPr/>
          <p:nvPr/>
        </p:nvSpPr>
        <p:spPr>
          <a:xfrm>
            <a:off x="1737360" y="4224528"/>
            <a:ext cx="3840480" cy="438912"/>
          </a:xfrm>
          <a:prstGeom prst="rect">
            <a:avLst/>
          </a:prstGeom>
          <a:noFill/>
          <a:ln/>
        </p:spPr>
        <p:txBody>
          <a:bodyPr wrap="square" lIns="0" tIns="0" rIns="0" bIns="0" rtlCol="0" anchor="ctr"/>
          <a:lstStyle/>
          <a:p>
            <a:pPr indent="0" marL="0">
              <a:buNone/>
            </a:pPr>
            <a:r>
              <a:rPr lang="en-US" sz="1050" dirty="0">
                <a:solidFill>
                  <a:srgbClr val="F2F6FA"/>
                </a:solidFill>
                <a:latin typeface="Courier New" pitchFamily="34" charset="0"/>
                <a:ea typeface="Courier New" pitchFamily="34" charset="-122"/>
                <a:cs typeface="Courier New" pitchFamily="34" charset="-120"/>
              </a:rPr>
              <a:t>drilldown:geo_cell (region × device)</a:t>
            </a:r>
            <a:endParaRPr lang="en-US" sz="1050" dirty="0"/>
          </a:p>
        </p:txBody>
      </p:sp>
      <p:sp>
        <p:nvSpPr>
          <p:cNvPr id="20" name="Text 18"/>
          <p:cNvSpPr/>
          <p:nvPr/>
        </p:nvSpPr>
        <p:spPr>
          <a:xfrm>
            <a:off x="4434840" y="4224528"/>
            <a:ext cx="1417320" cy="438912"/>
          </a:xfrm>
          <a:prstGeom prst="rect">
            <a:avLst/>
          </a:prstGeom>
          <a:noFill/>
          <a:ln/>
        </p:spPr>
        <p:txBody>
          <a:bodyPr wrap="square" lIns="0" tIns="0" rIns="0" bIns="0" rtlCol="0" anchor="ctr"/>
          <a:lstStyle/>
          <a:p>
            <a:pPr algn="r" indent="0" marL="0">
              <a:buNone/>
            </a:pPr>
            <a:r>
              <a:rPr lang="en-US" sz="900" dirty="0">
                <a:solidFill>
                  <a:srgbClr val="9AAFC4"/>
                </a:solidFill>
                <a:latin typeface="Courier New" pitchFamily="34" charset="0"/>
                <a:ea typeface="Courier New" pitchFamily="34" charset="-122"/>
                <a:cs typeface="Courier New" pitchFamily="34" charset="-120"/>
              </a:rPr>
              <a:t>depth 2</a:t>
            </a:r>
            <a:endParaRPr lang="en-US" sz="900" dirty="0"/>
          </a:p>
        </p:txBody>
      </p:sp>
      <p:sp>
        <p:nvSpPr>
          <p:cNvPr id="21" name="Shape 19"/>
          <p:cNvSpPr/>
          <p:nvPr/>
        </p:nvSpPr>
        <p:spPr>
          <a:xfrm>
            <a:off x="868680" y="4754880"/>
            <a:ext cx="5166360" cy="438912"/>
          </a:xfrm>
          <a:prstGeom prst="roundRect">
            <a:avLst>
              <a:gd name="adj" fmla="val 10417"/>
            </a:avLst>
          </a:prstGeom>
          <a:solidFill>
            <a:srgbClr val="45C489">
              <a:alpha val="16000"/>
            </a:srgbClr>
          </a:solidFill>
          <a:ln w="9525">
            <a:solidFill>
              <a:srgbClr val="45C489"/>
            </a:solidFill>
            <a:prstDash val="solid"/>
          </a:ln>
        </p:spPr>
      </p:sp>
      <p:sp>
        <p:nvSpPr>
          <p:cNvPr id="22" name="Text 20"/>
          <p:cNvSpPr/>
          <p:nvPr/>
        </p:nvSpPr>
        <p:spPr>
          <a:xfrm>
            <a:off x="1005840" y="4754880"/>
            <a:ext cx="3840480" cy="438912"/>
          </a:xfrm>
          <a:prstGeom prst="rect">
            <a:avLst/>
          </a:prstGeom>
          <a:noFill/>
          <a:ln/>
        </p:spPr>
        <p:txBody>
          <a:bodyPr wrap="square" lIns="0" tIns="0" rIns="0" bIns="0" rtlCol="0" anchor="ctr"/>
          <a:lstStyle/>
          <a:p>
            <a:pPr indent="0" marL="0">
              <a:buNone/>
            </a:pPr>
            <a:r>
              <a:rPr lang="en-US" sz="1050" dirty="0">
                <a:solidFill>
                  <a:srgbClr val="F2F6FA"/>
                </a:solidFill>
                <a:latin typeface="Courier New" pitchFamily="34" charset="0"/>
                <a:ea typeface="Courier New" pitchFamily="34" charset="-122"/>
                <a:cs typeface="Courier New" pitchFamily="34" charset="-120"/>
              </a:rPr>
              <a:t>rule_out:category · format · tier · app</a:t>
            </a:r>
            <a:endParaRPr lang="en-US" sz="1050" dirty="0"/>
          </a:p>
        </p:txBody>
      </p:sp>
      <p:sp>
        <p:nvSpPr>
          <p:cNvPr id="23" name="Text 21"/>
          <p:cNvSpPr/>
          <p:nvPr/>
        </p:nvSpPr>
        <p:spPr>
          <a:xfrm>
            <a:off x="4434840" y="4754880"/>
            <a:ext cx="1417320" cy="438912"/>
          </a:xfrm>
          <a:prstGeom prst="rect">
            <a:avLst/>
          </a:prstGeom>
          <a:noFill/>
          <a:ln/>
        </p:spPr>
        <p:txBody>
          <a:bodyPr wrap="square" lIns="0" tIns="0" rIns="0" bIns="0" rtlCol="0" anchor="ctr"/>
          <a:lstStyle/>
          <a:p>
            <a:pPr algn="r" indent="0" marL="0">
              <a:buNone/>
            </a:pPr>
            <a:r>
              <a:rPr lang="en-US" sz="900" dirty="0">
                <a:solidFill>
                  <a:srgbClr val="9AAFC4"/>
                </a:solidFill>
                <a:latin typeface="Courier New" pitchFamily="34" charset="0"/>
                <a:ea typeface="Courier New" pitchFamily="34" charset="-122"/>
                <a:cs typeface="Courier New" pitchFamily="34" charset="-120"/>
              </a:rPr>
              <a:t>events</a:t>
            </a:r>
            <a:endParaRPr lang="en-US" sz="900" dirty="0"/>
          </a:p>
        </p:txBody>
      </p:sp>
      <p:sp>
        <p:nvSpPr>
          <p:cNvPr id="24" name="Shape 22"/>
          <p:cNvSpPr/>
          <p:nvPr/>
        </p:nvSpPr>
        <p:spPr>
          <a:xfrm>
            <a:off x="868680" y="5285232"/>
            <a:ext cx="5166360" cy="438912"/>
          </a:xfrm>
          <a:prstGeom prst="roundRect">
            <a:avLst>
              <a:gd name="adj" fmla="val 10417"/>
            </a:avLst>
          </a:prstGeom>
          <a:solidFill>
            <a:srgbClr val="F2A93B">
              <a:alpha val="16000"/>
            </a:srgbClr>
          </a:solidFill>
          <a:ln w="9525">
            <a:solidFill>
              <a:srgbClr val="F2A93B"/>
            </a:solidFill>
            <a:prstDash val="solid"/>
          </a:ln>
        </p:spPr>
      </p:sp>
      <p:sp>
        <p:nvSpPr>
          <p:cNvPr id="25" name="Text 23"/>
          <p:cNvSpPr/>
          <p:nvPr/>
        </p:nvSpPr>
        <p:spPr>
          <a:xfrm>
            <a:off x="1005840" y="5285232"/>
            <a:ext cx="3840480" cy="438912"/>
          </a:xfrm>
          <a:prstGeom prst="rect">
            <a:avLst/>
          </a:prstGeom>
          <a:noFill/>
          <a:ln/>
        </p:spPr>
        <p:txBody>
          <a:bodyPr wrap="square" lIns="0" tIns="0" rIns="0" bIns="0" rtlCol="0" anchor="ctr"/>
          <a:lstStyle/>
          <a:p>
            <a:pPr indent="0" marL="0">
              <a:buNone/>
            </a:pPr>
            <a:r>
              <a:rPr lang="en-US" sz="1050" dirty="0">
                <a:solidFill>
                  <a:srgbClr val="F2F6FA"/>
                </a:solidFill>
                <a:latin typeface="Courier New" pitchFamily="34" charset="0"/>
                <a:ea typeface="Courier New" pitchFamily="34" charset="-122"/>
                <a:cs typeface="Courier New" pitchFamily="34" charset="-120"/>
              </a:rPr>
              <a:t>narrate  (generation span · Gemini)</a:t>
            </a:r>
            <a:endParaRPr lang="en-US" sz="1050" dirty="0"/>
          </a:p>
        </p:txBody>
      </p:sp>
      <p:sp>
        <p:nvSpPr>
          <p:cNvPr id="26" name="Text 24"/>
          <p:cNvSpPr/>
          <p:nvPr/>
        </p:nvSpPr>
        <p:spPr>
          <a:xfrm>
            <a:off x="4434840" y="5285232"/>
            <a:ext cx="1417320" cy="438912"/>
          </a:xfrm>
          <a:prstGeom prst="rect">
            <a:avLst/>
          </a:prstGeom>
          <a:noFill/>
          <a:ln/>
        </p:spPr>
        <p:txBody>
          <a:bodyPr wrap="square" lIns="0" tIns="0" rIns="0" bIns="0" rtlCol="0" anchor="ctr"/>
          <a:lstStyle/>
          <a:p>
            <a:pPr algn="r" indent="0" marL="0">
              <a:buNone/>
            </a:pPr>
            <a:r>
              <a:rPr lang="en-US" sz="900" dirty="0">
                <a:solidFill>
                  <a:srgbClr val="9AAFC4"/>
                </a:solidFill>
                <a:latin typeface="Courier New" pitchFamily="34" charset="0"/>
                <a:ea typeface="Courier New" pitchFamily="34" charset="-122"/>
                <a:cs typeface="Courier New" pitchFamily="34" charset="-120"/>
              </a:rPr>
              <a:t>~1.3 s</a:t>
            </a:r>
            <a:endParaRPr lang="en-US" sz="900" dirty="0"/>
          </a:p>
        </p:txBody>
      </p:sp>
      <p:sp>
        <p:nvSpPr>
          <p:cNvPr id="27" name="Shape 25"/>
          <p:cNvSpPr/>
          <p:nvPr/>
        </p:nvSpPr>
        <p:spPr>
          <a:xfrm>
            <a:off x="6629400" y="1618488"/>
            <a:ext cx="164592" cy="164592"/>
          </a:xfrm>
          <a:prstGeom prst="ellipse">
            <a:avLst/>
          </a:prstGeom>
          <a:solidFill>
            <a:srgbClr val="45C489"/>
          </a:solidFill>
          <a:ln/>
        </p:spPr>
      </p:sp>
      <p:sp>
        <p:nvSpPr>
          <p:cNvPr id="28" name="Text 26"/>
          <p:cNvSpPr/>
          <p:nvPr/>
        </p:nvSpPr>
        <p:spPr>
          <a:xfrm>
            <a:off x="6949440" y="1554480"/>
            <a:ext cx="4709160" cy="109728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Spans open around the real execution — </a:t>
            </a:r>
            <a:pPr indent="0" marL="0">
              <a:buNone/>
            </a:pPr>
            <a:r>
              <a:rPr lang="en-US" sz="1200" dirty="0">
                <a:solidFill>
                  <a:srgbClr val="9AAFC4"/>
                </a:solidFill>
                <a:latin typeface="Calibri" pitchFamily="34" charset="0"/>
                <a:ea typeface="Calibri" pitchFamily="34" charset="-122"/>
                <a:cs typeface="Calibri" pitchFamily="34" charset="-120"/>
              </a:rPr>
              <a:t>the ClickHouse client opens each span as the query actually runs — durations and the parallel overlap in the timeline are true, never replayed after the fact.</a:t>
            </a:r>
            <a:endParaRPr lang="en-US" sz="1200" dirty="0"/>
          </a:p>
        </p:txBody>
      </p:sp>
      <p:sp>
        <p:nvSpPr>
          <p:cNvPr id="29" name="Shape 27"/>
          <p:cNvSpPr/>
          <p:nvPr/>
        </p:nvSpPr>
        <p:spPr>
          <a:xfrm>
            <a:off x="6629400" y="2734056"/>
            <a:ext cx="164592" cy="164592"/>
          </a:xfrm>
          <a:prstGeom prst="ellipse">
            <a:avLst/>
          </a:prstGeom>
          <a:solidFill>
            <a:srgbClr val="45C489"/>
          </a:solidFill>
          <a:ln/>
        </p:spPr>
      </p:sp>
      <p:sp>
        <p:nvSpPr>
          <p:cNvPr id="30" name="Text 28"/>
          <p:cNvSpPr/>
          <p:nvPr/>
        </p:nvSpPr>
        <p:spPr>
          <a:xfrm>
            <a:off x="6949440" y="2670048"/>
            <a:ext cx="4709160" cy="109728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Every query logged verbatim — </a:t>
            </a:r>
            <a:pPr indent="0" marL="0">
              <a:buNone/>
            </a:pPr>
            <a:r>
              <a:rPr lang="en-US" sz="1200" dirty="0">
                <a:solidFill>
                  <a:srgbClr val="9AAFC4"/>
                </a:solidFill>
                <a:latin typeface="Calibri" pitchFamily="34" charset="0"/>
                <a:ea typeface="Calibri" pitchFamily="34" charset="-122"/>
                <a:cs typeface="Calibri" pitchFamily="34" charset="-120"/>
              </a:rPr>
              <a:t>including any raw ad_events fallback — never summarized or paraphrased. A judge can copy any span’s SQL and re-run it.</a:t>
            </a:r>
            <a:endParaRPr lang="en-US" sz="1200" dirty="0"/>
          </a:p>
        </p:txBody>
      </p:sp>
      <p:sp>
        <p:nvSpPr>
          <p:cNvPr id="31" name="Shape 29"/>
          <p:cNvSpPr/>
          <p:nvPr/>
        </p:nvSpPr>
        <p:spPr>
          <a:xfrm>
            <a:off x="6629400" y="3849624"/>
            <a:ext cx="164592" cy="164592"/>
          </a:xfrm>
          <a:prstGeom prst="ellipse">
            <a:avLst/>
          </a:prstGeom>
          <a:solidFill>
            <a:srgbClr val="45C489"/>
          </a:solidFill>
          <a:ln/>
        </p:spPr>
      </p:sp>
      <p:sp>
        <p:nvSpPr>
          <p:cNvPr id="32" name="Text 30"/>
          <p:cNvSpPr/>
          <p:nvPr/>
        </p:nvSpPr>
        <p:spPr>
          <a:xfrm>
            <a:off x="6949440" y="3785616"/>
            <a:ext cx="4709160" cy="109728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Chat gets its own root span — </a:t>
            </a:r>
            <a:pPr indent="0" marL="0">
              <a:buNone/>
            </a:pPr>
            <a:r>
              <a:rPr lang="en-US" sz="1200" dirty="0">
                <a:solidFill>
                  <a:srgbClr val="9AAFC4"/>
                </a:solidFill>
                <a:latin typeface="Calibri" pitchFamily="34" charset="0"/>
                <a:ea typeface="Calibri" pitchFamily="34" charset="-122"/>
                <a:cs typeface="Calibri" pitchFamily="34" charset="-120"/>
              </a:rPr>
              <a:t>a judge typing a follow-up question is the moment traceability is actually tested — so each chat turn is a complete trace, not an orphan.</a:t>
            </a:r>
            <a:endParaRPr lang="en-US" sz="1200" dirty="0"/>
          </a:p>
        </p:txBody>
      </p:sp>
      <p:sp>
        <p:nvSpPr>
          <p:cNvPr id="33" name="Shape 31"/>
          <p:cNvSpPr/>
          <p:nvPr/>
        </p:nvSpPr>
        <p:spPr>
          <a:xfrm>
            <a:off x="6629400" y="4965192"/>
            <a:ext cx="164592" cy="164592"/>
          </a:xfrm>
          <a:prstGeom prst="ellipse">
            <a:avLst/>
          </a:prstGeom>
          <a:solidFill>
            <a:srgbClr val="45C489"/>
          </a:solidFill>
          <a:ln/>
        </p:spPr>
      </p:sp>
      <p:sp>
        <p:nvSpPr>
          <p:cNvPr id="34" name="Text 32"/>
          <p:cNvSpPr/>
          <p:nvPr/>
        </p:nvSpPr>
        <p:spPr>
          <a:xfrm>
            <a:off x="6949440" y="4901184"/>
            <a:ext cx="4709160" cy="109728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Flush before every exit — </a:t>
            </a:r>
            <a:pPr indent="0" marL="0">
              <a:buNone/>
            </a:pPr>
            <a:r>
              <a:rPr lang="en-US" sz="1200" dirty="0">
                <a:solidFill>
                  <a:srgbClr val="9AAFC4"/>
                </a:solidFill>
                <a:latin typeface="Calibri" pitchFamily="34" charset="0"/>
                <a:ea typeface="Calibri" pitchFamily="34" charset="-122"/>
                <a:cs typeface="Calibri" pitchFamily="34" charset="-120"/>
              </a:rPr>
              <a:t>Langfuse buffers in the background; we flush on shutdown, and every scanner tick — short-lived runs export everything.</a:t>
            </a:r>
            <a:endParaRPr lang="en-US" sz="1200" dirty="0"/>
          </a:p>
        </p:txBody>
      </p:sp>
      <p:sp>
        <p:nvSpPr>
          <p:cNvPr id="35" name="Text 33"/>
          <p:cNvSpPr/>
          <p:nvPr/>
        </p:nvSpPr>
        <p:spPr>
          <a:xfrm>
            <a:off x="548640" y="6126480"/>
            <a:ext cx="11064240" cy="502920"/>
          </a:xfrm>
          <a:prstGeom prst="rect">
            <a:avLst/>
          </a:prstGeom>
          <a:noFill/>
          <a:ln/>
        </p:spPr>
        <p:txBody>
          <a:bodyPr wrap="square" lIns="0" tIns="0" rIns="0" bIns="0" rtlCol="0" anchor="ctr"/>
          <a:lstStyle/>
          <a:p>
            <a:pPr indent="0" marL="0">
              <a:buNone/>
            </a:pPr>
            <a:r>
              <a:rPr lang="en-US" sz="1250" i="1" dirty="0">
                <a:solidFill>
                  <a:srgbClr val="9AAFC4"/>
                </a:solidFill>
                <a:latin typeface="Calibri" pitchFamily="34" charset="0"/>
                <a:ea typeface="Calibri" pitchFamily="34" charset="-122"/>
                <a:cs typeface="Calibri" pitchFamily="34" charset="-120"/>
              </a:rPr>
              <a:t>Langfuse is our “meaningful integration” — not a checkbox: it is how a judge audits what was checked, in what order, and why something was ruled out.</a:t>
            </a:r>
            <a:endParaRPr lang="en-US" sz="1250" dirty="0"/>
          </a:p>
        </p:txBody>
      </p:sp>
      <p:sp>
        <p:nvSpPr>
          <p:cNvPr id="37" name="Text 34"/>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F2A93B"/>
                </a:solidFill>
                <a:latin typeface="Calibri" pitchFamily="34" charset="0"/>
                <a:ea typeface="Calibri" pitchFamily="34" charset="-122"/>
                <a:cs typeface="Calibri" pitchFamily="34" charset="-120"/>
              </a:rPr>
              <a:t>THE UNSEEN INCIDENT</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Built for data we’d never seen — and it held</a:t>
            </a:r>
            <a:endParaRPr lang="en-US" sz="3000" dirty="0"/>
          </a:p>
        </p:txBody>
      </p:sp>
      <p:sp>
        <p:nvSpPr>
          <p:cNvPr id="4" name="Shape 2"/>
          <p:cNvSpPr/>
          <p:nvPr/>
        </p:nvSpPr>
        <p:spPr>
          <a:xfrm>
            <a:off x="548640" y="1508760"/>
            <a:ext cx="5577840" cy="4480560"/>
          </a:xfrm>
          <a:prstGeom prst="roundRect">
            <a:avLst>
              <a:gd name="adj" fmla="val 1429"/>
            </a:avLst>
          </a:prstGeom>
          <a:solidFill>
            <a:srgbClr val="18242F"/>
          </a:solidFill>
          <a:ln w="9525">
            <a:solidFill>
              <a:srgbClr val="2A3A4D"/>
            </a:solidFill>
            <a:prstDash val="solid"/>
          </a:ln>
        </p:spPr>
      </p:sp>
      <p:sp>
        <p:nvSpPr>
          <p:cNvPr id="5" name="Text 3"/>
          <p:cNvSpPr/>
          <p:nvPr/>
        </p:nvSpPr>
        <p:spPr>
          <a:xfrm>
            <a:off x="822960" y="1664208"/>
            <a:ext cx="5029200" cy="548640"/>
          </a:xfrm>
          <a:prstGeom prst="rect">
            <a:avLst/>
          </a:prstGeom>
          <a:noFill/>
          <a:ln/>
        </p:spPr>
        <p:txBody>
          <a:bodyPr wrap="square" lIns="0" tIns="0" rIns="0" bIns="0" rtlCol="0" anchor="ctr"/>
          <a:lstStyle/>
          <a:p>
            <a:pPr indent="0" marL="0">
              <a:buNone/>
            </a:pPr>
            <a:r>
              <a:rPr lang="en-US" sz="1500" b="1" dirty="0">
                <a:solidFill>
                  <a:srgbClr val="58A6E8"/>
                </a:solidFill>
                <a:latin typeface="Calibri" pitchFamily="34" charset="0"/>
                <a:ea typeface="Calibri" pitchFamily="34" charset="-122"/>
                <a:cs typeface="Calibri" pitchFamily="34" charset="-120"/>
              </a:rPr>
              <a:t>Loaded into an isolated database — deliberately</a:t>
            </a:r>
            <a:endParaRPr lang="en-US" sz="1500" dirty="0"/>
          </a:p>
        </p:txBody>
      </p:sp>
      <p:sp>
        <p:nvSpPr>
          <p:cNvPr id="6" name="Shape 4"/>
          <p:cNvSpPr/>
          <p:nvPr/>
        </p:nvSpPr>
        <p:spPr>
          <a:xfrm>
            <a:off x="822960" y="2331720"/>
            <a:ext cx="146304" cy="146304"/>
          </a:xfrm>
          <a:prstGeom prst="ellipse">
            <a:avLst/>
          </a:prstGeom>
          <a:solidFill>
            <a:srgbClr val="58A6E8"/>
          </a:solidFill>
          <a:ln/>
        </p:spPr>
      </p:sp>
      <p:sp>
        <p:nvSpPr>
          <p:cNvPr id="7" name="Text 5"/>
          <p:cNvSpPr/>
          <p:nvPr/>
        </p:nvSpPr>
        <p:spPr>
          <a:xfrm>
            <a:off x="1097280" y="2194560"/>
            <a:ext cx="4846320" cy="960120"/>
          </a:xfrm>
          <a:prstGeom prst="rect">
            <a:avLst/>
          </a:prstGeom>
          <a:noFill/>
          <a:ln/>
        </p:spPr>
        <p:txBody>
          <a:bodyPr wrap="square" lIns="0" tIns="0" rIns="0" bIns="0" rtlCol="0" anchor="ctr"/>
          <a:lstStyle/>
          <a:p>
            <a:pPr indent="0" marL="0">
              <a:buNone/>
            </a:pPr>
            <a:r>
              <a:rPr lang="en-US" sz="1080" b="1" dirty="0">
                <a:solidFill>
                  <a:srgbClr val="F2F6FA"/>
                </a:solidFill>
                <a:latin typeface="Calibri" pitchFamily="34" charset="0"/>
                <a:ea typeface="Calibri" pitchFamily="34" charset="-122"/>
                <a:cs typeface="Calibri" pitchFamily="34" charset="-120"/>
              </a:rPr>
              <a:t>1,500,000 events, Jul 6–10 — </a:t>
            </a:r>
            <a:pPr indent="0" marL="0">
              <a:buNone/>
            </a:pPr>
            <a:r>
              <a:rPr lang="en-US" sz="1080" dirty="0">
                <a:solidFill>
                  <a:srgbClr val="9AAFC4"/>
                </a:solidFill>
                <a:latin typeface="Calibri" pitchFamily="34" charset="0"/>
                <a:ea typeface="Calibri" pitchFamily="34" charset="-122"/>
                <a:cs typeface="Calibri" pitchFamily="34" charset="-120"/>
              </a:rPr>
              <a:t>loaded into unseen_data, every rollup reconciled against raw on all five measures.</a:t>
            </a:r>
            <a:endParaRPr lang="en-US" sz="1080" dirty="0"/>
          </a:p>
        </p:txBody>
      </p:sp>
      <p:sp>
        <p:nvSpPr>
          <p:cNvPr id="8" name="Shape 6"/>
          <p:cNvSpPr/>
          <p:nvPr/>
        </p:nvSpPr>
        <p:spPr>
          <a:xfrm>
            <a:off x="822960" y="3246120"/>
            <a:ext cx="146304" cy="146304"/>
          </a:xfrm>
          <a:prstGeom prst="ellipse">
            <a:avLst/>
          </a:prstGeom>
          <a:solidFill>
            <a:srgbClr val="58A6E8"/>
          </a:solidFill>
          <a:ln/>
        </p:spPr>
      </p:sp>
      <p:sp>
        <p:nvSpPr>
          <p:cNvPr id="9" name="Text 7"/>
          <p:cNvSpPr/>
          <p:nvPr/>
        </p:nvSpPr>
        <p:spPr>
          <a:xfrm>
            <a:off x="1097280" y="3108960"/>
            <a:ext cx="4846320" cy="960120"/>
          </a:xfrm>
          <a:prstGeom prst="rect">
            <a:avLst/>
          </a:prstGeom>
          <a:noFill/>
          <a:ln/>
        </p:spPr>
        <p:txBody>
          <a:bodyPr wrap="square" lIns="0" tIns="0" rIns="0" bIns="0" rtlCol="0" anchor="ctr"/>
          <a:lstStyle/>
          <a:p>
            <a:pPr indent="0" marL="0">
              <a:buNone/>
            </a:pPr>
            <a:r>
              <a:rPr lang="en-US" sz="1080" b="1" dirty="0">
                <a:solidFill>
                  <a:srgbClr val="F2F6FA"/>
                </a:solidFill>
                <a:latin typeface="Calibri" pitchFamily="34" charset="0"/>
                <a:ea typeface="Calibri" pitchFamily="34" charset="-122"/>
                <a:cs typeface="Calibri" pitchFamily="34" charset="-120"/>
              </a:rPr>
              <a:t>The trap we didn’t step in — </a:t>
            </a:r>
            <a:pPr indent="0" marL="0">
              <a:buNone/>
            </a:pPr>
            <a:r>
              <a:rPr lang="en-US" sz="1080" dirty="0">
                <a:solidFill>
                  <a:srgbClr val="9AAFC4"/>
                </a:solidFill>
                <a:latin typeface="Calibri" pitchFamily="34" charset="0"/>
                <a:ea typeface="Calibri" pitchFamily="34" charset="-122"/>
                <a:cs typeface="Calibri" pitchFamily="34" charset="-120"/>
              </a:rPr>
              <a:t>the unseen files reuse every ID with different attributes (~7% of apps agree). Our dimension tables upsert by ID — loading into main would have silently relabelled all 9M historical facts, with no error.</a:t>
            </a:r>
            <a:endParaRPr lang="en-US" sz="1080" dirty="0"/>
          </a:p>
        </p:txBody>
      </p:sp>
      <p:sp>
        <p:nvSpPr>
          <p:cNvPr id="10" name="Shape 8"/>
          <p:cNvSpPr/>
          <p:nvPr/>
        </p:nvSpPr>
        <p:spPr>
          <a:xfrm>
            <a:off x="822960" y="4160520"/>
            <a:ext cx="146304" cy="146304"/>
          </a:xfrm>
          <a:prstGeom prst="ellipse">
            <a:avLst/>
          </a:prstGeom>
          <a:solidFill>
            <a:srgbClr val="58A6E8"/>
          </a:solidFill>
          <a:ln/>
        </p:spPr>
      </p:sp>
      <p:sp>
        <p:nvSpPr>
          <p:cNvPr id="11" name="Text 9"/>
          <p:cNvSpPr/>
          <p:nvPr/>
        </p:nvSpPr>
        <p:spPr>
          <a:xfrm>
            <a:off x="1097280" y="4023360"/>
            <a:ext cx="4846320" cy="960120"/>
          </a:xfrm>
          <a:prstGeom prst="rect">
            <a:avLst/>
          </a:prstGeom>
          <a:noFill/>
          <a:ln/>
        </p:spPr>
        <p:txBody>
          <a:bodyPr wrap="square" lIns="0" tIns="0" rIns="0" bIns="0" rtlCol="0" anchor="ctr"/>
          <a:lstStyle/>
          <a:p>
            <a:pPr indent="0" marL="0">
              <a:buNone/>
            </a:pPr>
            <a:r>
              <a:rPr lang="en-US" sz="1080" b="1" dirty="0">
                <a:solidFill>
                  <a:srgbClr val="F2F6FA"/>
                </a:solidFill>
                <a:latin typeface="Calibri" pitchFamily="34" charset="0"/>
                <a:ea typeface="Calibri" pitchFamily="34" charset="-122"/>
                <a:cs typeface="Calibri" pitchFamily="34" charset="-120"/>
              </a:rPr>
              <a:t>Isolation proven, not assumed — </a:t>
            </a:r>
            <a:pPr indent="0" marL="0">
              <a:buNone/>
            </a:pPr>
            <a:r>
              <a:rPr lang="en-US" sz="1080" dirty="0">
                <a:solidFill>
                  <a:srgbClr val="9AAFC4"/>
                </a:solidFill>
                <a:latin typeface="Calibri" pitchFamily="34" charset="0"/>
                <a:ea typeface="Calibri" pitchFamily="34" charset="-122"/>
                <a:cs typeface="Calibri" pitchFamily="34" charset="-120"/>
              </a:rPr>
              <a:t>the same app_id reads news/tier_2 in unseen_data and ecommerce/tier_3 in main — untouched.</a:t>
            </a:r>
            <a:endParaRPr lang="en-US" sz="1080" dirty="0"/>
          </a:p>
        </p:txBody>
      </p:sp>
      <p:sp>
        <p:nvSpPr>
          <p:cNvPr id="12" name="Shape 10"/>
          <p:cNvSpPr/>
          <p:nvPr/>
        </p:nvSpPr>
        <p:spPr>
          <a:xfrm>
            <a:off x="822960" y="5074920"/>
            <a:ext cx="146304" cy="146304"/>
          </a:xfrm>
          <a:prstGeom prst="ellipse">
            <a:avLst/>
          </a:prstGeom>
          <a:solidFill>
            <a:srgbClr val="58A6E8"/>
          </a:solidFill>
          <a:ln/>
        </p:spPr>
      </p:sp>
      <p:sp>
        <p:nvSpPr>
          <p:cNvPr id="13" name="Text 11"/>
          <p:cNvSpPr/>
          <p:nvPr/>
        </p:nvSpPr>
        <p:spPr>
          <a:xfrm>
            <a:off x="1097280" y="4937760"/>
            <a:ext cx="4846320" cy="960120"/>
          </a:xfrm>
          <a:prstGeom prst="rect">
            <a:avLst/>
          </a:prstGeom>
          <a:noFill/>
          <a:ln/>
        </p:spPr>
        <p:txBody>
          <a:bodyPr wrap="square" lIns="0" tIns="0" rIns="0" bIns="0" rtlCol="0" anchor="ctr"/>
          <a:lstStyle/>
          <a:p>
            <a:pPr indent="0" marL="0">
              <a:buNone/>
            </a:pPr>
            <a:r>
              <a:rPr lang="en-US" sz="1080" b="1" dirty="0">
                <a:solidFill>
                  <a:srgbClr val="F2F6FA"/>
                </a:solidFill>
                <a:latin typeface="Calibri" pitchFamily="34" charset="0"/>
                <a:ea typeface="Calibri" pitchFamily="34" charset="-122"/>
                <a:cs typeface="Calibri" pitchFamily="34" charset="-120"/>
              </a:rPr>
              <a:t>Nothing hardcoded — </a:t>
            </a:r>
            <a:pPr indent="0" marL="0">
              <a:buNone/>
            </a:pPr>
            <a:r>
              <a:rPr lang="en-US" sz="1080" dirty="0">
                <a:solidFill>
                  <a:srgbClr val="9AAFC4"/>
                </a:solidFill>
                <a:latin typeface="Calibri" pitchFamily="34" charset="0"/>
                <a:ea typeface="Calibri" pitchFamily="34" charset="-122"/>
                <a:cs typeface="Calibri" pitchFamily="34" charset="-120"/>
              </a:rPr>
              <a:t>a dataset registry (engine/datasets.py) repoints the entire system — no SQL in the repo names a database. Same engine, same thresholds, zero code changes.</a:t>
            </a:r>
            <a:endParaRPr lang="en-US" sz="1080" dirty="0"/>
          </a:p>
        </p:txBody>
      </p:sp>
      <p:sp>
        <p:nvSpPr>
          <p:cNvPr id="14" name="Shape 12"/>
          <p:cNvSpPr/>
          <p:nvPr/>
        </p:nvSpPr>
        <p:spPr>
          <a:xfrm>
            <a:off x="6355080" y="1508760"/>
            <a:ext cx="5257800" cy="4480560"/>
          </a:xfrm>
          <a:prstGeom prst="roundRect">
            <a:avLst>
              <a:gd name="adj" fmla="val 1429"/>
            </a:avLst>
          </a:prstGeom>
          <a:solidFill>
            <a:srgbClr val="18242F"/>
          </a:solidFill>
          <a:ln w="9525">
            <a:solidFill>
              <a:srgbClr val="F2A93B"/>
            </a:solidFill>
            <a:prstDash val="solid"/>
          </a:ln>
        </p:spPr>
      </p:sp>
      <p:sp>
        <p:nvSpPr>
          <p:cNvPr id="15" name="Text 13"/>
          <p:cNvSpPr/>
          <p:nvPr/>
        </p:nvSpPr>
        <p:spPr>
          <a:xfrm>
            <a:off x="6629400" y="1664208"/>
            <a:ext cx="4754880" cy="365760"/>
          </a:xfrm>
          <a:prstGeom prst="rect">
            <a:avLst/>
          </a:prstGeom>
          <a:noFill/>
          <a:ln/>
        </p:spPr>
        <p:txBody>
          <a:bodyPr wrap="square" lIns="0" tIns="0" rIns="0" bIns="0" rtlCol="0" anchor="ctr"/>
          <a:lstStyle/>
          <a:p>
            <a:pPr indent="0" marL="0">
              <a:buNone/>
            </a:pPr>
            <a:r>
              <a:rPr lang="en-US" sz="1500" b="1" dirty="0">
                <a:solidFill>
                  <a:srgbClr val="F2A93B"/>
                </a:solidFill>
                <a:latin typeface="Calibri" pitchFamily="34" charset="0"/>
                <a:ea typeface="Calibri" pitchFamily="34" charset="-122"/>
                <a:cs typeface="Calibri" pitchFamily="34" charset="-120"/>
              </a:rPr>
              <a:t>The planted incident, confirmed by query</a:t>
            </a:r>
            <a:endParaRPr lang="en-US" sz="1500" dirty="0"/>
          </a:p>
        </p:txBody>
      </p:sp>
      <p:sp>
        <p:nvSpPr>
          <p:cNvPr id="16" name="Text 14"/>
          <p:cNvSpPr/>
          <p:nvPr/>
        </p:nvSpPr>
        <p:spPr>
          <a:xfrm>
            <a:off x="6629400" y="2148840"/>
            <a:ext cx="4754880" cy="502920"/>
          </a:xfrm>
          <a:prstGeom prst="rect">
            <a:avLst/>
          </a:prstGeom>
          <a:noFill/>
          <a:ln/>
        </p:spPr>
        <p:txBody>
          <a:bodyPr wrap="square" lIns="0" tIns="0" rIns="0" bIns="0" rtlCol="0" anchor="ctr"/>
          <a:lstStyle/>
          <a:p>
            <a:pPr indent="0" marL="0">
              <a:buNone/>
            </a:pPr>
            <a:r>
              <a:rPr lang="en-US" sz="2200" b="1" dirty="0">
                <a:solidFill>
                  <a:srgbClr val="E25B5B"/>
                </a:solidFill>
                <a:latin typeface="Courier New" pitchFamily="34" charset="0"/>
                <a:ea typeface="Courier New" pitchFamily="34" charset="-122"/>
                <a:cs typeface="Courier New" pitchFamily="34" charset="-120"/>
              </a:rPr>
              <a:t>fill rate  0.794 → 0.731</a:t>
            </a:r>
            <a:pPr indent="0" marL="0">
              <a:buNone/>
            </a:pPr>
            <a:r>
              <a:rPr lang="en-US" sz="1200" dirty="0">
                <a:solidFill>
                  <a:srgbClr val="9AAFC4"/>
                </a:solidFill>
                <a:latin typeface="Calibri" pitchFamily="34" charset="0"/>
                <a:ea typeface="Calibri" pitchFamily="34" charset="-122"/>
                <a:cs typeface="Calibri" pitchFamily="34" charset="-120"/>
              </a:rPr>
              <a:t>   Jul 8–9, recovers Jul 10</a:t>
            </a:r>
            <a:endParaRPr lang="en-US" sz="2200" dirty="0"/>
          </a:p>
        </p:txBody>
      </p:sp>
      <p:sp>
        <p:nvSpPr>
          <p:cNvPr id="17" name="Text 15"/>
          <p:cNvSpPr/>
          <p:nvPr/>
        </p:nvSpPr>
        <p:spPr>
          <a:xfrm>
            <a:off x="6629400" y="2880360"/>
            <a:ext cx="2286000" cy="457200"/>
          </a:xfrm>
          <a:prstGeom prst="rect">
            <a:avLst/>
          </a:prstGeom>
          <a:noFill/>
          <a:ln/>
        </p:spPr>
        <p:txBody>
          <a:bodyPr wrap="square" lIns="0" tIns="0" rIns="0" bIns="0" rtlCol="0" anchor="ctr"/>
          <a:lstStyle/>
          <a:p>
            <a:pPr indent="0" marL="0">
              <a:buNone/>
            </a:pPr>
            <a:r>
              <a:rPr lang="en-US" sz="1150" b="1" dirty="0">
                <a:solidFill>
                  <a:srgbClr val="F2F6FA"/>
                </a:solidFill>
                <a:latin typeface="Calibri" pitchFamily="34" charset="0"/>
                <a:ea typeface="Calibri" pitchFamily="34" charset="-122"/>
                <a:cs typeface="Calibri" pitchFamily="34" charset="-120"/>
              </a:rPr>
              <a:t>APAC</a:t>
            </a:r>
            <a:endParaRPr lang="en-US" sz="1150" dirty="0"/>
          </a:p>
        </p:txBody>
      </p:sp>
      <p:sp>
        <p:nvSpPr>
          <p:cNvPr id="18" name="Shape 16"/>
          <p:cNvSpPr/>
          <p:nvPr/>
        </p:nvSpPr>
        <p:spPr>
          <a:xfrm>
            <a:off x="9098280" y="2944368"/>
            <a:ext cx="2194560" cy="329184"/>
          </a:xfrm>
          <a:prstGeom prst="roundRect">
            <a:avLst>
              <a:gd name="adj" fmla="val 11111"/>
            </a:avLst>
          </a:prstGeom>
          <a:solidFill>
            <a:srgbClr val="E25B5B">
              <a:alpha val="45000"/>
            </a:srgbClr>
          </a:solidFill>
          <a:ln w="12700">
            <a:solidFill>
              <a:srgbClr val="E25B5B"/>
            </a:solidFill>
            <a:prstDash val="solid"/>
          </a:ln>
        </p:spPr>
      </p:sp>
      <p:sp>
        <p:nvSpPr>
          <p:cNvPr id="19" name="Text 17"/>
          <p:cNvSpPr/>
          <p:nvPr/>
        </p:nvSpPr>
        <p:spPr>
          <a:xfrm>
            <a:off x="8915400" y="2880360"/>
            <a:ext cx="1463040" cy="457200"/>
          </a:xfrm>
          <a:prstGeom prst="rect">
            <a:avLst/>
          </a:prstGeom>
          <a:noFill/>
          <a:ln/>
        </p:spPr>
        <p:txBody>
          <a:bodyPr wrap="square" lIns="0" tIns="0" rIns="0" bIns="0" rtlCol="0" anchor="ctr"/>
          <a:lstStyle/>
          <a:p>
            <a:pPr algn="r" indent="0" marL="0">
              <a:buNone/>
            </a:pPr>
            <a:r>
              <a:rPr lang="en-US" sz="1150" b="1" dirty="0">
                <a:solidFill>
                  <a:srgbClr val="E25B5B"/>
                </a:solidFill>
                <a:latin typeface="Courier New" pitchFamily="34" charset="0"/>
                <a:ea typeface="Courier New" pitchFamily="34" charset="-122"/>
                <a:cs typeface="Courier New" pitchFamily="34" charset="-120"/>
              </a:rPr>
              <a:t>-11.5pp</a:t>
            </a:r>
            <a:endParaRPr lang="en-US" sz="1150" dirty="0"/>
          </a:p>
        </p:txBody>
      </p:sp>
      <p:sp>
        <p:nvSpPr>
          <p:cNvPr id="20" name="Text 18"/>
          <p:cNvSpPr/>
          <p:nvPr/>
        </p:nvSpPr>
        <p:spPr>
          <a:xfrm>
            <a:off x="6629400" y="3538728"/>
            <a:ext cx="2286000" cy="457200"/>
          </a:xfrm>
          <a:prstGeom prst="rect">
            <a:avLst/>
          </a:prstGeom>
          <a:noFill/>
          <a:ln/>
        </p:spPr>
        <p:txBody>
          <a:bodyPr wrap="square" lIns="0" tIns="0" rIns="0" bIns="0" rtlCol="0" anchor="ctr"/>
          <a:lstStyle/>
          <a:p>
            <a:pPr indent="0" marL="0">
              <a:buNone/>
            </a:pPr>
            <a:r>
              <a:rPr lang="en-US" sz="1150" b="1" dirty="0">
                <a:solidFill>
                  <a:srgbClr val="F2F6FA"/>
                </a:solidFill>
                <a:latin typeface="Calibri" pitchFamily="34" charset="0"/>
                <a:ea typeface="Calibri" pitchFamily="34" charset="-122"/>
                <a:cs typeface="Calibri" pitchFamily="34" charset="-120"/>
              </a:rPr>
              <a:t>MEA / NAM / LATAM / EU</a:t>
            </a:r>
            <a:endParaRPr lang="en-US" sz="1150" dirty="0"/>
          </a:p>
        </p:txBody>
      </p:sp>
      <p:sp>
        <p:nvSpPr>
          <p:cNvPr id="21" name="Shape 19"/>
          <p:cNvSpPr/>
          <p:nvPr/>
        </p:nvSpPr>
        <p:spPr>
          <a:xfrm>
            <a:off x="10682180" y="3602736"/>
            <a:ext cx="610660" cy="329184"/>
          </a:xfrm>
          <a:prstGeom prst="roundRect">
            <a:avLst>
              <a:gd name="adj" fmla="val 11111"/>
            </a:avLst>
          </a:prstGeom>
          <a:solidFill>
            <a:srgbClr val="9AAFC4">
              <a:alpha val="45000"/>
            </a:srgbClr>
          </a:solidFill>
          <a:ln w="12700">
            <a:solidFill>
              <a:srgbClr val="9AAFC4"/>
            </a:solidFill>
            <a:prstDash val="solid"/>
          </a:ln>
        </p:spPr>
      </p:sp>
      <p:sp>
        <p:nvSpPr>
          <p:cNvPr id="22" name="Text 20"/>
          <p:cNvSpPr/>
          <p:nvPr/>
        </p:nvSpPr>
        <p:spPr>
          <a:xfrm>
            <a:off x="8915400" y="3538728"/>
            <a:ext cx="1463040" cy="457200"/>
          </a:xfrm>
          <a:prstGeom prst="rect">
            <a:avLst/>
          </a:prstGeom>
          <a:noFill/>
          <a:ln/>
        </p:spPr>
        <p:txBody>
          <a:bodyPr wrap="square" lIns="0" tIns="0" rIns="0" bIns="0" rtlCol="0" anchor="ctr"/>
          <a:lstStyle/>
          <a:p>
            <a:pPr algn="r" indent="0" marL="0">
              <a:buNone/>
            </a:pPr>
            <a:r>
              <a:rPr lang="en-US" sz="1150" b="1" dirty="0">
                <a:solidFill>
                  <a:srgbClr val="9AAFC4"/>
                </a:solidFill>
                <a:latin typeface="Courier New" pitchFamily="34" charset="0"/>
                <a:ea typeface="Courier New" pitchFamily="34" charset="-122"/>
                <a:cs typeface="Courier New" pitchFamily="34" charset="-120"/>
              </a:rPr>
              <a:t>−2.4 to −4.0pp</a:t>
            </a:r>
            <a:endParaRPr lang="en-US" sz="1150" dirty="0"/>
          </a:p>
        </p:txBody>
      </p:sp>
      <p:sp>
        <p:nvSpPr>
          <p:cNvPr id="23" name="Text 21"/>
          <p:cNvSpPr/>
          <p:nvPr/>
        </p:nvSpPr>
        <p:spPr>
          <a:xfrm>
            <a:off x="6629400" y="4343400"/>
            <a:ext cx="4754880" cy="1005840"/>
          </a:xfrm>
          <a:prstGeom prst="rect">
            <a:avLst/>
          </a:prstGeom>
          <a:noFill/>
          <a:ln/>
        </p:spPr>
        <p:txBody>
          <a:bodyPr wrap="square" lIns="0" tIns="0" rIns="0" bIns="0" rtlCol="0" anchor="ctr"/>
          <a:lstStyle/>
          <a:p>
            <a:pPr indent="0" marL="0">
              <a:buNone/>
            </a:pPr>
            <a:r>
              <a:rPr lang="en-US" sz="1150" b="1" dirty="0">
                <a:solidFill>
                  <a:srgbClr val="F2F6FA"/>
                </a:solidFill>
                <a:latin typeface="Calibri" pitchFamily="34" charset="0"/>
                <a:ea typeface="Calibri" pitchFamily="34" charset="-122"/>
                <a:cs typeface="Calibri" pitchFamily="34" charset="-120"/>
              </a:rPr>
              <a:t>Flat by ad format — all five formats lose alike. </a:t>
            </a:r>
            <a:pPr indent="0" marL="0">
              <a:buNone/>
            </a:pPr>
            <a:r>
              <a:rPr lang="en-US" sz="1150" dirty="0">
                <a:solidFill>
                  <a:srgbClr val="9AAFC4"/>
                </a:solidFill>
                <a:latin typeface="Calibri" pitchFamily="34" charset="0"/>
                <a:ea typeface="Calibri" pitchFamily="34" charset="-122"/>
                <a:cs typeface="Calibri" pitchFamily="34" charset="-120"/>
              </a:rPr>
              <a:t>That uniformity is precisely what makes region, not format, the localizing dimension — the same attribution rule the engine applies everywhere.</a:t>
            </a:r>
            <a:endParaRPr lang="en-US" sz="1150" dirty="0"/>
          </a:p>
        </p:txBody>
      </p:sp>
      <p:sp>
        <p:nvSpPr>
          <p:cNvPr id="24" name="Text 22"/>
          <p:cNvSpPr/>
          <p:nvPr/>
        </p:nvSpPr>
        <p:spPr>
          <a:xfrm>
            <a:off x="548640" y="6126480"/>
            <a:ext cx="11064240" cy="548640"/>
          </a:xfrm>
          <a:prstGeom prst="rect">
            <a:avLst/>
          </a:prstGeom>
          <a:noFill/>
          <a:ln/>
        </p:spPr>
        <p:txBody>
          <a:bodyPr wrap="square" lIns="0" tIns="0" rIns="0" bIns="0" rtlCol="0" anchor="ctr"/>
          <a:lstStyle/>
          <a:p>
            <a:pPr indent="0" marL="0">
              <a:buNone/>
            </a:pPr>
            <a:r>
              <a:rPr lang="en-US" sz="1200" i="1" dirty="0">
                <a:solidFill>
                  <a:srgbClr val="9AAFC4"/>
                </a:solidFill>
                <a:latin typeface="Calibri" pitchFamily="34" charset="0"/>
                <a:ea typeface="Calibri" pitchFamily="34" charset="-122"/>
                <a:cs typeface="Calibri" pitchFamily="34" charset="-120"/>
              </a:rPr>
              <a:t>5 days of history is less than one 28-day baseline window — exactly the regime our incomplete-window guard exists for. The system says “insufficient history” instead of hallucinating collapses.</a:t>
            </a:r>
            <a:endParaRPr lang="en-US" sz="1200" dirty="0"/>
          </a:p>
        </p:txBody>
      </p:sp>
      <p:sp>
        <p:nvSpPr>
          <p:cNvPr id="26" name="Text 23"/>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F2A93B"/>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Five beats, four minutes</a:t>
            </a:r>
            <a:endParaRPr lang="en-US" sz="3000" dirty="0"/>
          </a:p>
        </p:txBody>
      </p:sp>
      <p:sp>
        <p:nvSpPr>
          <p:cNvPr id="4" name="Shape 2"/>
          <p:cNvSpPr/>
          <p:nvPr/>
        </p:nvSpPr>
        <p:spPr>
          <a:xfrm>
            <a:off x="548640" y="1554480"/>
            <a:ext cx="11064240" cy="804672"/>
          </a:xfrm>
          <a:prstGeom prst="roundRect">
            <a:avLst>
              <a:gd name="adj" fmla="val 7955"/>
            </a:avLst>
          </a:prstGeom>
          <a:solidFill>
            <a:srgbClr val="18242F"/>
          </a:solidFill>
          <a:ln w="9525">
            <a:solidFill>
              <a:srgbClr val="2A3A4D"/>
            </a:solidFill>
            <a:prstDash val="solid"/>
          </a:ln>
        </p:spPr>
      </p:sp>
      <p:sp>
        <p:nvSpPr>
          <p:cNvPr id="5" name="Shape 3"/>
          <p:cNvSpPr/>
          <p:nvPr/>
        </p:nvSpPr>
        <p:spPr>
          <a:xfrm>
            <a:off x="777240" y="1746504"/>
            <a:ext cx="420624" cy="420624"/>
          </a:xfrm>
          <a:prstGeom prst="ellipse">
            <a:avLst/>
          </a:prstGeom>
          <a:solidFill>
            <a:srgbClr val="F2A93B"/>
          </a:solidFill>
          <a:ln/>
        </p:spPr>
      </p:sp>
      <p:sp>
        <p:nvSpPr>
          <p:cNvPr id="6" name="Text 4"/>
          <p:cNvSpPr/>
          <p:nvPr/>
        </p:nvSpPr>
        <p:spPr>
          <a:xfrm>
            <a:off x="685800" y="1728216"/>
            <a:ext cx="603504" cy="420624"/>
          </a:xfrm>
          <a:prstGeom prst="rect">
            <a:avLst/>
          </a:prstGeom>
          <a:noFill/>
          <a:ln/>
        </p:spPr>
        <p:txBody>
          <a:bodyPr wrap="square" lIns="0" tIns="0" rIns="0" bIns="0" rtlCol="0" anchor="ctr"/>
          <a:lstStyle/>
          <a:p>
            <a:pPr algn="ctr" indent="0" marL="0">
              <a:buNone/>
            </a:pPr>
            <a:r>
              <a:rPr lang="en-US" sz="1500" b="1" dirty="0">
                <a:solidFill>
                  <a:srgbClr val="0F1722"/>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17320" y="1600200"/>
            <a:ext cx="10058400" cy="713232"/>
          </a:xfrm>
          <a:prstGeom prst="rect">
            <a:avLst/>
          </a:prstGeom>
          <a:noFill/>
          <a:ln/>
        </p:spPr>
        <p:txBody>
          <a:bodyPr wrap="square" lIns="0" tIns="0" rIns="0" bIns="0" rtlCol="0" anchor="ctr"/>
          <a:lstStyle/>
          <a:p>
            <a:pPr indent="0" marL="0">
              <a:buNone/>
            </a:pPr>
            <a:r>
              <a:rPr lang="en-US" sz="1500" b="1" dirty="0">
                <a:solidFill>
                  <a:srgbClr val="F2F6FA"/>
                </a:solidFill>
                <a:latin typeface="Calibri" pitchFamily="34" charset="0"/>
                <a:ea typeface="Calibri" pitchFamily="34" charset="-122"/>
                <a:cs typeface="Calibri" pitchFamily="34" charset="-120"/>
              </a:rPr>
              <a:t>Ops home   </a:t>
            </a:r>
            <a:pPr indent="0" marL="0">
              <a:buNone/>
            </a:pPr>
            <a:r>
              <a:rPr lang="en-US" sz="1200" dirty="0">
                <a:solidFill>
                  <a:srgbClr val="9AAFC4"/>
                </a:solidFill>
                <a:latin typeface="Calibri" pitchFamily="34" charset="0"/>
                <a:ea typeface="Calibri" pitchFamily="34" charset="-122"/>
                <a:cs typeface="Calibri" pitchFamily="34" charset="-120"/>
              </a:rPr>
              <a:t>the incident queue — 7 alertable out of thousands of breaches, suppression counts shown, nothing hidden</a:t>
            </a:r>
            <a:endParaRPr lang="en-US" sz="1500" dirty="0"/>
          </a:p>
        </p:txBody>
      </p:sp>
      <p:sp>
        <p:nvSpPr>
          <p:cNvPr id="8" name="Shape 6"/>
          <p:cNvSpPr/>
          <p:nvPr/>
        </p:nvSpPr>
        <p:spPr>
          <a:xfrm>
            <a:off x="548640" y="2487168"/>
            <a:ext cx="11064240" cy="804672"/>
          </a:xfrm>
          <a:prstGeom prst="roundRect">
            <a:avLst>
              <a:gd name="adj" fmla="val 7955"/>
            </a:avLst>
          </a:prstGeom>
          <a:solidFill>
            <a:srgbClr val="18242F"/>
          </a:solidFill>
          <a:ln w="9525">
            <a:solidFill>
              <a:srgbClr val="2A3A4D"/>
            </a:solidFill>
            <a:prstDash val="solid"/>
          </a:ln>
        </p:spPr>
      </p:sp>
      <p:sp>
        <p:nvSpPr>
          <p:cNvPr id="9" name="Shape 7"/>
          <p:cNvSpPr/>
          <p:nvPr/>
        </p:nvSpPr>
        <p:spPr>
          <a:xfrm>
            <a:off x="777240" y="2679192"/>
            <a:ext cx="420624" cy="420624"/>
          </a:xfrm>
          <a:prstGeom prst="ellipse">
            <a:avLst/>
          </a:prstGeom>
          <a:solidFill>
            <a:srgbClr val="E25B5B"/>
          </a:solidFill>
          <a:ln/>
        </p:spPr>
      </p:sp>
      <p:sp>
        <p:nvSpPr>
          <p:cNvPr id="10" name="Text 8"/>
          <p:cNvSpPr/>
          <p:nvPr/>
        </p:nvSpPr>
        <p:spPr>
          <a:xfrm>
            <a:off x="685800" y="2660904"/>
            <a:ext cx="603504" cy="420624"/>
          </a:xfrm>
          <a:prstGeom prst="rect">
            <a:avLst/>
          </a:prstGeom>
          <a:noFill/>
          <a:ln/>
        </p:spPr>
        <p:txBody>
          <a:bodyPr wrap="square" lIns="0" tIns="0" rIns="0" bIns="0" rtlCol="0" anchor="ctr"/>
          <a:lstStyle/>
          <a:p>
            <a:pPr algn="ctr" indent="0" marL="0">
              <a:buNone/>
            </a:pPr>
            <a:r>
              <a:rPr lang="en-US" sz="1500" b="1" dirty="0">
                <a:solidFill>
                  <a:srgbClr val="0F1722"/>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417320" y="2532888"/>
            <a:ext cx="10058400" cy="713232"/>
          </a:xfrm>
          <a:prstGeom prst="rect">
            <a:avLst/>
          </a:prstGeom>
          <a:noFill/>
          <a:ln/>
        </p:spPr>
        <p:txBody>
          <a:bodyPr wrap="square" lIns="0" tIns="0" rIns="0" bIns="0" rtlCol="0" anchor="ctr"/>
          <a:lstStyle/>
          <a:p>
            <a:pPr indent="0" marL="0">
              <a:buNone/>
            </a:pPr>
            <a:r>
              <a:rPr lang="en-US" sz="1500" b="1" dirty="0">
                <a:solidFill>
                  <a:srgbClr val="F2F6FA"/>
                </a:solidFill>
                <a:latin typeface="Calibri" pitchFamily="34" charset="0"/>
                <a:ea typeface="Calibri" pitchFamily="34" charset="-122"/>
                <a:cs typeface="Calibri" pitchFamily="34" charset="-120"/>
              </a:rPr>
              <a:t>INC-0623, the diagnosis   </a:t>
            </a:r>
            <a:pPr indent="0" marL="0">
              <a:buNone/>
            </a:pPr>
            <a:r>
              <a:rPr lang="en-US" sz="1200" dirty="0">
                <a:solidFill>
                  <a:srgbClr val="9AAFC4"/>
                </a:solidFill>
                <a:latin typeface="Calibri" pitchFamily="34" charset="0"/>
                <a:ea typeface="Calibri" pitchFamily="34" charset="-122"/>
                <a:cs typeface="Calibri" pitchFamily="34" charset="-120"/>
              </a:rPr>
              <a:t>band chart, revenue waterfall, impact in $/day, the ruled-out list with numbers, the causal chain, the evidence score with its published formula</a:t>
            </a:r>
            <a:endParaRPr lang="en-US" sz="1500" dirty="0"/>
          </a:p>
        </p:txBody>
      </p:sp>
      <p:sp>
        <p:nvSpPr>
          <p:cNvPr id="12" name="Shape 10"/>
          <p:cNvSpPr/>
          <p:nvPr/>
        </p:nvSpPr>
        <p:spPr>
          <a:xfrm>
            <a:off x="548640" y="3419856"/>
            <a:ext cx="11064240" cy="804672"/>
          </a:xfrm>
          <a:prstGeom prst="roundRect">
            <a:avLst>
              <a:gd name="adj" fmla="val 7955"/>
            </a:avLst>
          </a:prstGeom>
          <a:solidFill>
            <a:srgbClr val="18242F"/>
          </a:solidFill>
          <a:ln w="9525">
            <a:solidFill>
              <a:srgbClr val="2A3A4D"/>
            </a:solidFill>
            <a:prstDash val="solid"/>
          </a:ln>
        </p:spPr>
      </p:sp>
      <p:sp>
        <p:nvSpPr>
          <p:cNvPr id="13" name="Shape 11"/>
          <p:cNvSpPr/>
          <p:nvPr/>
        </p:nvSpPr>
        <p:spPr>
          <a:xfrm>
            <a:off x="777240" y="3611880"/>
            <a:ext cx="420624" cy="420624"/>
          </a:xfrm>
          <a:prstGeom prst="ellipse">
            <a:avLst/>
          </a:prstGeom>
          <a:solidFill>
            <a:srgbClr val="58A6E8"/>
          </a:solidFill>
          <a:ln/>
        </p:spPr>
      </p:sp>
      <p:sp>
        <p:nvSpPr>
          <p:cNvPr id="14" name="Text 12"/>
          <p:cNvSpPr/>
          <p:nvPr/>
        </p:nvSpPr>
        <p:spPr>
          <a:xfrm>
            <a:off x="685800" y="3593592"/>
            <a:ext cx="603504" cy="420624"/>
          </a:xfrm>
          <a:prstGeom prst="rect">
            <a:avLst/>
          </a:prstGeom>
          <a:noFill/>
          <a:ln/>
        </p:spPr>
        <p:txBody>
          <a:bodyPr wrap="square" lIns="0" tIns="0" rIns="0" bIns="0" rtlCol="0" anchor="ctr"/>
          <a:lstStyle/>
          <a:p>
            <a:pPr algn="ctr" indent="0" marL="0">
              <a:buNone/>
            </a:pPr>
            <a:r>
              <a:rPr lang="en-US" sz="1500" b="1" dirty="0">
                <a:solidFill>
                  <a:srgbClr val="0F1722"/>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17320" y="3465576"/>
            <a:ext cx="10058400" cy="713232"/>
          </a:xfrm>
          <a:prstGeom prst="rect">
            <a:avLst/>
          </a:prstGeom>
          <a:noFill/>
          <a:ln/>
        </p:spPr>
        <p:txBody>
          <a:bodyPr wrap="square" lIns="0" tIns="0" rIns="0" bIns="0" rtlCol="0" anchor="ctr"/>
          <a:lstStyle/>
          <a:p>
            <a:pPr indent="0" marL="0">
              <a:buNone/>
            </a:pPr>
            <a:r>
              <a:rPr lang="en-US" sz="1500" b="1" dirty="0">
                <a:solidFill>
                  <a:srgbClr val="F2F6FA"/>
                </a:solidFill>
                <a:latin typeface="Calibri" pitchFamily="34" charset="0"/>
                <a:ea typeface="Calibri" pitchFamily="34" charset="-122"/>
                <a:cs typeface="Calibri" pitchFamily="34" charset="-120"/>
              </a:rPr>
              <a:t>Ask it a question   </a:t>
            </a:r>
            <a:pPr indent="0" marL="0">
              <a:buNone/>
            </a:pPr>
            <a:r>
              <a:rPr lang="en-US" sz="1200" dirty="0">
                <a:solidFill>
                  <a:srgbClr val="9AAFC4"/>
                </a:solidFill>
                <a:latin typeface="Calibri" pitchFamily="34" charset="0"/>
                <a:ea typeface="Calibri" pitchFamily="34" charset="-122"/>
                <a:cs typeface="Calibri" pitchFamily="34" charset="-120"/>
              </a:rPr>
              <a:t>a follow-up in chat — the answer cites only computed numbers, and the turn creates its own Langfuse trace</a:t>
            </a:r>
            <a:endParaRPr lang="en-US" sz="1500" dirty="0"/>
          </a:p>
        </p:txBody>
      </p:sp>
      <p:sp>
        <p:nvSpPr>
          <p:cNvPr id="16" name="Shape 14"/>
          <p:cNvSpPr/>
          <p:nvPr/>
        </p:nvSpPr>
        <p:spPr>
          <a:xfrm>
            <a:off x="548640" y="4352544"/>
            <a:ext cx="11064240" cy="804672"/>
          </a:xfrm>
          <a:prstGeom prst="roundRect">
            <a:avLst>
              <a:gd name="adj" fmla="val 7955"/>
            </a:avLst>
          </a:prstGeom>
          <a:solidFill>
            <a:srgbClr val="18242F"/>
          </a:solidFill>
          <a:ln w="9525">
            <a:solidFill>
              <a:srgbClr val="2A3A4D"/>
            </a:solidFill>
            <a:prstDash val="solid"/>
          </a:ln>
        </p:spPr>
      </p:sp>
      <p:sp>
        <p:nvSpPr>
          <p:cNvPr id="17" name="Shape 15"/>
          <p:cNvSpPr/>
          <p:nvPr/>
        </p:nvSpPr>
        <p:spPr>
          <a:xfrm>
            <a:off x="777240" y="4544568"/>
            <a:ext cx="420624" cy="420624"/>
          </a:xfrm>
          <a:prstGeom prst="ellipse">
            <a:avLst/>
          </a:prstGeom>
          <a:solidFill>
            <a:srgbClr val="45C489"/>
          </a:solidFill>
          <a:ln/>
        </p:spPr>
      </p:sp>
      <p:sp>
        <p:nvSpPr>
          <p:cNvPr id="18" name="Text 16"/>
          <p:cNvSpPr/>
          <p:nvPr/>
        </p:nvSpPr>
        <p:spPr>
          <a:xfrm>
            <a:off x="685800" y="4526280"/>
            <a:ext cx="603504" cy="420624"/>
          </a:xfrm>
          <a:prstGeom prst="rect">
            <a:avLst/>
          </a:prstGeom>
          <a:noFill/>
          <a:ln/>
        </p:spPr>
        <p:txBody>
          <a:bodyPr wrap="square" lIns="0" tIns="0" rIns="0" bIns="0" rtlCol="0" anchor="ctr"/>
          <a:lstStyle/>
          <a:p>
            <a:pPr algn="ctr" indent="0" marL="0">
              <a:buNone/>
            </a:pPr>
            <a:r>
              <a:rPr lang="en-US" sz="1500" b="1" dirty="0">
                <a:solidFill>
                  <a:srgbClr val="0F1722"/>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417320" y="4398264"/>
            <a:ext cx="10058400" cy="713232"/>
          </a:xfrm>
          <a:prstGeom prst="rect">
            <a:avLst/>
          </a:prstGeom>
          <a:noFill/>
          <a:ln/>
        </p:spPr>
        <p:txBody>
          <a:bodyPr wrap="square" lIns="0" tIns="0" rIns="0" bIns="0" rtlCol="0" anchor="ctr"/>
          <a:lstStyle/>
          <a:p>
            <a:pPr indent="0" marL="0">
              <a:buNone/>
            </a:pPr>
            <a:r>
              <a:rPr lang="en-US" sz="1500" b="1" dirty="0">
                <a:solidFill>
                  <a:srgbClr val="F2F6FA"/>
                </a:solidFill>
                <a:latin typeface="Calibri" pitchFamily="34" charset="0"/>
                <a:ea typeface="Calibri" pitchFamily="34" charset="-122"/>
                <a:cs typeface="Calibri" pitchFamily="34" charset="-120"/>
              </a:rPr>
              <a:t>Open the trace   </a:t>
            </a:r>
            <a:pPr indent="0" marL="0">
              <a:buNone/>
            </a:pPr>
            <a:r>
              <a:rPr lang="en-US" sz="1200" dirty="0">
                <a:solidFill>
                  <a:srgbClr val="9AAFC4"/>
                </a:solidFill>
                <a:latin typeface="Calibri" pitchFamily="34" charset="0"/>
                <a:ea typeface="Calibri" pitchFamily="34" charset="-122"/>
                <a:cs typeface="Calibri" pitchFamily="34" charset="-120"/>
              </a:rPr>
              <a:t>the Langfuse span tree: every query in order, verbatim SQL, the narrator generation — what was checked, and why things were ruled out</a:t>
            </a:r>
            <a:endParaRPr lang="en-US" sz="1500" dirty="0"/>
          </a:p>
        </p:txBody>
      </p:sp>
      <p:sp>
        <p:nvSpPr>
          <p:cNvPr id="20" name="Shape 18"/>
          <p:cNvSpPr/>
          <p:nvPr/>
        </p:nvSpPr>
        <p:spPr>
          <a:xfrm>
            <a:off x="548640" y="5285232"/>
            <a:ext cx="11064240" cy="804672"/>
          </a:xfrm>
          <a:prstGeom prst="roundRect">
            <a:avLst>
              <a:gd name="adj" fmla="val 7955"/>
            </a:avLst>
          </a:prstGeom>
          <a:solidFill>
            <a:srgbClr val="18242F"/>
          </a:solidFill>
          <a:ln w="9525">
            <a:solidFill>
              <a:srgbClr val="2A3A4D"/>
            </a:solidFill>
            <a:prstDash val="solid"/>
          </a:ln>
        </p:spPr>
      </p:sp>
      <p:sp>
        <p:nvSpPr>
          <p:cNvPr id="21" name="Shape 19"/>
          <p:cNvSpPr/>
          <p:nvPr/>
        </p:nvSpPr>
        <p:spPr>
          <a:xfrm>
            <a:off x="777240" y="5477256"/>
            <a:ext cx="420624" cy="420624"/>
          </a:xfrm>
          <a:prstGeom prst="ellipse">
            <a:avLst/>
          </a:prstGeom>
          <a:solidFill>
            <a:srgbClr val="F2F6FA"/>
          </a:solidFill>
          <a:ln/>
        </p:spPr>
      </p:sp>
      <p:sp>
        <p:nvSpPr>
          <p:cNvPr id="22" name="Text 20"/>
          <p:cNvSpPr/>
          <p:nvPr/>
        </p:nvSpPr>
        <p:spPr>
          <a:xfrm>
            <a:off x="685800" y="5458968"/>
            <a:ext cx="603504" cy="420624"/>
          </a:xfrm>
          <a:prstGeom prst="rect">
            <a:avLst/>
          </a:prstGeom>
          <a:noFill/>
          <a:ln/>
        </p:spPr>
        <p:txBody>
          <a:bodyPr wrap="square" lIns="0" tIns="0" rIns="0" bIns="0" rtlCol="0" anchor="ctr"/>
          <a:lstStyle/>
          <a:p>
            <a:pPr algn="ctr" indent="0" marL="0">
              <a:buNone/>
            </a:pPr>
            <a:r>
              <a:rPr lang="en-US" sz="1500" b="1" dirty="0">
                <a:solidFill>
                  <a:srgbClr val="0F1722"/>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417320" y="5330952"/>
            <a:ext cx="10058400" cy="713232"/>
          </a:xfrm>
          <a:prstGeom prst="rect">
            <a:avLst/>
          </a:prstGeom>
          <a:noFill/>
          <a:ln/>
        </p:spPr>
        <p:txBody>
          <a:bodyPr wrap="square" lIns="0" tIns="0" rIns="0" bIns="0" rtlCol="0" anchor="ctr"/>
          <a:lstStyle/>
          <a:p>
            <a:pPr indent="0" marL="0">
              <a:buNone/>
            </a:pPr>
            <a:r>
              <a:rPr lang="en-US" sz="1500" b="1" dirty="0">
                <a:solidFill>
                  <a:srgbClr val="F2F6FA"/>
                </a:solidFill>
                <a:latin typeface="Calibri" pitchFamily="34" charset="0"/>
                <a:ea typeface="Calibri" pitchFamily="34" charset="-122"/>
                <a:cs typeface="Calibri" pitchFamily="34" charset="-120"/>
              </a:rPr>
              <a:t>Switch to the unseen dataset   </a:t>
            </a:r>
            <a:pPr indent="0" marL="0">
              <a:buNone/>
            </a:pPr>
            <a:r>
              <a:rPr lang="en-US" sz="1200" dirty="0">
                <a:solidFill>
                  <a:srgbClr val="9AAFC4"/>
                </a:solidFill>
                <a:latin typeface="Calibri" pitchFamily="34" charset="0"/>
                <a:ea typeface="Calibri" pitchFamily="34" charset="-122"/>
                <a:cs typeface="Calibri" pitchFamily="34" charset="-120"/>
              </a:rPr>
              <a:t>same engine, zero code changes — the APAC fill-rate incident on data the system never saw during development</a:t>
            </a:r>
            <a:endParaRPr lang="en-US" sz="1500" dirty="0"/>
          </a:p>
        </p:txBody>
      </p:sp>
      <p:sp>
        <p:nvSpPr>
          <p:cNvPr id="24" name="Text 22"/>
          <p:cNvSpPr/>
          <p:nvPr/>
        </p:nvSpPr>
        <p:spPr>
          <a:xfrm>
            <a:off x="548640" y="6355080"/>
            <a:ext cx="11064240" cy="411480"/>
          </a:xfrm>
          <a:prstGeom prst="rect">
            <a:avLst/>
          </a:prstGeom>
          <a:noFill/>
          <a:ln/>
        </p:spPr>
        <p:txBody>
          <a:bodyPr wrap="square" lIns="0" tIns="0" rIns="0" bIns="0" rtlCol="0" anchor="ctr"/>
          <a:lstStyle/>
          <a:p>
            <a:pPr indent="0" marL="0">
              <a:buNone/>
            </a:pPr>
            <a:r>
              <a:rPr lang="en-US" sz="1250" i="1" dirty="0">
                <a:solidFill>
                  <a:srgbClr val="9AAFC4"/>
                </a:solidFill>
                <a:latin typeface="Calibri" pitchFamily="34" charset="0"/>
                <a:ea typeface="Calibri" pitchFamily="34" charset="-122"/>
                <a:cs typeface="Calibri" pitchFamily="34" charset="-120"/>
              </a:rPr>
              <a:t>Everything shown is live — the UI renders only what the API returns, and the API returns only what ClickHouse computed.</a:t>
            </a:r>
            <a:endParaRPr lang="en-US" sz="1250" dirty="0"/>
          </a:p>
        </p:txBody>
      </p:sp>
      <p:sp>
        <p:nvSpPr>
          <p:cNvPr id="26" name="Text 23"/>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2"/>
        </a:solidFill>
      </p:bgPr>
    </p:bg>
    <p:spTree>
      <p:nvGrpSpPr>
        <p:cNvPr id="1" name=""/>
        <p:cNvGrpSpPr/>
        <p:nvPr/>
      </p:nvGrpSpPr>
      <p:grpSpPr>
        <a:xfrm>
          <a:off x="0" y="0"/>
          <a:ext cx="0" cy="0"/>
          <a:chOff x="0" y="0"/>
          <a:chExt cx="0" cy="0"/>
        </a:xfrm>
      </p:grpSpPr>
      <p:sp>
        <p:nvSpPr>
          <p:cNvPr id="2" name="Text 0"/>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F2A93B"/>
                </a:solidFill>
                <a:latin typeface="Calibri" pitchFamily="34" charset="0"/>
                <a:ea typeface="Calibri" pitchFamily="34" charset="-122"/>
                <a:cs typeface="Calibri" pitchFamily="34" charset="-120"/>
              </a:rPr>
              <a:t>ENGINEERING QUALITY</a:t>
            </a:r>
            <a:endParaRPr lang="en-US" sz="120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Built to be audited — including by ourselves</a:t>
            </a:r>
            <a:endParaRPr lang="en-US" sz="3000" dirty="0"/>
          </a:p>
        </p:txBody>
      </p:sp>
      <p:sp>
        <p:nvSpPr>
          <p:cNvPr id="4" name="Shape 2"/>
          <p:cNvSpPr/>
          <p:nvPr/>
        </p:nvSpPr>
        <p:spPr>
          <a:xfrm>
            <a:off x="548640" y="1554480"/>
            <a:ext cx="5440680" cy="1965960"/>
          </a:xfrm>
          <a:prstGeom prst="roundRect">
            <a:avLst>
              <a:gd name="adj" fmla="val 3256"/>
            </a:avLst>
          </a:prstGeom>
          <a:solidFill>
            <a:srgbClr val="18242F"/>
          </a:solidFill>
          <a:ln w="9525">
            <a:solidFill>
              <a:srgbClr val="2A3A4D"/>
            </a:solidFill>
            <a:prstDash val="solid"/>
          </a:ln>
        </p:spPr>
      </p:sp>
      <p:sp>
        <p:nvSpPr>
          <p:cNvPr id="5" name="Text 3"/>
          <p:cNvSpPr/>
          <p:nvPr/>
        </p:nvSpPr>
        <p:spPr>
          <a:xfrm>
            <a:off x="822960" y="1719072"/>
            <a:ext cx="1828800" cy="685800"/>
          </a:xfrm>
          <a:prstGeom prst="rect">
            <a:avLst/>
          </a:prstGeom>
          <a:noFill/>
          <a:ln/>
        </p:spPr>
        <p:txBody>
          <a:bodyPr wrap="square" lIns="0" tIns="0" rIns="0" bIns="0" rtlCol="0" anchor="ctr"/>
          <a:lstStyle/>
          <a:p>
            <a:pPr indent="0" marL="0">
              <a:buNone/>
            </a:pPr>
            <a:r>
              <a:rPr lang="en-US" sz="3400" b="1" dirty="0">
                <a:solidFill>
                  <a:srgbClr val="45C489"/>
                </a:solidFill>
                <a:latin typeface="Courier New" pitchFamily="34" charset="0"/>
                <a:ea typeface="Courier New" pitchFamily="34" charset="-122"/>
                <a:cs typeface="Courier New" pitchFamily="34" charset="-120"/>
              </a:rPr>
              <a:t>94</a:t>
            </a:r>
            <a:endParaRPr lang="en-US" sz="3400" dirty="0"/>
          </a:p>
        </p:txBody>
      </p:sp>
      <p:sp>
        <p:nvSpPr>
          <p:cNvPr id="6" name="Text 4"/>
          <p:cNvSpPr/>
          <p:nvPr/>
        </p:nvSpPr>
        <p:spPr>
          <a:xfrm>
            <a:off x="822960" y="2404872"/>
            <a:ext cx="2011680" cy="54864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tests passing</a:t>
            </a:r>
            <a:endParaRPr lang="en-US" sz="1200" dirty="0"/>
          </a:p>
        </p:txBody>
      </p:sp>
      <p:sp>
        <p:nvSpPr>
          <p:cNvPr id="7" name="Text 5"/>
          <p:cNvSpPr/>
          <p:nvPr/>
        </p:nvSpPr>
        <p:spPr>
          <a:xfrm>
            <a:off x="2880360" y="1737360"/>
            <a:ext cx="2880360" cy="1691640"/>
          </a:xfrm>
          <a:prstGeom prst="rect">
            <a:avLst/>
          </a:prstGeom>
          <a:noFill/>
          <a:ln/>
        </p:spPr>
        <p:txBody>
          <a:bodyPr wrap="square" lIns="0" tIns="0" rIns="0" bIns="0" rtlCol="0" anchor="ctr"/>
          <a:lstStyle/>
          <a:p>
            <a:pPr indent="0" marL="0">
              <a:buNone/>
            </a:pPr>
            <a:r>
              <a:rPr lang="en-US" sz="1080" dirty="0">
                <a:solidFill>
                  <a:srgbClr val="9AAFC4"/>
                </a:solidFill>
                <a:latin typeface="Calibri" pitchFamily="34" charset="0"/>
                <a:ea typeface="Calibri" pitchFamily="34" charset="-122"/>
                <a:cs typeface="Calibri" pitchFamily="34" charset="-120"/>
              </a:rPr>
              <a:t>unit tests on the decomposition and contribution math, plus integration tests with exact-number assertions against known windows.</a:t>
            </a:r>
            <a:endParaRPr lang="en-US" sz="1080" dirty="0"/>
          </a:p>
        </p:txBody>
      </p:sp>
      <p:sp>
        <p:nvSpPr>
          <p:cNvPr id="8" name="Shape 6"/>
          <p:cNvSpPr/>
          <p:nvPr/>
        </p:nvSpPr>
        <p:spPr>
          <a:xfrm>
            <a:off x="6217920" y="1554480"/>
            <a:ext cx="5440680" cy="1965960"/>
          </a:xfrm>
          <a:prstGeom prst="roundRect">
            <a:avLst>
              <a:gd name="adj" fmla="val 3256"/>
            </a:avLst>
          </a:prstGeom>
          <a:solidFill>
            <a:srgbClr val="18242F"/>
          </a:solidFill>
          <a:ln w="9525">
            <a:solidFill>
              <a:srgbClr val="2A3A4D"/>
            </a:solidFill>
            <a:prstDash val="solid"/>
          </a:ln>
        </p:spPr>
      </p:sp>
      <p:sp>
        <p:nvSpPr>
          <p:cNvPr id="9" name="Text 7"/>
          <p:cNvSpPr/>
          <p:nvPr/>
        </p:nvSpPr>
        <p:spPr>
          <a:xfrm>
            <a:off x="6492240" y="1719072"/>
            <a:ext cx="1828800" cy="685800"/>
          </a:xfrm>
          <a:prstGeom prst="rect">
            <a:avLst/>
          </a:prstGeom>
          <a:noFill/>
          <a:ln/>
        </p:spPr>
        <p:txBody>
          <a:bodyPr wrap="square" lIns="0" tIns="0" rIns="0" bIns="0" rtlCol="0" anchor="ctr"/>
          <a:lstStyle/>
          <a:p>
            <a:pPr indent="0" marL="0">
              <a:buNone/>
            </a:pPr>
            <a:r>
              <a:rPr lang="en-US" sz="3400" b="1" dirty="0">
                <a:solidFill>
                  <a:srgbClr val="F2A93B"/>
                </a:solidFill>
                <a:latin typeface="Courier New" pitchFamily="34" charset="0"/>
                <a:ea typeface="Courier New" pitchFamily="34" charset="-122"/>
                <a:cs typeface="Courier New" pitchFamily="34" charset="-120"/>
              </a:rPr>
              <a:t>6 → 2</a:t>
            </a:r>
            <a:endParaRPr lang="en-US" sz="3400" dirty="0"/>
          </a:p>
        </p:txBody>
      </p:sp>
      <p:sp>
        <p:nvSpPr>
          <p:cNvPr id="10" name="Text 8"/>
          <p:cNvSpPr/>
          <p:nvPr/>
        </p:nvSpPr>
        <p:spPr>
          <a:xfrm>
            <a:off x="6492240" y="2404872"/>
            <a:ext cx="2011680" cy="54864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audit charges sustained</a:t>
            </a:r>
            <a:endParaRPr lang="en-US" sz="1200" dirty="0"/>
          </a:p>
        </p:txBody>
      </p:sp>
      <p:sp>
        <p:nvSpPr>
          <p:cNvPr id="11" name="Text 9"/>
          <p:cNvSpPr/>
          <p:nvPr/>
        </p:nvSpPr>
        <p:spPr>
          <a:xfrm>
            <a:off x="8549640" y="1737360"/>
            <a:ext cx="2880360" cy="1691640"/>
          </a:xfrm>
          <a:prstGeom prst="rect">
            <a:avLst/>
          </a:prstGeom>
          <a:noFill/>
          <a:ln/>
        </p:spPr>
        <p:txBody>
          <a:bodyPr wrap="square" lIns="0" tIns="0" rIns="0" bIns="0" rtlCol="0" anchor="ctr"/>
          <a:lstStyle/>
          <a:p>
            <a:pPr indent="0" marL="0">
              <a:buNone/>
            </a:pPr>
            <a:r>
              <a:rPr lang="en-US" sz="1080" dirty="0">
                <a:solidFill>
                  <a:srgbClr val="9AAFC4"/>
                </a:solidFill>
                <a:latin typeface="Calibri" pitchFamily="34" charset="0"/>
                <a:ea typeface="Calibri" pitchFamily="34" charset="-122"/>
                <a:cs typeface="Calibri" pitchFamily="34" charset="-120"/>
              </a:rPr>
              <a:t>we ran a design audit against our own repo: 6 charges of overengineering, 2 sustained — both fixed and documented in DESIGN_RATIONALE.md, each answered with a measurement rather than an argument.</a:t>
            </a:r>
            <a:endParaRPr lang="en-US" sz="1080" dirty="0"/>
          </a:p>
        </p:txBody>
      </p:sp>
      <p:sp>
        <p:nvSpPr>
          <p:cNvPr id="12" name="Shape 10"/>
          <p:cNvSpPr/>
          <p:nvPr/>
        </p:nvSpPr>
        <p:spPr>
          <a:xfrm>
            <a:off x="548640" y="3703320"/>
            <a:ext cx="5440680" cy="1965960"/>
          </a:xfrm>
          <a:prstGeom prst="roundRect">
            <a:avLst>
              <a:gd name="adj" fmla="val 3256"/>
            </a:avLst>
          </a:prstGeom>
          <a:solidFill>
            <a:srgbClr val="18242F"/>
          </a:solidFill>
          <a:ln w="9525">
            <a:solidFill>
              <a:srgbClr val="2A3A4D"/>
            </a:solidFill>
            <a:prstDash val="solid"/>
          </a:ln>
        </p:spPr>
      </p:sp>
      <p:sp>
        <p:nvSpPr>
          <p:cNvPr id="13" name="Text 11"/>
          <p:cNvSpPr/>
          <p:nvPr/>
        </p:nvSpPr>
        <p:spPr>
          <a:xfrm>
            <a:off x="822960" y="3867912"/>
            <a:ext cx="1828800" cy="685800"/>
          </a:xfrm>
          <a:prstGeom prst="rect">
            <a:avLst/>
          </a:prstGeom>
          <a:noFill/>
          <a:ln/>
        </p:spPr>
        <p:txBody>
          <a:bodyPr wrap="square" lIns="0" tIns="0" rIns="0" bIns="0" rtlCol="0" anchor="ctr"/>
          <a:lstStyle/>
          <a:p>
            <a:pPr indent="0" marL="0">
              <a:buNone/>
            </a:pPr>
            <a:r>
              <a:rPr lang="en-US" sz="3400" b="1" dirty="0">
                <a:solidFill>
                  <a:srgbClr val="58A6E8"/>
                </a:solidFill>
                <a:latin typeface="Courier New" pitchFamily="34" charset="0"/>
                <a:ea typeface="Courier New" pitchFamily="34" charset="-122"/>
                <a:cs typeface="Courier New" pitchFamily="34" charset="-120"/>
              </a:rPr>
              <a:t>0</a:t>
            </a:r>
            <a:endParaRPr lang="en-US" sz="3400" dirty="0"/>
          </a:p>
        </p:txBody>
      </p:sp>
      <p:sp>
        <p:nvSpPr>
          <p:cNvPr id="14" name="Text 12"/>
          <p:cNvSpPr/>
          <p:nvPr/>
        </p:nvSpPr>
        <p:spPr>
          <a:xfrm>
            <a:off x="822960" y="4553712"/>
            <a:ext cx="2011680" cy="54864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database names in SQL</a:t>
            </a:r>
            <a:endParaRPr lang="en-US" sz="1200" dirty="0"/>
          </a:p>
        </p:txBody>
      </p:sp>
      <p:sp>
        <p:nvSpPr>
          <p:cNvPr id="15" name="Text 13"/>
          <p:cNvSpPr/>
          <p:nvPr/>
        </p:nvSpPr>
        <p:spPr>
          <a:xfrm>
            <a:off x="2880360" y="3886200"/>
            <a:ext cx="2880360" cy="1691640"/>
          </a:xfrm>
          <a:prstGeom prst="rect">
            <a:avLst/>
          </a:prstGeom>
          <a:noFill/>
          <a:ln/>
        </p:spPr>
        <p:txBody>
          <a:bodyPr wrap="square" lIns="0" tIns="0" rIns="0" bIns="0" rtlCol="0" anchor="ctr"/>
          <a:lstStyle/>
          <a:p>
            <a:pPr indent="0" marL="0">
              <a:buNone/>
            </a:pPr>
            <a:r>
              <a:rPr lang="en-US" sz="1080" dirty="0">
                <a:solidFill>
                  <a:srgbClr val="9AAFC4"/>
                </a:solidFill>
                <a:latin typeface="Calibri" pitchFamily="34" charset="0"/>
                <a:ea typeface="Calibri" pitchFamily="34" charset="-122"/>
                <a:cs typeface="Calibri" pitchFamily="34" charset="-120"/>
              </a:rPr>
              <a:t>a dataset registry repoints the whole system between main and unseen worlds — dataset-agnostic by construction, not by discipline.</a:t>
            </a:r>
            <a:endParaRPr lang="en-US" sz="1080" dirty="0"/>
          </a:p>
        </p:txBody>
      </p:sp>
      <p:sp>
        <p:nvSpPr>
          <p:cNvPr id="16" name="Shape 14"/>
          <p:cNvSpPr/>
          <p:nvPr/>
        </p:nvSpPr>
        <p:spPr>
          <a:xfrm>
            <a:off x="6217920" y="3703320"/>
            <a:ext cx="5440680" cy="1965960"/>
          </a:xfrm>
          <a:prstGeom prst="roundRect">
            <a:avLst>
              <a:gd name="adj" fmla="val 3256"/>
            </a:avLst>
          </a:prstGeom>
          <a:solidFill>
            <a:srgbClr val="18242F"/>
          </a:solidFill>
          <a:ln w="9525">
            <a:solidFill>
              <a:srgbClr val="2A3A4D"/>
            </a:solidFill>
            <a:prstDash val="solid"/>
          </a:ln>
        </p:spPr>
      </p:sp>
      <p:sp>
        <p:nvSpPr>
          <p:cNvPr id="17" name="Text 15"/>
          <p:cNvSpPr/>
          <p:nvPr/>
        </p:nvSpPr>
        <p:spPr>
          <a:xfrm>
            <a:off x="6492240" y="3867912"/>
            <a:ext cx="1828800" cy="685800"/>
          </a:xfrm>
          <a:prstGeom prst="rect">
            <a:avLst/>
          </a:prstGeom>
          <a:noFill/>
          <a:ln/>
        </p:spPr>
        <p:txBody>
          <a:bodyPr wrap="square" lIns="0" tIns="0" rIns="0" bIns="0" rtlCol="0" anchor="ctr"/>
          <a:lstStyle/>
          <a:p>
            <a:pPr indent="0" marL="0">
              <a:buNone/>
            </a:pPr>
            <a:r>
              <a:rPr lang="en-US" sz="3400" b="1" dirty="0">
                <a:solidFill>
                  <a:srgbClr val="F2F6FA"/>
                </a:solidFill>
                <a:latin typeface="Courier New" pitchFamily="34" charset="0"/>
                <a:ea typeface="Courier New" pitchFamily="34" charset="-122"/>
                <a:cs typeface="Courier New" pitchFamily="34" charset="-120"/>
              </a:rPr>
              <a:t>1</a:t>
            </a:r>
            <a:endParaRPr lang="en-US" sz="3400" dirty="0"/>
          </a:p>
        </p:txBody>
      </p:sp>
      <p:sp>
        <p:nvSpPr>
          <p:cNvPr id="18" name="Text 16"/>
          <p:cNvSpPr/>
          <p:nvPr/>
        </p:nvSpPr>
        <p:spPr>
          <a:xfrm>
            <a:off x="6492240" y="4553712"/>
            <a:ext cx="2011680" cy="548640"/>
          </a:xfrm>
          <a:prstGeom prst="rect">
            <a:avLst/>
          </a:prstGeom>
          <a:noFill/>
          <a:ln/>
        </p:spPr>
        <p:txBody>
          <a:bodyPr wrap="square" lIns="0" tIns="0" rIns="0" bIns="0" rtlCol="0" anchor="ctr"/>
          <a:lstStyle/>
          <a:p>
            <a:pPr indent="0" marL="0">
              <a:buNone/>
            </a:pPr>
            <a:r>
              <a:rPr lang="en-US" sz="1200" b="1" dirty="0">
                <a:solidFill>
                  <a:srgbClr val="F2F6FA"/>
                </a:solidFill>
                <a:latin typeface="Calibri" pitchFamily="34" charset="0"/>
                <a:ea typeface="Calibri" pitchFamily="34" charset="-122"/>
                <a:cs typeface="Calibri" pitchFamily="34" charset="-120"/>
              </a:rPr>
              <a:t>command to run it all</a:t>
            </a:r>
            <a:endParaRPr lang="en-US" sz="1200" dirty="0"/>
          </a:p>
        </p:txBody>
      </p:sp>
      <p:sp>
        <p:nvSpPr>
          <p:cNvPr id="19" name="Text 17"/>
          <p:cNvSpPr/>
          <p:nvPr/>
        </p:nvSpPr>
        <p:spPr>
          <a:xfrm>
            <a:off x="8549640" y="3886200"/>
            <a:ext cx="2880360" cy="1691640"/>
          </a:xfrm>
          <a:prstGeom prst="rect">
            <a:avLst/>
          </a:prstGeom>
          <a:noFill/>
          <a:ln/>
        </p:spPr>
        <p:txBody>
          <a:bodyPr wrap="square" lIns="0" tIns="0" rIns="0" bIns="0" rtlCol="0" anchor="ctr"/>
          <a:lstStyle/>
          <a:p>
            <a:pPr indent="0" marL="0">
              <a:buNone/>
            </a:pPr>
            <a:r>
              <a:rPr lang="en-US" sz="1080" dirty="0">
                <a:solidFill>
                  <a:srgbClr val="9AAFC4"/>
                </a:solidFill>
                <a:latin typeface="Calibri" pitchFamily="34" charset="0"/>
                <a:ea typeface="Calibri" pitchFamily="34" charset="-122"/>
                <a:cs typeface="Calibri" pitchFamily="34" charset="-120"/>
              </a:rPr>
              <a:t>./scripts/deploy.sh brings up api, scanner, scanner-unseen and ui with preflight and postflight checks — it refuses to start on a real problem.</a:t>
            </a:r>
            <a:endParaRPr lang="en-US" sz="1080" dirty="0"/>
          </a:p>
        </p:txBody>
      </p:sp>
      <p:sp>
        <p:nvSpPr>
          <p:cNvPr id="20" name="Shape 18"/>
          <p:cNvSpPr/>
          <p:nvPr/>
        </p:nvSpPr>
        <p:spPr>
          <a:xfrm>
            <a:off x="548640" y="5715000"/>
            <a:ext cx="11064240" cy="777240"/>
          </a:xfrm>
          <a:prstGeom prst="roundRect">
            <a:avLst>
              <a:gd name="adj" fmla="val 8235"/>
            </a:avLst>
          </a:prstGeom>
          <a:solidFill>
            <a:srgbClr val="1D2C3A"/>
          </a:solidFill>
          <a:ln w="9525">
            <a:solidFill>
              <a:srgbClr val="2A3A4D"/>
            </a:solidFill>
            <a:prstDash val="solid"/>
          </a:ln>
        </p:spPr>
      </p:sp>
      <p:sp>
        <p:nvSpPr>
          <p:cNvPr id="21" name="Text 19"/>
          <p:cNvSpPr/>
          <p:nvPr/>
        </p:nvSpPr>
        <p:spPr>
          <a:xfrm>
            <a:off x="822960" y="5715000"/>
            <a:ext cx="10515600" cy="777240"/>
          </a:xfrm>
          <a:prstGeom prst="rect">
            <a:avLst/>
          </a:prstGeom>
          <a:noFill/>
          <a:ln/>
        </p:spPr>
        <p:txBody>
          <a:bodyPr wrap="square" lIns="0" tIns="0" rIns="0" bIns="0" rtlCol="0" anchor="ctr"/>
          <a:lstStyle/>
          <a:p>
            <a:pPr indent="0" marL="0">
              <a:buNone/>
            </a:pPr>
            <a:r>
              <a:rPr lang="en-US" sz="1300" b="1" dirty="0">
                <a:solidFill>
                  <a:srgbClr val="F2F6FA"/>
                </a:solidFill>
                <a:latin typeface="Calibri" pitchFamily="34" charset="0"/>
                <a:ea typeface="Calibri" pitchFamily="34" charset="-122"/>
                <a:cs typeface="Calibri" pitchFamily="34" charset="-120"/>
              </a:rPr>
              <a:t>Fails safe, never silent-wrong: </a:t>
            </a:r>
            <a:pPr indent="0" marL="0">
              <a:buNone/>
            </a:pPr>
            <a:r>
              <a:rPr lang="en-US" sz="1300" dirty="0">
                <a:solidFill>
                  <a:srgbClr val="9AAFC4"/>
                </a:solidFill>
                <a:latin typeface="Calibri" pitchFamily="34" charset="0"/>
                <a:ea typeface="Calibri" pitchFamily="34" charset="-122"/>
                <a:cs typeface="Calibri" pitchFamily="34" charset="-120"/>
              </a:rPr>
              <a:t>suppressed findings stay counted, unknown mechanisms display as unknown, missing narration is flagged — the system never quietly shrinks its own reported coverage.</a:t>
            </a:r>
            <a:endParaRPr lang="en-US" sz="1300" dirty="0"/>
          </a:p>
        </p:txBody>
      </p:sp>
      <p:sp>
        <p:nvSpPr>
          <p:cNvPr id="23" name="Text 20"/>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2"/>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2A93B">
              <a:alpha val="40000"/>
            </a:srgbClr>
          </a:solidFill>
          <a:ln/>
        </p:spPr>
      </p:sp>
      <p:sp>
        <p:nvSpPr>
          <p:cNvPr id="3" name="Text 1"/>
          <p:cNvSpPr/>
          <p:nvPr/>
        </p:nvSpPr>
        <p:spPr>
          <a:xfrm>
            <a:off x="548640" y="347472"/>
            <a:ext cx="9144000" cy="292608"/>
          </a:xfrm>
          <a:prstGeom prst="rect">
            <a:avLst/>
          </a:prstGeom>
          <a:noFill/>
          <a:ln/>
        </p:spPr>
        <p:txBody>
          <a:bodyPr wrap="square" lIns="0" tIns="0" rIns="0" bIns="0" rtlCol="0" anchor="ctr"/>
          <a:lstStyle/>
          <a:p>
            <a:pPr indent="0" marL="0">
              <a:buNone/>
            </a:pPr>
            <a:r>
              <a:rPr lang="en-US" sz="1200" b="1" spc="300" kern="0" dirty="0">
                <a:solidFill>
                  <a:srgbClr val="F2A93B"/>
                </a:solidFill>
                <a:latin typeface="Calibri" pitchFamily="34" charset="0"/>
                <a:ea typeface="Calibri" pitchFamily="34" charset="-122"/>
                <a:cs typeface="Calibri" pitchFamily="34" charset="-120"/>
              </a:rPr>
              <a:t>WHY REVENUEWATCH SCORES</a:t>
            </a:r>
            <a:endParaRPr lang="en-US" sz="1200" dirty="0"/>
          </a:p>
        </p:txBody>
      </p:sp>
      <p:sp>
        <p:nvSpPr>
          <p:cNvPr id="4" name="Text 2"/>
          <p:cNvSpPr/>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2F6FA"/>
                </a:solidFill>
                <a:latin typeface="Calibri" pitchFamily="34" charset="0"/>
                <a:ea typeface="Calibri" pitchFamily="34" charset="-122"/>
                <a:cs typeface="Calibri" pitchFamily="34" charset="-120"/>
              </a:rPr>
              <a:t>Every judging criterion, answered with something you can re-run</a:t>
            </a:r>
            <a:endParaRPr lang="en-US" sz="3000" dirty="0"/>
          </a:p>
        </p:txBody>
      </p:sp>
      <p:sp>
        <p:nvSpPr>
          <p:cNvPr id="5" name="Shape 3"/>
          <p:cNvSpPr/>
          <p:nvPr/>
        </p:nvSpPr>
        <p:spPr>
          <a:xfrm>
            <a:off x="640080" y="1600200"/>
            <a:ext cx="310896" cy="310896"/>
          </a:xfrm>
          <a:prstGeom prst="ellipse">
            <a:avLst/>
          </a:prstGeom>
          <a:solidFill>
            <a:srgbClr val="45C489"/>
          </a:solidFill>
          <a:ln/>
        </p:spPr>
      </p:sp>
      <p:sp>
        <p:nvSpPr>
          <p:cNvPr id="6" name="Text 4"/>
          <p:cNvSpPr/>
          <p:nvPr/>
        </p:nvSpPr>
        <p:spPr>
          <a:xfrm>
            <a:off x="548640" y="1581912"/>
            <a:ext cx="493776" cy="310896"/>
          </a:xfrm>
          <a:prstGeom prst="rect">
            <a:avLst/>
          </a:prstGeom>
          <a:noFill/>
          <a:ln/>
        </p:spPr>
        <p:txBody>
          <a:bodyPr wrap="square" lIns="0" tIns="0" rIns="0" bIns="0" rtlCol="0" anchor="ctr"/>
          <a:lstStyle/>
          <a:p>
            <a:pPr algn="ctr" indent="0" marL="0">
              <a:buNone/>
            </a:pPr>
            <a:r>
              <a:rPr lang="en-US" sz="1200" b="1" dirty="0">
                <a:solidFill>
                  <a:srgbClr val="0F1722"/>
                </a:solidFill>
                <a:latin typeface="Calibri" pitchFamily="34" charset="0"/>
                <a:ea typeface="Calibri" pitchFamily="34" charset="-122"/>
                <a:cs typeface="Calibri" pitchFamily="34" charset="-120"/>
              </a:rPr>
              <a:t>✓</a:t>
            </a:r>
            <a:endParaRPr lang="en-US" sz="1200" dirty="0"/>
          </a:p>
        </p:txBody>
      </p:sp>
      <p:sp>
        <p:nvSpPr>
          <p:cNvPr id="7" name="Text 5"/>
          <p:cNvSpPr/>
          <p:nvPr/>
        </p:nvSpPr>
        <p:spPr>
          <a:xfrm>
            <a:off x="1143000" y="1481328"/>
            <a:ext cx="3063240" cy="777240"/>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Detection &amp; localization</a:t>
            </a:r>
            <a:endParaRPr lang="en-US" sz="1350" dirty="0"/>
          </a:p>
        </p:txBody>
      </p:sp>
      <p:sp>
        <p:nvSpPr>
          <p:cNvPr id="8" name="Text 6"/>
          <p:cNvSpPr/>
          <p:nvPr/>
        </p:nvSpPr>
        <p:spPr>
          <a:xfrm>
            <a:off x="4297680" y="1481328"/>
            <a:ext cx="7315200" cy="777240"/>
          </a:xfrm>
          <a:prstGeom prst="rect">
            <a:avLst/>
          </a:prstGeom>
          <a:noFill/>
          <a:ln/>
        </p:spPr>
        <p:txBody>
          <a:bodyPr wrap="square" lIns="0" tIns="0" rIns="0" bIns="0" rtlCol="0" anchor="ctr"/>
          <a:lstStyle/>
          <a:p>
            <a:pPr indent="0" marL="0">
              <a:buNone/>
            </a:pPr>
            <a:r>
              <a:rPr lang="en-US" sz="1150" dirty="0">
                <a:solidFill>
                  <a:srgbClr val="9AAFC4"/>
                </a:solidFill>
                <a:latin typeface="Calibri" pitchFamily="34" charset="0"/>
                <a:ea typeface="Calibri" pitchFamily="34" charset="-122"/>
                <a:cs typeface="Calibri" pitchFamily="34" charset="-120"/>
              </a:rPr>
              <a:t>both planted incidents, earliest possible sweep · localized past the answer key (Japan × iPhone 14) · 35-day replay, thresholds measured</a:t>
            </a:r>
            <a:endParaRPr lang="en-US" sz="1150" dirty="0"/>
          </a:p>
        </p:txBody>
      </p:sp>
      <p:sp>
        <p:nvSpPr>
          <p:cNvPr id="9" name="Shape 7"/>
          <p:cNvSpPr/>
          <p:nvPr/>
        </p:nvSpPr>
        <p:spPr>
          <a:xfrm>
            <a:off x="640080" y="2441448"/>
            <a:ext cx="310896" cy="310896"/>
          </a:xfrm>
          <a:prstGeom prst="ellipse">
            <a:avLst/>
          </a:prstGeom>
          <a:solidFill>
            <a:srgbClr val="45C489"/>
          </a:solidFill>
          <a:ln/>
        </p:spPr>
      </p:sp>
      <p:sp>
        <p:nvSpPr>
          <p:cNvPr id="10" name="Text 8"/>
          <p:cNvSpPr/>
          <p:nvPr/>
        </p:nvSpPr>
        <p:spPr>
          <a:xfrm>
            <a:off x="548640" y="2423160"/>
            <a:ext cx="493776" cy="310896"/>
          </a:xfrm>
          <a:prstGeom prst="rect">
            <a:avLst/>
          </a:prstGeom>
          <a:noFill/>
          <a:ln/>
        </p:spPr>
        <p:txBody>
          <a:bodyPr wrap="square" lIns="0" tIns="0" rIns="0" bIns="0" rtlCol="0" anchor="ctr"/>
          <a:lstStyle/>
          <a:p>
            <a:pPr algn="ctr" indent="0" marL="0">
              <a:buNone/>
            </a:pPr>
            <a:r>
              <a:rPr lang="en-US" sz="1200" b="1" dirty="0">
                <a:solidFill>
                  <a:srgbClr val="0F1722"/>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1143000" y="2322576"/>
            <a:ext cx="3063240" cy="777240"/>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Explanation trustworthiness</a:t>
            </a:r>
            <a:endParaRPr lang="en-US" sz="1350" dirty="0"/>
          </a:p>
        </p:txBody>
      </p:sp>
      <p:sp>
        <p:nvSpPr>
          <p:cNvPr id="12" name="Text 10"/>
          <p:cNvSpPr/>
          <p:nvPr/>
        </p:nvSpPr>
        <p:spPr>
          <a:xfrm>
            <a:off x="4297680" y="2322576"/>
            <a:ext cx="7315200" cy="777240"/>
          </a:xfrm>
          <a:prstGeom prst="rect">
            <a:avLst/>
          </a:prstGeom>
          <a:noFill/>
          <a:ln/>
        </p:spPr>
        <p:txBody>
          <a:bodyPr wrap="square" lIns="0" tIns="0" rIns="0" bIns="0" rtlCol="0" anchor="ctr"/>
          <a:lstStyle/>
          <a:p>
            <a:pPr indent="0" marL="0">
              <a:buNone/>
            </a:pPr>
            <a:r>
              <a:rPr lang="en-US" sz="1150" dirty="0">
                <a:solidFill>
                  <a:srgbClr val="9AAFC4"/>
                </a:solidFill>
                <a:latin typeface="Calibri" pitchFamily="34" charset="0"/>
                <a:ea typeface="Calibri" pitchFamily="34" charset="-122"/>
                <a:cs typeface="Calibri" pitchFamily="34" charset="-120"/>
              </a:rPr>
              <a:t>the LLM cannot compute · every number carries a source_step naming a runnable query · phantom-figure bugs found and killed</a:t>
            </a:r>
            <a:endParaRPr lang="en-US" sz="1150" dirty="0"/>
          </a:p>
        </p:txBody>
      </p:sp>
      <p:sp>
        <p:nvSpPr>
          <p:cNvPr id="13" name="Shape 11"/>
          <p:cNvSpPr/>
          <p:nvPr/>
        </p:nvSpPr>
        <p:spPr>
          <a:xfrm>
            <a:off x="640080" y="3282696"/>
            <a:ext cx="310896" cy="310896"/>
          </a:xfrm>
          <a:prstGeom prst="ellipse">
            <a:avLst/>
          </a:prstGeom>
          <a:solidFill>
            <a:srgbClr val="45C489"/>
          </a:solidFill>
          <a:ln/>
        </p:spPr>
      </p:sp>
      <p:sp>
        <p:nvSpPr>
          <p:cNvPr id="14" name="Text 12"/>
          <p:cNvSpPr/>
          <p:nvPr/>
        </p:nvSpPr>
        <p:spPr>
          <a:xfrm>
            <a:off x="548640" y="3264408"/>
            <a:ext cx="493776" cy="310896"/>
          </a:xfrm>
          <a:prstGeom prst="rect">
            <a:avLst/>
          </a:prstGeom>
          <a:noFill/>
          <a:ln/>
        </p:spPr>
        <p:txBody>
          <a:bodyPr wrap="square" lIns="0" tIns="0" rIns="0" bIns="0" rtlCol="0" anchor="ctr"/>
          <a:lstStyle/>
          <a:p>
            <a:pPr algn="ctr" indent="0" marL="0">
              <a:buNone/>
            </a:pPr>
            <a:r>
              <a:rPr lang="en-US" sz="1200" b="1" dirty="0">
                <a:solidFill>
                  <a:srgbClr val="0F1722"/>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1143000" y="3163824"/>
            <a:ext cx="3063240" cy="777240"/>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Analytical depth in ClickHouse</a:t>
            </a:r>
            <a:endParaRPr lang="en-US" sz="1350" dirty="0"/>
          </a:p>
        </p:txBody>
      </p:sp>
      <p:sp>
        <p:nvSpPr>
          <p:cNvPr id="16" name="Text 14"/>
          <p:cNvSpPr/>
          <p:nvPr/>
        </p:nvSpPr>
        <p:spPr>
          <a:xfrm>
            <a:off x="4297680" y="3163824"/>
            <a:ext cx="7315200" cy="777240"/>
          </a:xfrm>
          <a:prstGeom prst="rect">
            <a:avLst/>
          </a:prstGeom>
          <a:noFill/>
          <a:ln/>
        </p:spPr>
        <p:txBody>
          <a:bodyPr wrap="square" lIns="0" tIns="0" rIns="0" bIns="0" rtlCol="0" anchor="ctr"/>
          <a:lstStyle/>
          <a:p>
            <a:pPr indent="0" marL="0">
              <a:buNone/>
            </a:pPr>
            <a:r>
              <a:rPr lang="en-US" sz="1150" dirty="0">
                <a:solidFill>
                  <a:srgbClr val="9AAFC4"/>
                </a:solidFill>
                <a:latin typeface="Calibri" pitchFamily="34" charset="0"/>
                <a:ea typeface="Calibri" pitchFamily="34" charset="-122"/>
                <a:cs typeface="Calibri" pitchFamily="34" charset="-120"/>
              </a:rPr>
              <a:t>19 rollups, 1.17M SQL-built bands, composite scopes, recursive drill-down — all of it queries, none of it LLM</a:t>
            </a:r>
            <a:endParaRPr lang="en-US" sz="1150" dirty="0"/>
          </a:p>
        </p:txBody>
      </p:sp>
      <p:sp>
        <p:nvSpPr>
          <p:cNvPr id="17" name="Shape 15"/>
          <p:cNvSpPr/>
          <p:nvPr/>
        </p:nvSpPr>
        <p:spPr>
          <a:xfrm>
            <a:off x="640080" y="4123944"/>
            <a:ext cx="310896" cy="310896"/>
          </a:xfrm>
          <a:prstGeom prst="ellipse">
            <a:avLst/>
          </a:prstGeom>
          <a:solidFill>
            <a:srgbClr val="45C489"/>
          </a:solidFill>
          <a:ln/>
        </p:spPr>
      </p:sp>
      <p:sp>
        <p:nvSpPr>
          <p:cNvPr id="18" name="Text 16"/>
          <p:cNvSpPr/>
          <p:nvPr/>
        </p:nvSpPr>
        <p:spPr>
          <a:xfrm>
            <a:off x="548640" y="4105656"/>
            <a:ext cx="493776" cy="310896"/>
          </a:xfrm>
          <a:prstGeom prst="rect">
            <a:avLst/>
          </a:prstGeom>
          <a:noFill/>
          <a:ln/>
        </p:spPr>
        <p:txBody>
          <a:bodyPr wrap="square" lIns="0" tIns="0" rIns="0" bIns="0" rtlCol="0" anchor="ctr"/>
          <a:lstStyle/>
          <a:p>
            <a:pPr algn="ctr" indent="0" marL="0">
              <a:buNone/>
            </a:pPr>
            <a:r>
              <a:rPr lang="en-US" sz="1200" b="1" dirty="0">
                <a:solidFill>
                  <a:srgbClr val="0F1722"/>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1143000" y="4005072"/>
            <a:ext cx="3063240" cy="777240"/>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Traceability</a:t>
            </a:r>
            <a:endParaRPr lang="en-US" sz="1350" dirty="0"/>
          </a:p>
        </p:txBody>
      </p:sp>
      <p:sp>
        <p:nvSpPr>
          <p:cNvPr id="20" name="Text 18"/>
          <p:cNvSpPr/>
          <p:nvPr/>
        </p:nvSpPr>
        <p:spPr>
          <a:xfrm>
            <a:off x="4297680" y="4005072"/>
            <a:ext cx="7315200" cy="777240"/>
          </a:xfrm>
          <a:prstGeom prst="rect">
            <a:avLst/>
          </a:prstGeom>
          <a:noFill/>
          <a:ln/>
        </p:spPr>
        <p:txBody>
          <a:bodyPr wrap="square" lIns="0" tIns="0" rIns="0" bIns="0" rtlCol="0" anchor="ctr"/>
          <a:lstStyle/>
          <a:p>
            <a:pPr indent="0" marL="0">
              <a:buNone/>
            </a:pPr>
            <a:r>
              <a:rPr lang="en-US" sz="1150" dirty="0">
                <a:solidFill>
                  <a:srgbClr val="9AAFC4"/>
                </a:solidFill>
                <a:latin typeface="Calibri" pitchFamily="34" charset="0"/>
                <a:ea typeface="Calibri" pitchFamily="34" charset="-122"/>
                <a:cs typeface="Calibri" pitchFamily="34" charset="-120"/>
              </a:rPr>
              <a:t>real-time Langfuse spans, verbatim SQL, chat turns traced — open any investigation and follow it</a:t>
            </a:r>
            <a:endParaRPr lang="en-US" sz="1150" dirty="0"/>
          </a:p>
        </p:txBody>
      </p:sp>
      <p:sp>
        <p:nvSpPr>
          <p:cNvPr id="21" name="Shape 19"/>
          <p:cNvSpPr/>
          <p:nvPr/>
        </p:nvSpPr>
        <p:spPr>
          <a:xfrm>
            <a:off x="640080" y="4965192"/>
            <a:ext cx="310896" cy="310896"/>
          </a:xfrm>
          <a:prstGeom prst="ellipse">
            <a:avLst/>
          </a:prstGeom>
          <a:solidFill>
            <a:srgbClr val="45C489"/>
          </a:solidFill>
          <a:ln/>
        </p:spPr>
      </p:sp>
      <p:sp>
        <p:nvSpPr>
          <p:cNvPr id="22" name="Text 20"/>
          <p:cNvSpPr/>
          <p:nvPr/>
        </p:nvSpPr>
        <p:spPr>
          <a:xfrm>
            <a:off x="548640" y="4946904"/>
            <a:ext cx="493776" cy="310896"/>
          </a:xfrm>
          <a:prstGeom prst="rect">
            <a:avLst/>
          </a:prstGeom>
          <a:noFill/>
          <a:ln/>
        </p:spPr>
        <p:txBody>
          <a:bodyPr wrap="square" lIns="0" tIns="0" rIns="0" bIns="0" rtlCol="0" anchor="ctr"/>
          <a:lstStyle/>
          <a:p>
            <a:pPr algn="ctr" indent="0" marL="0">
              <a:buNone/>
            </a:pPr>
            <a:r>
              <a:rPr lang="en-US" sz="1200" b="1" dirty="0">
                <a:solidFill>
                  <a:srgbClr val="0F1722"/>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1143000" y="4846320"/>
            <a:ext cx="3063240" cy="777240"/>
          </a:xfrm>
          <a:prstGeom prst="rect">
            <a:avLst/>
          </a:prstGeom>
          <a:noFill/>
          <a:ln/>
        </p:spPr>
        <p:txBody>
          <a:bodyPr wrap="square" lIns="0" tIns="0" rIns="0" bIns="0" rtlCol="0" anchor="ctr"/>
          <a:lstStyle/>
          <a:p>
            <a:pPr indent="0" marL="0">
              <a:buNone/>
            </a:pPr>
            <a:r>
              <a:rPr lang="en-US" sz="1350" b="1" dirty="0">
                <a:solidFill>
                  <a:srgbClr val="F2F6FA"/>
                </a:solidFill>
                <a:latin typeface="Calibri" pitchFamily="34" charset="0"/>
                <a:ea typeface="Calibri" pitchFamily="34" charset="-122"/>
                <a:cs typeface="Calibri" pitchFamily="34" charset="-120"/>
              </a:rPr>
              <a:t>The unseen incident</a:t>
            </a:r>
            <a:endParaRPr lang="en-US" sz="1350" dirty="0"/>
          </a:p>
        </p:txBody>
      </p:sp>
      <p:sp>
        <p:nvSpPr>
          <p:cNvPr id="24" name="Text 22"/>
          <p:cNvSpPr/>
          <p:nvPr/>
        </p:nvSpPr>
        <p:spPr>
          <a:xfrm>
            <a:off x="4297680" y="4846320"/>
            <a:ext cx="7315200" cy="777240"/>
          </a:xfrm>
          <a:prstGeom prst="rect">
            <a:avLst/>
          </a:prstGeom>
          <a:noFill/>
          <a:ln/>
        </p:spPr>
        <p:txBody>
          <a:bodyPr wrap="square" lIns="0" tIns="0" rIns="0" bIns="0" rtlCol="0" anchor="ctr"/>
          <a:lstStyle/>
          <a:p>
            <a:pPr indent="0" marL="0">
              <a:buNone/>
            </a:pPr>
            <a:r>
              <a:rPr lang="en-US" sz="1150" dirty="0">
                <a:solidFill>
                  <a:srgbClr val="9AAFC4"/>
                </a:solidFill>
                <a:latin typeface="Calibri" pitchFamily="34" charset="0"/>
                <a:ea typeface="Calibri" pitchFamily="34" charset="-122"/>
                <a:cs typeface="Calibri" pitchFamily="34" charset="-120"/>
              </a:rPr>
              <a:t>isolated database, provable isolation, incident confirmed by query — same engine, zero code changes</a:t>
            </a:r>
            <a:endParaRPr lang="en-US" sz="1150" dirty="0"/>
          </a:p>
        </p:txBody>
      </p:sp>
      <p:sp>
        <p:nvSpPr>
          <p:cNvPr id="25" name="Shape 23"/>
          <p:cNvSpPr/>
          <p:nvPr/>
        </p:nvSpPr>
        <p:spPr>
          <a:xfrm>
            <a:off x="548640" y="5806440"/>
            <a:ext cx="11064240" cy="777240"/>
          </a:xfrm>
          <a:prstGeom prst="roundRect">
            <a:avLst>
              <a:gd name="adj" fmla="val 8235"/>
            </a:avLst>
          </a:prstGeom>
          <a:solidFill>
            <a:srgbClr val="1D2C3A"/>
          </a:solidFill>
          <a:ln w="9525">
            <a:solidFill>
              <a:srgbClr val="F2A93B"/>
            </a:solidFill>
            <a:prstDash val="solid"/>
          </a:ln>
        </p:spPr>
      </p:sp>
      <p:sp>
        <p:nvSpPr>
          <p:cNvPr id="26" name="Text 24"/>
          <p:cNvSpPr/>
          <p:nvPr/>
        </p:nvSpPr>
        <p:spPr>
          <a:xfrm>
            <a:off x="822960" y="5806440"/>
            <a:ext cx="10515600" cy="777240"/>
          </a:xfrm>
          <a:prstGeom prst="rect">
            <a:avLst/>
          </a:prstGeom>
          <a:noFill/>
          <a:ln/>
        </p:spPr>
        <p:txBody>
          <a:bodyPr wrap="square" lIns="0" tIns="0" rIns="0" bIns="0" rtlCol="0" anchor="ctr"/>
          <a:lstStyle/>
          <a:p>
            <a:pPr indent="0" marL="0">
              <a:buNone/>
            </a:pPr>
            <a:r>
              <a:rPr lang="en-US" sz="1400" b="1" i="1" dirty="0">
                <a:solidFill>
                  <a:srgbClr val="F2A93B"/>
                </a:solidFill>
                <a:latin typeface="Calibri" pitchFamily="34" charset="0"/>
                <a:ea typeface="Calibri" pitchFamily="34" charset="-122"/>
                <a:cs typeface="Calibri" pitchFamily="34" charset="-120"/>
              </a:rPr>
              <a:t>“A table that cannot price a cost will always recommend paying it.”</a:t>
            </a:r>
            <a:pPr indent="0" marL="0">
              <a:buNone/>
            </a:pPr>
            <a:r>
              <a:rPr lang="en-US" sz="1400" dirty="0">
                <a:solidFill>
                  <a:srgbClr val="9AAFC4"/>
                </a:solidFill>
                <a:latin typeface="Calibri" pitchFamily="34" charset="0"/>
                <a:ea typeface="Calibri" pitchFamily="34" charset="-122"/>
                <a:cs typeface="Calibri" pitchFamily="34" charset="-120"/>
              </a:rPr>
              <a:t>   — why our thresholds, dollars, and rule-outs are all measurements. Thank you.</a:t>
            </a:r>
            <a:endParaRPr lang="en-US" sz="1400" dirty="0"/>
          </a:p>
        </p:txBody>
      </p:sp>
      <p:sp>
        <p:nvSpPr>
          <p:cNvPr id="28" name="Text 25"/>
          <p:cNvSpPr/>
          <p:nvPr/>
        </p:nvSpPr>
        <p:spPr>
          <a:xfrm>
            <a:off x="9692640" y="6510528"/>
            <a:ext cx="1965960" cy="256032"/>
          </a:xfrm>
          <a:prstGeom prst="rect">
            <a:avLst/>
          </a:prstGeom>
          <a:noFill/>
          <a:ln/>
        </p:spPr>
        <p:txBody>
          <a:bodyPr wrap="square" lIns="0" tIns="0" rIns="0" bIns="0" rtlCol="0" anchor="ctr"/>
          <a:lstStyle/>
          <a:p>
            <a:pPr algn="r" indent="0" marL="0">
              <a:buNone/>
            </a:pPr>
            <a:r>
              <a:rPr lang="en-US" sz="900" dirty="0">
                <a:solidFill>
                  <a:srgbClr val="6E839A"/>
                </a:solidFill>
                <a:latin typeface="Courier New" pitchFamily="34" charset="0"/>
                <a:ea typeface="Courier New" pitchFamily="34" charset="-122"/>
                <a:cs typeface="Courier New" pitchFamily="34" charset="-120"/>
              </a:rPr>
              <a:t>RevenueWatch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RevenueWatch — From alert to answer</dc:title>
  <dc:subject>PptxGenJS Presentation</dc:subject>
  <dc:creator>RevenueWatch</dc:creator>
  <cp:lastModifiedBy>RevenueWatch</cp:lastModifiedBy>
  <cp:revision>1</cp:revision>
  <dcterms:created xsi:type="dcterms:W3CDTF">2026-08-02T03:57:10Z</dcterms:created>
  <dcterms:modified xsi:type="dcterms:W3CDTF">2026-08-02T03:57:10Z</dcterms:modified>
</cp:coreProperties>
</file>