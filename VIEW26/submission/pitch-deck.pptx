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e5f30718c4c4f" /><Relationship Type="http://schemas.openxmlformats.org/officeDocument/2006/relationships/extended-properties" Target="/docProps/app.xml" Id="Rd9757d51378640f6" /><Relationship Type="http://schemas.openxmlformats.org/officeDocument/2006/relationships/officeDocument" Target="/ppt/presentation.xml" Id="Rc88d0bb898c841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c4506df5f140f4"/>
  </p:sldMasterIdLst>
  <p:notesMasterIdLst>
    <p:notesMasterId xmlns:r="http://schemas.openxmlformats.org/officeDocument/2006/relationships" r:id="R4289238d4c434f5e"/>
  </p:notesMasterIdLst>
  <p:sldIdLst>
    <p:sldId xmlns:r="http://schemas.openxmlformats.org/officeDocument/2006/relationships" id="256" r:id="R424634317ac14bbb"/>
    <p:sldId xmlns:r="http://schemas.openxmlformats.org/officeDocument/2006/relationships" id="257" r:id="R2adcbc2715264c61"/>
    <p:sldId xmlns:r="http://schemas.openxmlformats.org/officeDocument/2006/relationships" id="258" r:id="R21e319b9348b416c"/>
    <p:sldId xmlns:r="http://schemas.openxmlformats.org/officeDocument/2006/relationships" id="259" r:id="Rcec05b83f8544bff"/>
    <p:sldId xmlns:r="http://schemas.openxmlformats.org/officeDocument/2006/relationships" id="260" r:id="R995cc554fe564cc7"/>
    <p:sldId xmlns:r="http://schemas.openxmlformats.org/officeDocument/2006/relationships" id="261" r:id="R1c67dbbeda56483f"/>
    <p:sldId xmlns:r="http://schemas.openxmlformats.org/officeDocument/2006/relationships" id="262" r:id="R258f4ee3cff345d2"/>
    <p:sldId xmlns:r="http://schemas.openxmlformats.org/officeDocument/2006/relationships" id="263" r:id="Rbf1fcf58c7974638"/>
    <p:sldId xmlns:r="http://schemas.openxmlformats.org/officeDocument/2006/relationships" id="264" r:id="Rc7ac6ff52a1443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e000c9c6264c00" /><Relationship Type="http://schemas.openxmlformats.org/officeDocument/2006/relationships/slideMaster" Target="/ppt/slideMasters/slideMaster1.xml" Id="R28c4506df5f140f4" /><Relationship Type="http://schemas.openxmlformats.org/officeDocument/2006/relationships/notesMaster" Target="/ppt/notesMasters/notesMaster1.xml" Id="R4289238d4c434f5e" /><Relationship Type="http://schemas.openxmlformats.org/officeDocument/2006/relationships/presProps" Target="/ppt/presProps.xml" Id="R1f79678d986c43f7" /><Relationship Type="http://schemas.openxmlformats.org/officeDocument/2006/relationships/tableStyles" Target="/ppt/tableStyles.xml" Id="R289bb0abf88a4e77" /><Relationship Type="http://schemas.openxmlformats.org/officeDocument/2006/relationships/slide" Target="/ppt/slides/slide1.xml" Id="R424634317ac14bbb" /><Relationship Type="http://schemas.openxmlformats.org/officeDocument/2006/relationships/slide" Target="/ppt/slides/slide2.xml" Id="R2adcbc2715264c61" /><Relationship Type="http://schemas.openxmlformats.org/officeDocument/2006/relationships/slide" Target="/ppt/slides/slide3.xml" Id="R21e319b9348b416c" /><Relationship Type="http://schemas.openxmlformats.org/officeDocument/2006/relationships/slide" Target="/ppt/slides/slide4.xml" Id="Rcec05b83f8544bff" /><Relationship Type="http://schemas.openxmlformats.org/officeDocument/2006/relationships/slide" Target="/ppt/slides/slide5.xml" Id="R995cc554fe564cc7" /><Relationship Type="http://schemas.openxmlformats.org/officeDocument/2006/relationships/slide" Target="/ppt/slides/slide6.xml" Id="R1c67dbbeda56483f" /><Relationship Type="http://schemas.openxmlformats.org/officeDocument/2006/relationships/slide" Target="/ppt/slides/slide7.xml" Id="R258f4ee3cff345d2" /><Relationship Type="http://schemas.openxmlformats.org/officeDocument/2006/relationships/slide" Target="/ppt/slides/slide8.xml" Id="Rbf1fcf58c7974638" /><Relationship Type="http://schemas.openxmlformats.org/officeDocument/2006/relationships/slide" Target="/ppt/slides/slide9.xml" Id="Rc7ac6ff52a1443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9eb94b24d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b8e5a752e493f" /><Relationship Type="http://schemas.openxmlformats.org/officeDocument/2006/relationships/notesMaster" Target="/ppt/notesMasters/notesMaster1.xml" Id="R809034236235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907c9624784534" /><Relationship Type="http://schemas.openxmlformats.org/officeDocument/2006/relationships/notesMaster" Target="/ppt/notesMasters/notesMaster1.xml" Id="Rba3f0bba8df74c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69aa9ced1d421d" /><Relationship Type="http://schemas.openxmlformats.org/officeDocument/2006/relationships/notesMaster" Target="/ppt/notesMasters/notesMaster1.xml" Id="Rae613ee41a694c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afe2bdd8bf4b81" /><Relationship Type="http://schemas.openxmlformats.org/officeDocument/2006/relationships/notesMaster" Target="/ppt/notesMasters/notesMaster1.xml" Id="R6e4b3fa70a9941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909a9b881c4c03" /><Relationship Type="http://schemas.openxmlformats.org/officeDocument/2006/relationships/notesMaster" Target="/ppt/notesMasters/notesMaster1.xml" Id="Ra00c71fbeda74f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8fe20fd95946ab" /><Relationship Type="http://schemas.openxmlformats.org/officeDocument/2006/relationships/notesMaster" Target="/ppt/notesMasters/notesMaster1.xml" Id="Rfd84b79feff742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320bde4aea4c71" /><Relationship Type="http://schemas.openxmlformats.org/officeDocument/2006/relationships/notesMaster" Target="/ppt/notesMasters/notesMaster1.xml" Id="R2da9b3a2170f41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6912da53044cf9" /><Relationship Type="http://schemas.openxmlformats.org/officeDocument/2006/relationships/notesMaster" Target="/ppt/notesMasters/notesMaster1.xml" Id="Ra60682f6a9ff43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1badae2bbb4fd5" /><Relationship Type="http://schemas.openxmlformats.org/officeDocument/2006/relationships/notesMaster" Target="/ppt/notesMasters/notesMaster1.xml" Id="Rf021694f34c744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trust gap: shipping instrumentation and shipping business meaning are usually separate workstreams.</a:t>
            </a:r>
          </a:p>
          <a:p xmlns:a="http://schemas.openxmlformats.org/drawingml/2006/main">
            <a:r>
              <a:t>FeatureLens makes them one governed release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https://clickathon-2026.view26.com</a:t>
            </a:r>
          </a:p>
          <a:p xmlns:a="http://schemas.openxmlformats.org/drawingml/2006/main">
            <a:r>
              <a:t>- https://github.com/sidagarwal04/click-a-thon-26-submissions/blob/main/ATLYS_SUBMISSION_GUIDELINES.md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FeatureLens as a semantic control plane, not another chatbot.</a:t>
            </a:r>
          </a:p>
          <a:p xmlns:a="http://schemas.openxmlformats.org/drawingml/2006/main">
            <a:r>
              <a:t>The judged problem asks for agents that instrument, analyze, and explain on ClickHouse; trust must survive every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https://raw.githubusercontent.com/sidagarwal04/click-a-thon-2026/refs/heads/main/Atlys/PROBLEM_STATEMENT.md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and emphasize the human schema gate between the first and second milestones.</a:t>
            </a:r>
          </a:p>
          <a:p xmlns:a="http://schemas.openxmlformats.org/drawingml/2006/main">
            <a:r>
              <a:t>Every downstream answer carries the exact context version, schema version, SQL, evidence, confidence, and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https://raw.githubusercontent.com/sidagarwal04/click-a-thon-2026/refs/heads/main/Atlys/PROBLEM_STATEMENT.md</a:t>
            </a:r>
          </a:p>
          <a:p xmlns:a="http://schemas.openxmlformats.org/drawingml/2006/main">
            <a:r>
              <a:t>- https://bitbucket.org/view26/clickathon-2026/src/main/submission/ARCHITECTURE.md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screenshot is the actual product, not a design mock.</a:t>
            </a:r>
          </a:p>
          <a:p xmlns:a="http://schemas.openxmlformats.org/drawingml/2006/main">
            <a:r>
              <a:t>The browser never receives ClickHouse or Langfuse credentials; all enrichment is server-side.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https://clickathon-2026.view26.com</a:t>
            </a:r>
          </a:p>
          <a:p xmlns:a="http://schemas.openxmlformats.org/drawingml/2006/main">
            <a:r>
              <a:t>- https://bitbucket.org/view26/clickathon-2026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figures come from the clean final replay: five known features plus the sealed sixth feature.</a:t>
            </a:r>
          </a:p>
          <a:p xmlns:a="http://schemas.openxmlformats.org/drawingml/2006/main">
            <a:r>
              <a:t>The quality suite includes semantic coverage, regression preservation, version grounding, question coverage, and distinct plan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https://cloud.langfuse.com/project/cmrefhio10fboad0bqqvq9xhh/traces/5089a0c4abab69dd667646e551008fda</a:t>
            </a:r>
          </a:p>
          <a:p xmlns:a="http://schemas.openxmlformats.org/drawingml/2006/main">
            <a:r>
              <a:t>- https://cloud.langfuse.com/project/cmrefhio10fboad0bqqvq9xhh/traces/8d660ea714fb42620a0d87f048d4513f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graph begins with 30 baseline semantic nodes and 21 edges grounded in the eight canonical source tables.</a:t>
            </a:r>
          </a:p>
          <a:p xmlns:a="http://schemas.openxmlformats.org/drawingml/2006/main">
            <a:r>
              <a:t>By v6 it reaches 147 nodes and 396 edges without removing a parent 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https://bitbucket.org/view26/clickathon-2026/src/main/submission/surprise/context-changelog.md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observed difference is 6.44 percentage points lower for coupon-marked applications, or 12.98% lower relative.</a:t>
            </a:r>
          </a:p>
          <a:p xmlns:a="http://schemas.openxmlformats.org/drawingml/2006/main">
            <a:r>
              <a:t>Do not claim causality: entering a coupon is user-selected. The action is an experiment or matched-cohort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https://cloud.langfuse.com/project/cmrefhio10fboad0bqqvq9xhh/traces/8d660ea714fb42620a0d87f048d4513f</a:t>
            </a:r>
          </a:p>
          <a:p xmlns:a="http://schemas.openxmlformats.org/drawingml/2006/main">
            <a:r>
              <a:t>- https://bitbucket.org/view26/clickathon-2026/src/main/submission/surprise/insight.md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FeatureLens differentiates from unrestricted text-to-SQL.</a:t>
            </a:r>
          </a:p>
          <a:p xmlns:a="http://schemas.openxmlformats.org/drawingml/2006/main">
            <a:r>
              <a:t>The feedback UI enriches the same trace used for debugging and evaluator targeting; credentials stay on the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https://langfuse.com/docs/observability/features/url</a:t>
            </a:r>
          </a:p>
          <a:p xmlns:a="http://schemas.openxmlformats.org/drawingml/2006/main">
            <a:r>
              <a:t>- https://bitbucket.org/view26/clickathon-2026/src/main/README.md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promise: one release package safely evolves data, meaning, and decisions.</a:t>
            </a:r>
          </a:p>
          <a:p xmlns:a="http://schemas.openxmlformats.org/drawingml/2006/main">
            <a:r>
              <a:t>Invite the judges to open the hosted demo, inspect the sixth-feature context diff, and follow the trace into Langfuse.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https://clickathon-2026.view26.com</a:t>
            </a:r>
          </a:p>
          <a:p xmlns:a="http://schemas.openxmlformats.org/drawingml/2006/main">
            <a:r>
              <a:t>- https://bitbucket.org/view26/clickathon-2026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a2cc0241547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1d1f5caf664992" /><Relationship Type="http://schemas.openxmlformats.org/officeDocument/2006/relationships/slideLayout" Target="/ppt/slideLayouts/slideLayout1.xml" Id="Re7020681d8e14c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020681d8e14c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77cc5b20f4a1e" /><Relationship Type="http://schemas.openxmlformats.org/officeDocument/2006/relationships/notesSlide" Target="/ppt/notesSlides/notesSlide1.xml" Id="R8a137109f8b34f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e881d06144fe9" /><Relationship Type="http://schemas.openxmlformats.org/officeDocument/2006/relationships/notesSlide" Target="/ppt/notesSlides/notesSlide2.xml" Id="Rcc9006247e2a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b84e4891c4a96" /><Relationship Type="http://schemas.openxmlformats.org/officeDocument/2006/relationships/notesSlide" Target="/ppt/notesSlides/notesSlide3.xml" Id="Rf6aeece2f040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d65720d2b4484" /><Relationship Type="http://schemas.openxmlformats.org/officeDocument/2006/relationships/image" Target="/ppt/media/image.png" Id="R23d95d4f62904f0c" /><Relationship Type="http://schemas.openxmlformats.org/officeDocument/2006/relationships/notesSlide" Target="/ppt/notesSlides/notesSlide4.xml" Id="Rab818de4cc5e4a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e59449aac4b82" /><Relationship Type="http://schemas.openxmlformats.org/officeDocument/2006/relationships/notesSlide" Target="/ppt/notesSlides/notesSlide5.xml" Id="Rc0326e01ee734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8f361be094b36" /><Relationship Type="http://schemas.openxmlformats.org/officeDocument/2006/relationships/chart" Target="/ppt/slides/charts/chart1.xml" Id="Rb2064ee6c1e04f07" /><Relationship Type="http://schemas.openxmlformats.org/officeDocument/2006/relationships/notesSlide" Target="/ppt/notesSlides/notesSlide6.xml" Id="R7ac019f467d542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73455be3040b5" /><Relationship Type="http://schemas.openxmlformats.org/officeDocument/2006/relationships/notesSlide" Target="/ppt/notesSlides/notesSlide7.xml" Id="Rd811a4712fd841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24bc9937d4f63" /><Relationship Type="http://schemas.openxmlformats.org/officeDocument/2006/relationships/notesSlide" Target="/ppt/notesSlides/notesSlide8.xml" Id="R7d51a75b7ed44b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eb08469ed4186" /><Relationship Type="http://schemas.openxmlformats.org/officeDocument/2006/relationships/notesSlide" Target="/ppt/notesSlides/notesSlide9.xml" Id="R9d9e92150f85459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Nodes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v0</c:v>
              </c:pt>
              <c:pt idx="1">
                <c:v>v2</c:v>
              </c:pt>
              <c:pt idx="2">
                <c:v>v4</c:v>
              </c:pt>
              <c:pt idx="3">
                <c:v>v6</c:v>
              </c:pt>
            </c:strLit>
          </c:cat>
          <c:val>
            <c:numLit>
              <c:formatCode>General</c:formatCode>
              <c:ptCount val="4"/>
              <c:pt idx="0">
                <c:v>30</c:v>
              </c:pt>
              <c:pt idx="1">
                <c:v>72</c:v>
              </c:pt>
              <c:pt idx="2">
                <c:v>110</c:v>
              </c:pt>
              <c:pt idx="3">
                <c:v>147</c:v>
              </c:pt>
            </c:numLit>
          </c:val>
        </c:ser>
        <c:ser>
          <c:idx val="1"/>
          <c:order val="1"/>
          <c:tx>
            <c:v>Edges</c:v>
          </c:tx>
          <c:spPr>
            <a:ln xmlns:a="http://schemas.openxmlformats.org/drawingml/2006/main" w="28575">
              <a:solidFill>
                <a:srgbClr val="D0EDF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v0</c:v>
              </c:pt>
              <c:pt idx="1">
                <c:v>v2</c:v>
              </c:pt>
              <c:pt idx="2">
                <c:v>v4</c:v>
              </c:pt>
              <c:pt idx="3">
                <c:v>v6</c:v>
              </c:pt>
            </c:strLit>
          </c:cat>
          <c:val>
            <c:numLit>
              <c:formatCode>General</c:formatCode>
              <c:ptCount val="4"/>
              <c:pt idx="0">
                <c:v>21</c:v>
              </c:pt>
              <c:pt idx="1">
                <c:v>149</c:v>
              </c:pt>
              <c:pt idx="2">
                <c:v>272</c:v>
              </c:pt>
              <c:pt idx="3">
                <c:v>396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0C2ED80-8C21-4A91-A9E3-55A17157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FeatureLens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702916A-BB73-477E-B9CF-09F6554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 product analytics that evolves instrumentation, semantic context, and trustworthy decisions together.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079719E-99EC-4DD4-9E3B-5503775E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VIEW26 · ATLYS CLICK-A-THON 2026</a:t>
            </a:r>
          </a:p>
        </p:txBody>
      </p:sp>
    </p:spTree>
    <p:extLst>
      <p:ext uri="{BB962C8B-B14F-4D97-AF65-F5344CB8AC3E}">
        <p14:creationId xmlns:p14="http://schemas.microsoft.com/office/powerpoint/2010/main" val="21020380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9B6ED8D-5144-4726-99E3-48EB7E0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A177603-53C5-4768-9750-2219BCD4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Plausible analytics is not the same as trustworthy analytics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008A24AC-A9FF-468B-A651-F7D5D13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ABCA91B-B498-401F-AE12-406AFA47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Traditional analytics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79B16F2-2FE0-4021-91A0-A483358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Dashboards arrive after releases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Definitions drift across teams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Provenance is hard to audit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DDBC099-F67B-46FF-A2B0-A2256683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DF481DE-DD1B-4B8F-9AD3-1C02573C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Generic AI analytics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FE57C48-AAB6-49F2-B1DE-56857B3D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Text-to-SQL is too permissive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rows cross the trust boundary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Confidence can hide weak evidence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7D4BA62-948D-43AA-86BA-25B416A4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GAP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release changes the physical data contract and what the business can safely ask. Today those changes drift apart.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fluent answer can still use the wrong event, grain, denominator, table, or context version.</a:t>
            </a:r>
          </a:p>
        </p:txBody>
      </p:sp>
    </p:spTree>
    <p:extLst>
      <p:ext uri="{BB962C8B-B14F-4D97-AF65-F5344CB8AC3E}">
        <p14:creationId xmlns:p14="http://schemas.microsoft.com/office/powerpoint/2010/main" val="19010379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DB5F733-2BA3-41B9-BF3E-9F1BA68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CCD8CE5-292A-4A21-A00B-2244C71D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release package. Three agents. No skipped gates.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3F82913-A2F2-4197-B98E-42EF1EF4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EA68573-8EB2-4C08-AF06-124546B0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8A1B523-33A7-487C-85A7-8ECC7CBC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F14501E-C672-4972-AB4F-CD34A57A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 · PHYSICAL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403CF9A-503F-4AD9-9FBF-74C3CF26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 · SEMANTIC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A6857C0-FD85-4370-9327-166B4A6D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 · DECISION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BF16057-654C-491D-915E-4CB0325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Publishes an immutable graph only after schema, row count, event fingerprint, and blocking evolution checks pass.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8663E56-881C-4C1D-B198-05439D64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Instrumentation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Profiles arbitrary NDJSON, proposes typed ClickHouse DDL, validates it, then pauses for human approval.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2DFFD27-1038-41CF-8A40-30AE1F43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Analytics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Compiles ontology-linked aggregate SQL, produces a deterministic answer, and constrains optional LLM synthesis.</a:t>
            </a:r>
          </a:p>
        </p:txBody>
      </p:sp>
    </p:spTree>
    <p:extLst>
      <p:ext uri="{BB962C8B-B14F-4D97-AF65-F5344CB8AC3E}">
        <p14:creationId xmlns:p14="http://schemas.microsoft.com/office/powerpoint/2010/main" val="17398102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5EF6C88-618D-485C-96E2-64FCEEF0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2E32CE9-EFB7-4C79-8ED2-234C2628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product feels like a release workspace, not an agent demo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6038C843-A9E3-4A75-8F18-312B9B7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1104900"/>
            <a:ext cx="5539740" cy="4895850"/>
          </a:xfrm>
          <a:prstGeom xmlns:a="http://schemas.openxmlformats.org/drawingml/2006/main" prst="roundRect">
            <a:avLst>
              <a:gd name="adj" fmla="val 1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2FD647B-33CD-4F4A-8C8E-C123995A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PM-native control plane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 Releases, Decision Inbox, Ask FeatureLens, Context &amp; Schemas, Pipeline Activity, and Trace Explorer share one governed backend. LibreChat can call the same seven MCP tools without owning business truth.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95d4f62904f0c"/>
          <a:srcRect xmlns:a="http://schemas.openxmlformats.org/drawingml/2006/main" l="20298" t="0" r="202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1104900"/>
            <a:ext cx="5539740" cy="4895850"/>
          </a:xfrm>
          <a:prstGeom xmlns:a="http://schemas.openxmlformats.org/drawingml/2006/main" prst="roundRect">
            <a:avLst>
              <a:gd name="adj" fmla="val 2335"/>
            </a:avLst>
          </a:prstGeom>
        </p:spPr>
      </p:pic>
    </p:spTree>
    <p:extLst>
      <p:ext uri="{BB962C8B-B14F-4D97-AF65-F5344CB8AC3E}">
        <p14:creationId xmlns:p14="http://schemas.microsoft.com/office/powerpoint/2010/main" val="16547803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262C9C1-9515-4ECC-820B-5AAD0480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E9177EE-51CD-4CC2-AE82-3F6A607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B6347A7-68A6-48BC-AC9E-5E1D2ECE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C7F7C21-3DE5-4450-9504-80C95635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7E736B9-337A-416D-8BDC-B6C8AEB0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system is already producing auditable evidence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32CE338-2154-429F-A7C3-49ED747F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feature events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61915AF-352B-4BD0-9C28-8578D635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standard PM probes traced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E4ED15D-0012-44BA-8614-3AD2F555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gates passed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D7B29B8-C2B3-4876-BAF6-9936F702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34,982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2E9E695-5E78-4C7D-84E4-FCC005D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54 / 54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B16BEF4-DA26-409A-877F-B810C491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A82F242-A854-465D-BBC7-F37E44D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 PROOF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releases were replayed against retained ClickHouse data. Every run passed all nine evolution checks and exported a synced Langfuse trace.</a:t>
            </a:r>
          </a:p>
        </p:txBody>
      </p:sp>
    </p:spTree>
    <p:extLst>
      <p:ext uri="{BB962C8B-B14F-4D97-AF65-F5344CB8AC3E}">
        <p14:creationId xmlns:p14="http://schemas.microsoft.com/office/powerpoint/2010/main" val="17202344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8C3C9D5-A6D6-4C6E-B03A-5297AAD1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AB3BBDC-30AD-424D-8B15-611247A8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meaning grows with the product—and stays versioned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06D25695-707F-470D-BB9B-82376363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098D2F2B-AB7E-4EED-BDDB-362D0FAC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147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D550476-EDCB-41F6-9FF2-DBC1BE8C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 nodes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8A447656-193A-4F60-B5B9-554436E4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F4B7684B-9D0A-4FB3-8F06-0211712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396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121EA6E-9AC0-4E7C-BE3C-808ACE32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explicit edges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83305A89-17C1-4C15-8FE7-D045B922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v0 → v6 preserves every parent node while adding verified feature semantics.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064ee6c1e04f07"/>
          </a:graphicData>
        </a:graphic>
      </p:graphicFrame>
    </p:spTree>
    <p:extLst>
      <p:ext uri="{BB962C8B-B14F-4D97-AF65-F5344CB8AC3E}">
        <p14:creationId xmlns:p14="http://schemas.microsoft.com/office/powerpoint/2010/main" val="1034519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AB37BB3-7768-4CD5-8103-D0ECB76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203F28A-80F5-45FB-A90C-02F1A1F0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sealed feature generalized—and changed the product conclusion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459C846-93C4-4FBD-BFD9-A4A5D976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446E3D6-4923-4758-A54D-EE460F3F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Coupon-marked cohort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E086994A-8A7B-4F0D-BBC4-14FAA121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848 entrants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366 completed checkout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43.16% completion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FA95463-613E-48B2-9373-0D671FF8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2AAAC26-14E6-4834-8C5A-AACF7AE0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Null-marker baseline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062AAEE-5565-451B-94B4-99BBA4ED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1,252 entrants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621 completed checkout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49.60% completion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A98CA83-5723-4FE8-B173-64AE3AE8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PROMO / COUPON AT CHECKOUT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FeatureLens profiled 5,363 events, proposed a 19-column SharedMergeTree schema, inferred the success path, and kept coupon_rejected as a branch.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then inferred a nullable cohort marker from the declared question and verified coupon_code field.</a:t>
            </a:r>
          </a:p>
        </p:txBody>
      </p:sp>
    </p:spTree>
    <p:extLst>
      <p:ext uri="{BB962C8B-B14F-4D97-AF65-F5344CB8AC3E}">
        <p14:creationId xmlns:p14="http://schemas.microsoft.com/office/powerpoint/2010/main" val="6899019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281379B-39BF-4638-8C3A-C55FF944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009CB5-7E82-47B3-97B6-886F55E6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Trust is designed into every layer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F6FBD07-BA14-463E-A6DE-5456A99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ClickHouse is the evidence boundary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allowlisted aggregate SQL executes. Raw rows never enter the LLM prompt. Physical data and governance history remain inspectable together.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8EA363F3-7116-4BC8-B7A0-5A5BE8F8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Langfuse closes the feedback loop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 Explorer shows observations, cost, tokens, evaluations, and lets PMs write typed helpfulness and issue-category scores.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B9F0C96-77B0-4CDF-B0EC-02589229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LLM is outside the trust boundary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rewrites a complete deterministic answer into concise PM language. Invalid output falls back without losing evidence or provenance.</a:t>
            </a:r>
          </a:p>
        </p:txBody>
      </p:sp>
    </p:spTree>
    <p:extLst>
      <p:ext uri="{BB962C8B-B14F-4D97-AF65-F5344CB8AC3E}">
        <p14:creationId xmlns:p14="http://schemas.microsoft.com/office/powerpoint/2010/main" val="14956858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75EB396-408B-4F2F-9B3A-117107DC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Trust every answer that follows.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0A8C35F-CB13-4B97-87E8-79749950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clickathon-2026.view26.com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releases · 54/54 gates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ClickHouse · Langfuse · LibreChat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EFC046B-A3B1-4E2A-904B-297A4BC0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VIEW26</a:t>
            </a:r>
          </a:p>
        </p:txBody>
      </p:sp>
    </p:spTree>
    <p:extLst>
      <p:ext uri="{BB962C8B-B14F-4D97-AF65-F5344CB8AC3E}">
        <p14:creationId xmlns:p14="http://schemas.microsoft.com/office/powerpoint/2010/main" val="605407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2026-08-02T02:07:30.6260000Z</dcterms:created>
  <dcterms:modified xsi:type="dcterms:W3CDTF">2026-08-02T02:07:30.6260000Z</dcterms:modified>
</coreProperties>
</file>